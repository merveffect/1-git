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4" name="Rectangle 3"/>
          <p:cNvSpPr/>
          <p:nvPr/>
        </p:nvSpPr>
        <p:spPr>
          <a:xfrm>
            <a:off x="1005840" y="1627632"/>
            <a:ext cx="2194560" cy="20116"/>
          </a:xfrm>
          <a:prstGeom prst="rect">
            <a:avLst/>
          </a:prstGeom>
          <a:solidFill>
            <a:srgbClr val="6CB3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243584"/>
            <a:ext cx="9144000" cy="274320"/>
          </a:xfrm>
          <a:prstGeom prst="rect">
            <a:avLst/>
          </a:prstGeom>
          <a:noFill/>
        </p:spPr>
        <p:txBody>
          <a:bodyPr wrap="square" anchor="t" lIns="0" rIns="0" tIns="0" bIns="0">
            <a:spAutoFit/>
          </a:bodyPr>
          <a:lstStyle/>
          <a:p>
            <a:pPr algn="l"/>
            <a:r>
              <a:rPr sz="1150" b="1">
                <a:solidFill>
                  <a:srgbClr val="6CB3AC"/>
                </a:solidFill>
                <a:latin typeface="Consolas"/>
              </a:rPr>
              <a:t>Researcher 360  /  build of 21 October 2026</a:t>
            </a:r>
          </a:p>
        </p:txBody>
      </p:sp>
      <p:sp>
        <p:nvSpPr>
          <p:cNvPr id="6" name="TextBox 5"/>
          <p:cNvSpPr txBox="1"/>
          <p:nvPr/>
        </p:nvSpPr>
        <p:spPr>
          <a:xfrm>
            <a:off x="1005840" y="1883664"/>
            <a:ext cx="9875520" cy="1371600"/>
          </a:xfrm>
          <a:prstGeom prst="rect">
            <a:avLst/>
          </a:prstGeom>
          <a:noFill/>
        </p:spPr>
        <p:txBody>
          <a:bodyPr wrap="square" anchor="t" lIns="0" rIns="0" tIns="0" bIns="0">
            <a:spAutoFit/>
          </a:bodyPr>
          <a:lstStyle/>
          <a:p>
            <a:pPr algn="l">
              <a:lnSpc>
                <a:spcPct val="108000"/>
              </a:lnSpc>
            </a:pPr>
            <a:r>
              <a:rPr sz="4200" b="1">
                <a:solidFill>
                  <a:srgbClr val="F4F4F2"/>
                </a:solidFill>
                <a:latin typeface="Cambria"/>
              </a:rPr>
              <a:t>From a typed job title
to a marketing audience</a:t>
            </a:r>
          </a:p>
        </p:txBody>
      </p:sp>
      <p:sp>
        <p:nvSpPr>
          <p:cNvPr id="7" name="TextBox 6"/>
          <p:cNvSpPr txBox="1"/>
          <p:nvPr/>
        </p:nvSpPr>
        <p:spPr>
          <a:xfrm>
            <a:off x="1005840" y="3401568"/>
            <a:ext cx="8412480" cy="731520"/>
          </a:xfrm>
          <a:prstGeom prst="rect">
            <a:avLst/>
          </a:prstGeom>
          <a:noFill/>
        </p:spPr>
        <p:txBody>
          <a:bodyPr wrap="square" anchor="t" lIns="0" rIns="0" tIns="0" bIns="0">
            <a:spAutoFit/>
          </a:bodyPr>
          <a:lstStyle/>
          <a:p>
            <a:pPr algn="l">
              <a:lnSpc>
                <a:spcPct val="135000"/>
              </a:lnSpc>
            </a:pPr>
            <a:r>
              <a:rPr sz="1550" b="0">
                <a:solidFill>
                  <a:srgbClr val="A8AEAA"/>
                </a:solidFill>
                <a:latin typeface="Calibri"/>
              </a:rPr>
              <a:t>Four slides on how it works, three real titles traced end to end, then one slide per profession.</a:t>
            </a:r>
          </a:p>
        </p:txBody>
      </p:sp>
      <p:sp>
        <p:nvSpPr>
          <p:cNvPr id="8" name="Rectangle 7"/>
          <p:cNvSpPr/>
          <p:nvPr/>
        </p:nvSpPr>
        <p:spPr>
          <a:xfrm>
            <a:off x="1005840" y="4754880"/>
            <a:ext cx="1325880" cy="384048"/>
          </a:xfrm>
          <a:prstGeom prst="rect">
            <a:avLst/>
          </a:prstGeom>
          <a:noFill/>
          <a:ln w="9525">
            <a:solidFill>
              <a:srgbClr val="3A40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0">
                <a:solidFill>
                  <a:srgbClr val="F4F4F2"/>
                </a:solidFill>
                <a:latin typeface="Consolas"/>
              </a:rPr>
              <a:t>title</a:t>
            </a:r>
          </a:p>
        </p:txBody>
      </p:sp>
      <p:sp>
        <p:nvSpPr>
          <p:cNvPr id="9" name="Right Arrow 8"/>
          <p:cNvSpPr/>
          <p:nvPr/>
        </p:nvSpPr>
        <p:spPr>
          <a:xfrm>
            <a:off x="2441448" y="4873752"/>
            <a:ext cx="237744" cy="155448"/>
          </a:xfrm>
          <a:prstGeom prst="rightArrow">
            <a:avLst/>
          </a:prstGeom>
          <a:solidFill>
            <a:srgbClr val="5A61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88920" y="4754880"/>
            <a:ext cx="1325880" cy="384048"/>
          </a:xfrm>
          <a:prstGeom prst="rect">
            <a:avLst/>
          </a:prstGeom>
          <a:noFill/>
          <a:ln w="9525">
            <a:solidFill>
              <a:srgbClr val="3A40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0">
                <a:solidFill>
                  <a:srgbClr val="6CB3AC"/>
                </a:solidFill>
                <a:latin typeface="Consolas"/>
              </a:rPr>
              <a:t>anchor</a:t>
            </a:r>
          </a:p>
        </p:txBody>
      </p:sp>
      <p:sp>
        <p:nvSpPr>
          <p:cNvPr id="11" name="Right Arrow 10"/>
          <p:cNvSpPr/>
          <p:nvPr/>
        </p:nvSpPr>
        <p:spPr>
          <a:xfrm>
            <a:off x="4224528" y="4873752"/>
            <a:ext cx="237744" cy="155448"/>
          </a:xfrm>
          <a:prstGeom prst="rightArrow">
            <a:avLst/>
          </a:prstGeom>
          <a:solidFill>
            <a:srgbClr val="5A61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4754880"/>
            <a:ext cx="1691640" cy="384048"/>
          </a:xfrm>
          <a:prstGeom prst="rect">
            <a:avLst/>
          </a:prstGeom>
          <a:noFill/>
          <a:ln w="9525">
            <a:solidFill>
              <a:srgbClr val="3A40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0">
                <a:solidFill>
                  <a:srgbClr val="F4F4F2"/>
                </a:solidFill>
                <a:latin typeface="Consolas"/>
              </a:rPr>
              <a:t>title group</a:t>
            </a:r>
          </a:p>
        </p:txBody>
      </p:sp>
      <p:sp>
        <p:nvSpPr>
          <p:cNvPr id="13" name="Right Arrow 12"/>
          <p:cNvSpPr/>
          <p:nvPr/>
        </p:nvSpPr>
        <p:spPr>
          <a:xfrm>
            <a:off x="6373368" y="4873752"/>
            <a:ext cx="237744" cy="155448"/>
          </a:xfrm>
          <a:prstGeom prst="rightArrow">
            <a:avLst/>
          </a:prstGeom>
          <a:solidFill>
            <a:srgbClr val="5A61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20840" y="4754880"/>
            <a:ext cx="1325880" cy="384048"/>
          </a:xfrm>
          <a:prstGeom prst="rect">
            <a:avLst/>
          </a:prstGeom>
          <a:noFill/>
          <a:ln w="9525">
            <a:solidFill>
              <a:srgbClr val="3A40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0">
                <a:solidFill>
                  <a:srgbClr val="CF8CA6"/>
                </a:solidFill>
                <a:latin typeface="Consolas"/>
              </a:rPr>
              <a:t>audience</a:t>
            </a:r>
          </a:p>
        </p:txBody>
      </p:sp>
      <p:sp>
        <p:nvSpPr>
          <p:cNvPr id="15" name="TextBox 14"/>
          <p:cNvSpPr txBox="1"/>
          <p:nvPr/>
        </p:nvSpPr>
        <p:spPr>
          <a:xfrm>
            <a:off x="1005840" y="5852160"/>
            <a:ext cx="9144000" cy="274320"/>
          </a:xfrm>
          <a:prstGeom prst="rect">
            <a:avLst/>
          </a:prstGeom>
          <a:noFill/>
        </p:spPr>
        <p:txBody>
          <a:bodyPr wrap="square" anchor="t" lIns="0" rIns="0" tIns="0" bIns="0">
            <a:spAutoFit/>
          </a:bodyPr>
          <a:lstStyle/>
          <a:p>
            <a:pPr algn="l"/>
            <a:r>
              <a:rPr sz="1050" b="0">
                <a:solidFill>
                  <a:srgbClr val="808682"/>
                </a:solidFill>
                <a:latin typeface="Consolas"/>
              </a:rPr>
              <a:t>Springer Nature  /  analytics engineering  /  ORCID role enrichment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1F6F6A"/>
                </a:solidFill>
                <a:latin typeface="Consolas"/>
              </a:rPr>
              <a:t>1 of 4  /  vocabulary</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The four words that get confused</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These are four different things. Most of the confusion in this project comes from treating two of them as one.</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75104"/>
            <a:ext cx="2670048" cy="2066543"/>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Rectangle 7"/>
          <p:cNvSpPr/>
          <p:nvPr/>
        </p:nvSpPr>
        <p:spPr>
          <a:xfrm>
            <a:off x="566928" y="1975104"/>
            <a:ext cx="2670048" cy="41148"/>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157984"/>
            <a:ext cx="2395728" cy="274320"/>
          </a:xfrm>
          <a:prstGeom prst="rect">
            <a:avLst/>
          </a:prstGeom>
          <a:noFill/>
        </p:spPr>
        <p:txBody>
          <a:bodyPr wrap="square" anchor="t" lIns="0" rIns="0" tIns="0" bIns="0">
            <a:spAutoFit/>
          </a:bodyPr>
          <a:lstStyle/>
          <a:p>
            <a:pPr algn="l"/>
            <a:r>
              <a:rPr sz="1600" b="1">
                <a:solidFill>
                  <a:srgbClr val="1C1F23"/>
                </a:solidFill>
                <a:latin typeface="Consolas"/>
              </a:rPr>
              <a:t>title</a:t>
            </a:r>
          </a:p>
        </p:txBody>
      </p:sp>
      <p:sp>
        <p:nvSpPr>
          <p:cNvPr id="10" name="TextBox 9"/>
          <p:cNvSpPr txBox="1"/>
          <p:nvPr/>
        </p:nvSpPr>
        <p:spPr>
          <a:xfrm>
            <a:off x="713232" y="2496312"/>
            <a:ext cx="2395728" cy="877824"/>
          </a:xfrm>
          <a:prstGeom prst="rect">
            <a:avLst/>
          </a:prstGeom>
          <a:noFill/>
        </p:spPr>
        <p:txBody>
          <a:bodyPr wrap="square" anchor="t" lIns="0" rIns="0" tIns="0" bIns="0">
            <a:spAutoFit/>
          </a:bodyPr>
          <a:lstStyle/>
          <a:p>
            <a:pPr algn="l">
              <a:lnSpc>
                <a:spcPct val="125000"/>
              </a:lnSpc>
            </a:pPr>
            <a:r>
              <a:rPr sz="1150" b="0">
                <a:solidFill>
                  <a:srgbClr val="464B52"/>
                </a:solidFill>
                <a:latin typeface="Calibri"/>
              </a:rPr>
              <a:t>What the person typed.
We do not choose these.</a:t>
            </a:r>
          </a:p>
        </p:txBody>
      </p:sp>
      <p:sp>
        <p:nvSpPr>
          <p:cNvPr id="11" name="TextBox 10"/>
          <p:cNvSpPr txBox="1"/>
          <p:nvPr/>
        </p:nvSpPr>
        <p:spPr>
          <a:xfrm>
            <a:off x="713232" y="3401568"/>
            <a:ext cx="2395728" cy="228600"/>
          </a:xfrm>
          <a:prstGeom prst="rect">
            <a:avLst/>
          </a:prstGeom>
          <a:noFill/>
        </p:spPr>
        <p:txBody>
          <a:bodyPr wrap="square" anchor="t" lIns="0" rIns="0" tIns="0" bIns="0">
            <a:spAutoFit/>
          </a:bodyPr>
          <a:lstStyle/>
          <a:p>
            <a:pPr algn="l"/>
            <a:r>
              <a:rPr sz="1050" b="0">
                <a:solidFill>
                  <a:srgbClr val="6F757E"/>
                </a:solidFill>
                <a:latin typeface="Consolas"/>
              </a:rPr>
              <a:t>310,299 distinct</a:t>
            </a:r>
          </a:p>
        </p:txBody>
      </p:sp>
      <p:sp>
        <p:nvSpPr>
          <p:cNvPr id="12" name="Rectangle 11"/>
          <p:cNvSpPr/>
          <p:nvPr/>
        </p:nvSpPr>
        <p:spPr>
          <a:xfrm>
            <a:off x="713232" y="3657600"/>
            <a:ext cx="2377440" cy="301752"/>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0">
                <a:solidFill>
                  <a:srgbClr val="1C1F23"/>
                </a:solidFill>
                <a:latin typeface="Consolas"/>
              </a:rPr>
              <a:t>consultant paediatrician</a:t>
            </a:r>
          </a:p>
        </p:txBody>
      </p:sp>
      <p:sp>
        <p:nvSpPr>
          <p:cNvPr id="13" name="Rectangle 12"/>
          <p:cNvSpPr/>
          <p:nvPr/>
        </p:nvSpPr>
        <p:spPr>
          <a:xfrm>
            <a:off x="3392424" y="1975104"/>
            <a:ext cx="2670048" cy="2066543"/>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Rectangle 13"/>
          <p:cNvSpPr/>
          <p:nvPr/>
        </p:nvSpPr>
        <p:spPr>
          <a:xfrm>
            <a:off x="3392424" y="1975104"/>
            <a:ext cx="2670048" cy="41148"/>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8" y="2157984"/>
            <a:ext cx="2395728" cy="274320"/>
          </a:xfrm>
          <a:prstGeom prst="rect">
            <a:avLst/>
          </a:prstGeom>
          <a:noFill/>
        </p:spPr>
        <p:txBody>
          <a:bodyPr wrap="square" anchor="t" lIns="0" rIns="0" tIns="0" bIns="0">
            <a:spAutoFit/>
          </a:bodyPr>
          <a:lstStyle/>
          <a:p>
            <a:pPr algn="l"/>
            <a:r>
              <a:rPr sz="1600" b="1">
                <a:solidFill>
                  <a:srgbClr val="1F6F6A"/>
                </a:solidFill>
                <a:latin typeface="Consolas"/>
              </a:rPr>
              <a:t>anchor</a:t>
            </a:r>
          </a:p>
        </p:txBody>
      </p:sp>
      <p:sp>
        <p:nvSpPr>
          <p:cNvPr id="16" name="TextBox 15"/>
          <p:cNvSpPr txBox="1"/>
          <p:nvPr/>
        </p:nvSpPr>
        <p:spPr>
          <a:xfrm>
            <a:off x="3538728" y="2496312"/>
            <a:ext cx="2395728" cy="877824"/>
          </a:xfrm>
          <a:prstGeom prst="rect">
            <a:avLst/>
          </a:prstGeom>
          <a:noFill/>
        </p:spPr>
        <p:txBody>
          <a:bodyPr wrap="square" anchor="t" lIns="0" rIns="0" tIns="0" bIns="0">
            <a:spAutoFit/>
          </a:bodyPr>
          <a:lstStyle/>
          <a:p>
            <a:pPr algn="l">
              <a:lnSpc>
                <a:spcPct val="125000"/>
              </a:lnSpc>
            </a:pPr>
            <a:r>
              <a:rPr sz="1150" b="0">
                <a:solidFill>
                  <a:srgbClr val="464B52"/>
                </a:solidFill>
                <a:latin typeface="Calibri"/>
              </a:rPr>
              <a:t>An example word WE wrote
by hand to define a group.</a:t>
            </a:r>
          </a:p>
        </p:txBody>
      </p:sp>
      <p:sp>
        <p:nvSpPr>
          <p:cNvPr id="17" name="TextBox 16"/>
          <p:cNvSpPr txBox="1"/>
          <p:nvPr/>
        </p:nvSpPr>
        <p:spPr>
          <a:xfrm>
            <a:off x="3538728" y="3401568"/>
            <a:ext cx="2395728" cy="228600"/>
          </a:xfrm>
          <a:prstGeom prst="rect">
            <a:avLst/>
          </a:prstGeom>
          <a:noFill/>
        </p:spPr>
        <p:txBody>
          <a:bodyPr wrap="square" anchor="t" lIns="0" rIns="0" tIns="0" bIns="0">
            <a:spAutoFit/>
          </a:bodyPr>
          <a:lstStyle/>
          <a:p>
            <a:pPr algn="l"/>
            <a:r>
              <a:rPr sz="1050" b="0">
                <a:solidFill>
                  <a:srgbClr val="6F757E"/>
                </a:solidFill>
                <a:latin typeface="Consolas"/>
              </a:rPr>
              <a:t>151 written by us</a:t>
            </a:r>
          </a:p>
        </p:txBody>
      </p:sp>
      <p:sp>
        <p:nvSpPr>
          <p:cNvPr id="18" name="Rectangle 17"/>
          <p:cNvSpPr/>
          <p:nvPr/>
        </p:nvSpPr>
        <p:spPr>
          <a:xfrm>
            <a:off x="3538728" y="3657600"/>
            <a:ext cx="2377440" cy="301752"/>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0">
                <a:solidFill>
                  <a:srgbClr val="1C1F23"/>
                </a:solidFill>
                <a:latin typeface="Consolas"/>
              </a:rPr>
              <a:t>consultant</a:t>
            </a:r>
          </a:p>
        </p:txBody>
      </p:sp>
      <p:sp>
        <p:nvSpPr>
          <p:cNvPr id="19" name="Rectangle 18"/>
          <p:cNvSpPr/>
          <p:nvPr/>
        </p:nvSpPr>
        <p:spPr>
          <a:xfrm>
            <a:off x="6217920" y="1975104"/>
            <a:ext cx="2670048" cy="2066543"/>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0" name="Rectangle 19"/>
          <p:cNvSpPr/>
          <p:nvPr/>
        </p:nvSpPr>
        <p:spPr>
          <a:xfrm>
            <a:off x="6217920" y="1975104"/>
            <a:ext cx="2670048" cy="41148"/>
          </a:xfrm>
          <a:prstGeom prst="rect">
            <a:avLst/>
          </a:prstGeom>
          <a:solidFill>
            <a:srgbClr val="8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2157984"/>
            <a:ext cx="2395728" cy="274320"/>
          </a:xfrm>
          <a:prstGeom prst="rect">
            <a:avLst/>
          </a:prstGeom>
          <a:noFill/>
        </p:spPr>
        <p:txBody>
          <a:bodyPr wrap="square" anchor="t" lIns="0" rIns="0" tIns="0" bIns="0">
            <a:spAutoFit/>
          </a:bodyPr>
          <a:lstStyle/>
          <a:p>
            <a:pPr algn="l"/>
            <a:r>
              <a:rPr sz="1600" b="1">
                <a:solidFill>
                  <a:srgbClr val="8A3D5E"/>
                </a:solidFill>
                <a:latin typeface="Consolas"/>
              </a:rPr>
              <a:t>title group</a:t>
            </a:r>
          </a:p>
        </p:txBody>
      </p:sp>
      <p:sp>
        <p:nvSpPr>
          <p:cNvPr id="22" name="TextBox 21"/>
          <p:cNvSpPr txBox="1"/>
          <p:nvPr/>
        </p:nvSpPr>
        <p:spPr>
          <a:xfrm>
            <a:off x="6364224" y="2496312"/>
            <a:ext cx="2395728" cy="877824"/>
          </a:xfrm>
          <a:prstGeom prst="rect">
            <a:avLst/>
          </a:prstGeom>
          <a:noFill/>
        </p:spPr>
        <p:txBody>
          <a:bodyPr wrap="square" anchor="t" lIns="0" rIns="0" tIns="0" bIns="0">
            <a:spAutoFit/>
          </a:bodyPr>
          <a:lstStyle/>
          <a:p>
            <a:pPr algn="l">
              <a:lnSpc>
                <a:spcPct val="125000"/>
              </a:lnSpc>
            </a:pPr>
            <a:r>
              <a:rPr sz="1150" b="0">
                <a:solidFill>
                  <a:srgbClr val="464B52"/>
                </a:solidFill>
                <a:latin typeface="Calibri"/>
              </a:rPr>
              <a:t>One of ten buckets.
A group owns many anchors.</a:t>
            </a:r>
          </a:p>
        </p:txBody>
      </p:sp>
      <p:sp>
        <p:nvSpPr>
          <p:cNvPr id="23" name="TextBox 22"/>
          <p:cNvSpPr txBox="1"/>
          <p:nvPr/>
        </p:nvSpPr>
        <p:spPr>
          <a:xfrm>
            <a:off x="6364224" y="3401568"/>
            <a:ext cx="2395728" cy="228600"/>
          </a:xfrm>
          <a:prstGeom prst="rect">
            <a:avLst/>
          </a:prstGeom>
          <a:noFill/>
        </p:spPr>
        <p:txBody>
          <a:bodyPr wrap="square" anchor="t" lIns="0" rIns="0" tIns="0" bIns="0">
            <a:spAutoFit/>
          </a:bodyPr>
          <a:lstStyle/>
          <a:p>
            <a:pPr algn="l"/>
            <a:r>
              <a:rPr sz="1050" b="0">
                <a:solidFill>
                  <a:srgbClr val="6F757E"/>
                </a:solidFill>
                <a:latin typeface="Consolas"/>
              </a:rPr>
              <a:t>10 groups</a:t>
            </a:r>
          </a:p>
        </p:txBody>
      </p:sp>
      <p:sp>
        <p:nvSpPr>
          <p:cNvPr id="24" name="Rectangle 23"/>
          <p:cNvSpPr/>
          <p:nvPr/>
        </p:nvSpPr>
        <p:spPr>
          <a:xfrm>
            <a:off x="6364224" y="3657600"/>
            <a:ext cx="2377440" cy="301752"/>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0">
                <a:solidFill>
                  <a:srgbClr val="1C1F23"/>
                </a:solidFill>
                <a:latin typeface="Consolas"/>
              </a:rPr>
              <a:t>practitioner</a:t>
            </a:r>
          </a:p>
        </p:txBody>
      </p:sp>
      <p:sp>
        <p:nvSpPr>
          <p:cNvPr id="25" name="Rectangle 24"/>
          <p:cNvSpPr/>
          <p:nvPr/>
        </p:nvSpPr>
        <p:spPr>
          <a:xfrm>
            <a:off x="9043415" y="1975104"/>
            <a:ext cx="2670048" cy="2066543"/>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Rectangle 25"/>
          <p:cNvSpPr/>
          <p:nvPr/>
        </p:nvSpPr>
        <p:spPr>
          <a:xfrm>
            <a:off x="9043415" y="1975104"/>
            <a:ext cx="2670048" cy="41148"/>
          </a:xfrm>
          <a:prstGeom prst="rect">
            <a:avLst/>
          </a:prstGeom>
          <a:solidFill>
            <a:srgbClr val="8A6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9719" y="2157984"/>
            <a:ext cx="2395728" cy="274320"/>
          </a:xfrm>
          <a:prstGeom prst="rect">
            <a:avLst/>
          </a:prstGeom>
          <a:noFill/>
        </p:spPr>
        <p:txBody>
          <a:bodyPr wrap="square" anchor="t" lIns="0" rIns="0" tIns="0" bIns="0">
            <a:spAutoFit/>
          </a:bodyPr>
          <a:lstStyle/>
          <a:p>
            <a:pPr algn="l"/>
            <a:r>
              <a:rPr sz="1600" b="1">
                <a:solidFill>
                  <a:srgbClr val="8A6410"/>
                </a:solidFill>
                <a:latin typeface="Consolas"/>
              </a:rPr>
              <a:t>discipline</a:t>
            </a:r>
          </a:p>
        </p:txBody>
      </p:sp>
      <p:sp>
        <p:nvSpPr>
          <p:cNvPr id="28" name="TextBox 27"/>
          <p:cNvSpPr txBox="1"/>
          <p:nvPr/>
        </p:nvSpPr>
        <p:spPr>
          <a:xfrm>
            <a:off x="9189719" y="2496312"/>
            <a:ext cx="2395728" cy="877824"/>
          </a:xfrm>
          <a:prstGeom prst="rect">
            <a:avLst/>
          </a:prstGeom>
          <a:noFill/>
        </p:spPr>
        <p:txBody>
          <a:bodyPr wrap="square" anchor="t" lIns="0" rIns="0" tIns="0" bIns="0">
            <a:spAutoFit/>
          </a:bodyPr>
          <a:lstStyle/>
          <a:p>
            <a:pPr algn="l">
              <a:lnSpc>
                <a:spcPct val="125000"/>
              </a:lnSpc>
            </a:pPr>
            <a:r>
              <a:rPr sz="1150" b="0">
                <a:solidFill>
                  <a:srgbClr val="464B52"/>
                </a:solidFill>
                <a:latin typeface="Calibri"/>
              </a:rPr>
              <a:t>The subject - and it comes
from the DEPARTMENT,
not the title.</a:t>
            </a:r>
          </a:p>
        </p:txBody>
      </p:sp>
      <p:sp>
        <p:nvSpPr>
          <p:cNvPr id="29" name="TextBox 28"/>
          <p:cNvSpPr txBox="1"/>
          <p:nvPr/>
        </p:nvSpPr>
        <p:spPr>
          <a:xfrm>
            <a:off x="9189719" y="3401568"/>
            <a:ext cx="2395728" cy="228600"/>
          </a:xfrm>
          <a:prstGeom prst="rect">
            <a:avLst/>
          </a:prstGeom>
          <a:noFill/>
        </p:spPr>
        <p:txBody>
          <a:bodyPr wrap="square" anchor="t" lIns="0" rIns="0" tIns="0" bIns="0">
            <a:spAutoFit/>
          </a:bodyPr>
          <a:lstStyle/>
          <a:p>
            <a:pPr algn="l"/>
            <a:r>
              <a:rPr sz="1050" b="0">
                <a:solidFill>
                  <a:srgbClr val="6F757E"/>
                </a:solidFill>
                <a:latin typeface="Consolas"/>
              </a:rPr>
              <a:t>12 disciplines</a:t>
            </a:r>
          </a:p>
        </p:txBody>
      </p:sp>
      <p:sp>
        <p:nvSpPr>
          <p:cNvPr id="30" name="Rectangle 29"/>
          <p:cNvSpPr/>
          <p:nvPr/>
        </p:nvSpPr>
        <p:spPr>
          <a:xfrm>
            <a:off x="9189719" y="3657600"/>
            <a:ext cx="2377440" cy="301752"/>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0">
                <a:solidFill>
                  <a:srgbClr val="1C1F23"/>
                </a:solidFill>
                <a:latin typeface="Consolas"/>
              </a:rPr>
              <a:t>health_clinical</a:t>
            </a:r>
          </a:p>
        </p:txBody>
      </p:sp>
      <p:sp>
        <p:nvSpPr>
          <p:cNvPr id="31" name="Rectangle 30"/>
          <p:cNvSpPr/>
          <p:nvPr/>
        </p:nvSpPr>
        <p:spPr>
          <a:xfrm>
            <a:off x="566928" y="4206240"/>
            <a:ext cx="11064240" cy="1152144"/>
          </a:xfrm>
          <a:prstGeom prst="rect">
            <a:avLst/>
          </a:prstGeom>
          <a:solidFill>
            <a:srgbClr val="FFFFFF"/>
          </a:solidFill>
          <a:ln w="15875">
            <a:solidFill>
              <a:srgbClr val="1C1F23"/>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2" name="TextBox 31"/>
          <p:cNvSpPr txBox="1"/>
          <p:nvPr/>
        </p:nvSpPr>
        <p:spPr>
          <a:xfrm>
            <a:off x="841248" y="4325112"/>
            <a:ext cx="10515600" cy="274320"/>
          </a:xfrm>
          <a:prstGeom prst="rect">
            <a:avLst/>
          </a:prstGeom>
          <a:noFill/>
        </p:spPr>
        <p:txBody>
          <a:bodyPr wrap="square" anchor="t" lIns="0" rIns="0" tIns="0" bIns="0">
            <a:spAutoFit/>
          </a:bodyPr>
          <a:lstStyle/>
          <a:p>
            <a:pPr algn="l"/>
            <a:r>
              <a:rPr sz="1250" b="0">
                <a:solidFill>
                  <a:srgbClr val="6F757E"/>
                </a:solidFill>
                <a:latin typeface="Calibri"/>
              </a:rPr>
              <a:t>And this is the chain. Read it once and the rest follows.</a:t>
            </a:r>
          </a:p>
        </p:txBody>
      </p:sp>
      <p:sp>
        <p:nvSpPr>
          <p:cNvPr id="33" name="Rectangle 32"/>
          <p:cNvSpPr/>
          <p:nvPr/>
        </p:nvSpPr>
        <p:spPr>
          <a:xfrm>
            <a:off x="841248" y="4736592"/>
            <a:ext cx="1170432" cy="402336"/>
          </a:xfrm>
          <a:prstGeom prst="rect">
            <a:avLst/>
          </a:prstGeom>
          <a:noFill/>
          <a:ln w="9525">
            <a:solidFill>
              <a:srgbClr val="1C1F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C1F23"/>
                </a:solidFill>
                <a:latin typeface="Consolas"/>
              </a:rPr>
              <a:t>the title</a:t>
            </a:r>
          </a:p>
        </p:txBody>
      </p:sp>
      <p:sp>
        <p:nvSpPr>
          <p:cNvPr id="34" name="TextBox 33"/>
          <p:cNvSpPr txBox="1"/>
          <p:nvPr/>
        </p:nvSpPr>
        <p:spPr>
          <a:xfrm>
            <a:off x="2048256" y="4617720"/>
            <a:ext cx="1042415" cy="228600"/>
          </a:xfrm>
          <a:prstGeom prst="rect">
            <a:avLst/>
          </a:prstGeom>
          <a:noFill/>
        </p:spPr>
        <p:txBody>
          <a:bodyPr wrap="square" anchor="t" lIns="0" rIns="0" tIns="0" bIns="0">
            <a:spAutoFit/>
          </a:bodyPr>
          <a:lstStyle/>
          <a:p>
            <a:pPr algn="ctr"/>
            <a:r>
              <a:rPr sz="900" b="0">
                <a:solidFill>
                  <a:srgbClr val="6F757E"/>
                </a:solidFill>
                <a:latin typeface="Consolas"/>
              </a:rPr>
              <a:t>is matched to</a:t>
            </a:r>
          </a:p>
        </p:txBody>
      </p:sp>
      <p:sp>
        <p:nvSpPr>
          <p:cNvPr id="35" name="Right Arrow 34"/>
          <p:cNvSpPr/>
          <p:nvPr/>
        </p:nvSpPr>
        <p:spPr>
          <a:xfrm>
            <a:off x="2395728" y="4864607"/>
            <a:ext cx="237744" cy="155448"/>
          </a:xfrm>
          <a:prstGeom prst="rightArrow">
            <a:avLst/>
          </a:prstGeom>
          <a:solidFill>
            <a:srgbClr val="6F7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27248" y="4736592"/>
            <a:ext cx="1810512" cy="402336"/>
          </a:xfrm>
          <a:prstGeom prst="rect">
            <a:avLst/>
          </a:prstGeom>
          <a:noFill/>
          <a:ln w="9525">
            <a:solidFill>
              <a:srgbClr val="1F6F6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F6F6A"/>
                </a:solidFill>
                <a:latin typeface="Consolas"/>
              </a:rPr>
              <a:t>its nearest anchor</a:t>
            </a:r>
          </a:p>
        </p:txBody>
      </p:sp>
      <p:sp>
        <p:nvSpPr>
          <p:cNvPr id="37" name="TextBox 36"/>
          <p:cNvSpPr txBox="1"/>
          <p:nvPr/>
        </p:nvSpPr>
        <p:spPr>
          <a:xfrm>
            <a:off x="4974336" y="4617720"/>
            <a:ext cx="1042415" cy="228600"/>
          </a:xfrm>
          <a:prstGeom prst="rect">
            <a:avLst/>
          </a:prstGeom>
          <a:noFill/>
        </p:spPr>
        <p:txBody>
          <a:bodyPr wrap="square" anchor="t" lIns="0" rIns="0" tIns="0" bIns="0">
            <a:spAutoFit/>
          </a:bodyPr>
          <a:lstStyle/>
          <a:p>
            <a:pPr algn="ctr"/>
            <a:r>
              <a:rPr sz="900" b="0">
                <a:solidFill>
                  <a:srgbClr val="6F757E"/>
                </a:solidFill>
                <a:latin typeface="Consolas"/>
              </a:rPr>
              <a:t>which belongs to</a:t>
            </a:r>
          </a:p>
        </p:txBody>
      </p:sp>
      <p:sp>
        <p:nvSpPr>
          <p:cNvPr id="38" name="Right Arrow 37"/>
          <p:cNvSpPr/>
          <p:nvPr/>
        </p:nvSpPr>
        <p:spPr>
          <a:xfrm>
            <a:off x="5321808" y="4864607"/>
            <a:ext cx="237744" cy="155448"/>
          </a:xfrm>
          <a:prstGeom prst="rightArrow">
            <a:avLst/>
          </a:prstGeom>
          <a:solidFill>
            <a:srgbClr val="6F7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53328" y="4736592"/>
            <a:ext cx="1938528" cy="402336"/>
          </a:xfrm>
          <a:prstGeom prst="rect">
            <a:avLst/>
          </a:prstGeom>
          <a:noFill/>
          <a:ln w="9525">
            <a:solidFill>
              <a:srgbClr val="8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8A3D5E"/>
                </a:solidFill>
                <a:latin typeface="Consolas"/>
              </a:rPr>
              <a:t>that anchor's group</a:t>
            </a:r>
          </a:p>
        </p:txBody>
      </p:sp>
      <p:sp>
        <p:nvSpPr>
          <p:cNvPr id="40" name="TextBox 39"/>
          <p:cNvSpPr txBox="1"/>
          <p:nvPr/>
        </p:nvSpPr>
        <p:spPr>
          <a:xfrm>
            <a:off x="8028431" y="4617720"/>
            <a:ext cx="1042415" cy="228600"/>
          </a:xfrm>
          <a:prstGeom prst="rect">
            <a:avLst/>
          </a:prstGeom>
          <a:noFill/>
        </p:spPr>
        <p:txBody>
          <a:bodyPr wrap="square" anchor="t" lIns="0" rIns="0" tIns="0" bIns="0">
            <a:spAutoFit/>
          </a:bodyPr>
          <a:lstStyle/>
          <a:p>
            <a:pPr algn="ctr"/>
            <a:r>
              <a:rPr sz="900" b="0">
                <a:solidFill>
                  <a:srgbClr val="6F757E"/>
                </a:solidFill>
                <a:latin typeface="Consolas"/>
              </a:rPr>
              <a:t>which feeds</a:t>
            </a:r>
          </a:p>
        </p:txBody>
      </p:sp>
      <p:sp>
        <p:nvSpPr>
          <p:cNvPr id="41" name="Right Arrow 40"/>
          <p:cNvSpPr/>
          <p:nvPr/>
        </p:nvSpPr>
        <p:spPr>
          <a:xfrm>
            <a:off x="8375904" y="4864607"/>
            <a:ext cx="237744" cy="155448"/>
          </a:xfrm>
          <a:prstGeom prst="rightArrow">
            <a:avLst/>
          </a:prstGeom>
          <a:solidFill>
            <a:srgbClr val="6F7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07424" y="4736592"/>
            <a:ext cx="2139696" cy="402336"/>
          </a:xfrm>
          <a:prstGeom prst="rect">
            <a:avLst/>
          </a:prstGeom>
          <a:noFill/>
          <a:ln w="9525">
            <a:solidFill>
              <a:srgbClr val="9B3B2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9B3B2F"/>
                </a:solidFill>
                <a:latin typeface="Consolas"/>
              </a:rPr>
              <a:t>the audiences it feeds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1F6F6A"/>
                </a:solidFill>
                <a:latin typeface="Consolas"/>
              </a:rPr>
              <a:t>2 of 4  /  journey 1 of 3   -   the machine decides</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What happens to one title</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Almost every one of the 310,299 titles takes this path. It runs ONCE, not once per person.</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11064240" cy="457200"/>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31520" y="2057400"/>
            <a:ext cx="6400800" cy="274320"/>
          </a:xfrm>
          <a:prstGeom prst="rect">
            <a:avLst/>
          </a:prstGeom>
          <a:noFill/>
        </p:spPr>
        <p:txBody>
          <a:bodyPr wrap="square" anchor="t" lIns="0" rIns="0" tIns="0" bIns="0">
            <a:spAutoFit/>
          </a:bodyPr>
          <a:lstStyle/>
          <a:p>
            <a:pPr algn="l"/>
            <a:r>
              <a:rPr sz="1600" b="1">
                <a:solidFill>
                  <a:srgbClr val="F4F4F2"/>
                </a:solidFill>
                <a:latin typeface="Consolas"/>
              </a:rPr>
              <a:t>Consultant Paediatrician</a:t>
            </a:r>
          </a:p>
        </p:txBody>
      </p:sp>
      <p:sp>
        <p:nvSpPr>
          <p:cNvPr id="9" name="TextBox 8"/>
          <p:cNvSpPr txBox="1"/>
          <p:nvPr/>
        </p:nvSpPr>
        <p:spPr>
          <a:xfrm>
            <a:off x="7406640" y="2089404"/>
            <a:ext cx="3108960" cy="274320"/>
          </a:xfrm>
          <a:prstGeom prst="rect">
            <a:avLst/>
          </a:prstGeom>
          <a:noFill/>
        </p:spPr>
        <p:txBody>
          <a:bodyPr wrap="square" anchor="t" lIns="0" rIns="0" tIns="0" bIns="0">
            <a:spAutoFit/>
          </a:bodyPr>
          <a:lstStyle/>
          <a:p>
            <a:pPr algn="r"/>
            <a:r>
              <a:rPr sz="1050" b="0">
                <a:solidFill>
                  <a:srgbClr val="888D8A"/>
                </a:solidFill>
                <a:latin typeface="Consolas"/>
              </a:rPr>
              <a:t>decided by</a:t>
            </a:r>
          </a:p>
        </p:txBody>
      </p:sp>
      <p:sp>
        <p:nvSpPr>
          <p:cNvPr id="10" name="Rectangle 9"/>
          <p:cNvSpPr/>
          <p:nvPr/>
        </p:nvSpPr>
        <p:spPr>
          <a:xfrm>
            <a:off x="10771632" y="2089404"/>
            <a:ext cx="731520" cy="192024"/>
          </a:xfrm>
          <a:prstGeom prst="rect">
            <a:avLst/>
          </a:prstGeom>
          <a:solidFill>
            <a:srgbClr val="DF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1F6F6A"/>
                </a:solidFill>
                <a:latin typeface="Consolas"/>
              </a:rPr>
              <a:t>VECTOR</a:t>
            </a:r>
          </a:p>
        </p:txBody>
      </p:sp>
      <p:sp>
        <p:nvSpPr>
          <p:cNvPr id="11" name="Rectangle 10"/>
          <p:cNvSpPr/>
          <p:nvPr/>
        </p:nvSpPr>
        <p:spPr>
          <a:xfrm>
            <a:off x="566928" y="2560320"/>
            <a:ext cx="1828800" cy="950976"/>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2" name="Rectangle 11"/>
          <p:cNvSpPr/>
          <p:nvPr/>
        </p:nvSpPr>
        <p:spPr>
          <a:xfrm>
            <a:off x="566928" y="2560320"/>
            <a:ext cx="1828800" cy="34747"/>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679192"/>
            <a:ext cx="1645920" cy="402336"/>
          </a:xfrm>
          <a:prstGeom prst="rect">
            <a:avLst/>
          </a:prstGeom>
          <a:noFill/>
        </p:spPr>
        <p:txBody>
          <a:bodyPr wrap="square" anchor="t" lIns="0" rIns="0" tIns="0" bIns="0">
            <a:spAutoFit/>
          </a:bodyPr>
          <a:lstStyle/>
          <a:p>
            <a:pPr algn="l">
              <a:lnSpc>
                <a:spcPct val="110000"/>
              </a:lnSpc>
            </a:pPr>
            <a:r>
              <a:rPr sz="950" b="1">
                <a:solidFill>
                  <a:srgbClr val="6F757E"/>
                </a:solidFill>
                <a:latin typeface="Consolas"/>
              </a:rPr>
              <a:t>stg_orcid__
employment</a:t>
            </a:r>
          </a:p>
        </p:txBody>
      </p:sp>
      <p:sp>
        <p:nvSpPr>
          <p:cNvPr id="14" name="TextBox 13"/>
          <p:cNvSpPr txBox="1"/>
          <p:nvPr/>
        </p:nvSpPr>
        <p:spPr>
          <a:xfrm>
            <a:off x="667512" y="3099816"/>
            <a:ext cx="1645920" cy="384048"/>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The raw string, normalised</a:t>
            </a:r>
          </a:p>
        </p:txBody>
      </p:sp>
      <p:sp>
        <p:nvSpPr>
          <p:cNvPr id="15" name="Right Arrow 14"/>
          <p:cNvSpPr/>
          <p:nvPr/>
        </p:nvSpPr>
        <p:spPr>
          <a:xfrm>
            <a:off x="2514600" y="2953512"/>
            <a:ext cx="237744" cy="164592"/>
          </a:xfrm>
          <a:prstGeom prst="rightArrow">
            <a:avLst/>
          </a:prstGeom>
          <a:solidFill>
            <a:srgbClr val="6F7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75788" y="2560320"/>
            <a:ext cx="1828800" cy="950976"/>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7" name="Rectangle 16"/>
          <p:cNvSpPr/>
          <p:nvPr/>
        </p:nvSpPr>
        <p:spPr>
          <a:xfrm>
            <a:off x="2875788" y="2560320"/>
            <a:ext cx="1828800" cy="34747"/>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6372" y="2679192"/>
            <a:ext cx="1645920" cy="402336"/>
          </a:xfrm>
          <a:prstGeom prst="rect">
            <a:avLst/>
          </a:prstGeom>
          <a:noFill/>
        </p:spPr>
        <p:txBody>
          <a:bodyPr wrap="square" anchor="t" lIns="0" rIns="0" tIns="0" bIns="0">
            <a:spAutoFit/>
          </a:bodyPr>
          <a:lstStyle/>
          <a:p>
            <a:pPr algn="l">
              <a:lnSpc>
                <a:spcPct val="110000"/>
              </a:lnSpc>
            </a:pPr>
            <a:r>
              <a:rPr sz="950" b="1">
                <a:solidFill>
                  <a:srgbClr val="6F757E"/>
                </a:solidFill>
                <a:latin typeface="Consolas"/>
              </a:rPr>
              <a:t>int_title_
distinct</a:t>
            </a:r>
          </a:p>
        </p:txBody>
      </p:sp>
      <p:sp>
        <p:nvSpPr>
          <p:cNvPr id="19" name="TextBox 18"/>
          <p:cNvSpPr txBox="1"/>
          <p:nvPr/>
        </p:nvSpPr>
        <p:spPr>
          <a:xfrm>
            <a:off x="2976372" y="3099816"/>
            <a:ext cx="1645920" cy="384048"/>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One row per distinct title, with its frequency</a:t>
            </a:r>
          </a:p>
        </p:txBody>
      </p:sp>
      <p:sp>
        <p:nvSpPr>
          <p:cNvPr id="20" name="Right Arrow 19"/>
          <p:cNvSpPr/>
          <p:nvPr/>
        </p:nvSpPr>
        <p:spPr>
          <a:xfrm>
            <a:off x="4823460" y="2953512"/>
            <a:ext cx="237744" cy="164592"/>
          </a:xfrm>
          <a:prstGeom prst="rightArrow">
            <a:avLst/>
          </a:prstGeom>
          <a:solidFill>
            <a:srgbClr val="6F7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560320"/>
            <a:ext cx="1828800" cy="950976"/>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2" name="Rectangle 21"/>
          <p:cNvSpPr/>
          <p:nvPr/>
        </p:nvSpPr>
        <p:spPr>
          <a:xfrm>
            <a:off x="5184648" y="2560320"/>
            <a:ext cx="1828800" cy="34747"/>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85232" y="2679192"/>
            <a:ext cx="1645920" cy="402336"/>
          </a:xfrm>
          <a:prstGeom prst="rect">
            <a:avLst/>
          </a:prstGeom>
          <a:noFill/>
        </p:spPr>
        <p:txBody>
          <a:bodyPr wrap="square" anchor="t" lIns="0" rIns="0" tIns="0" bIns="0">
            <a:spAutoFit/>
          </a:bodyPr>
          <a:lstStyle/>
          <a:p>
            <a:pPr algn="l">
              <a:lnSpc>
                <a:spcPct val="110000"/>
              </a:lnSpc>
            </a:pPr>
            <a:r>
              <a:rPr sz="950" b="1">
                <a:solidFill>
                  <a:srgbClr val="1F6F6A"/>
                </a:solidFill>
                <a:latin typeface="Consolas"/>
              </a:rPr>
              <a:t>int_title_
embeddings</a:t>
            </a:r>
          </a:p>
        </p:txBody>
      </p:sp>
      <p:sp>
        <p:nvSpPr>
          <p:cNvPr id="24" name="TextBox 23"/>
          <p:cNvSpPr txBox="1"/>
          <p:nvPr/>
        </p:nvSpPr>
        <p:spPr>
          <a:xfrm>
            <a:off x="5285232" y="3099816"/>
            <a:ext cx="1645920" cy="384048"/>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768 numbers standing for the meaning</a:t>
            </a:r>
          </a:p>
        </p:txBody>
      </p:sp>
      <p:sp>
        <p:nvSpPr>
          <p:cNvPr id="25" name="Right Arrow 24"/>
          <p:cNvSpPr/>
          <p:nvPr/>
        </p:nvSpPr>
        <p:spPr>
          <a:xfrm>
            <a:off x="7132320" y="2953512"/>
            <a:ext cx="237744" cy="164592"/>
          </a:xfrm>
          <a:prstGeom prst="rightArrow">
            <a:avLst/>
          </a:prstGeom>
          <a:solidFill>
            <a:srgbClr val="6F7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93507" y="2560320"/>
            <a:ext cx="1828800" cy="950976"/>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7" name="Rectangle 26"/>
          <p:cNvSpPr/>
          <p:nvPr/>
        </p:nvSpPr>
        <p:spPr>
          <a:xfrm>
            <a:off x="7493507" y="2560320"/>
            <a:ext cx="1828800" cy="34747"/>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94091" y="2679192"/>
            <a:ext cx="1645920" cy="402336"/>
          </a:xfrm>
          <a:prstGeom prst="rect">
            <a:avLst/>
          </a:prstGeom>
          <a:noFill/>
        </p:spPr>
        <p:txBody>
          <a:bodyPr wrap="square" anchor="t" lIns="0" rIns="0" tIns="0" bIns="0">
            <a:spAutoFit/>
          </a:bodyPr>
          <a:lstStyle/>
          <a:p>
            <a:pPr algn="l">
              <a:lnSpc>
                <a:spcPct val="110000"/>
              </a:lnSpc>
            </a:pPr>
            <a:r>
              <a:rPr sz="950" b="1">
                <a:solidFill>
                  <a:srgbClr val="1F6F6A"/>
                </a:solidFill>
                <a:latin typeface="Consolas"/>
              </a:rPr>
              <a:t>int_title_
group_match</a:t>
            </a:r>
          </a:p>
        </p:txBody>
      </p:sp>
      <p:sp>
        <p:nvSpPr>
          <p:cNvPr id="29" name="TextBox 28"/>
          <p:cNvSpPr txBox="1"/>
          <p:nvPr/>
        </p:nvSpPr>
        <p:spPr>
          <a:xfrm>
            <a:off x="7594091" y="3099816"/>
            <a:ext cx="1645920" cy="384048"/>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Compared against all 151 anchors at once</a:t>
            </a:r>
          </a:p>
        </p:txBody>
      </p:sp>
      <p:sp>
        <p:nvSpPr>
          <p:cNvPr id="30" name="Right Arrow 29"/>
          <p:cNvSpPr/>
          <p:nvPr/>
        </p:nvSpPr>
        <p:spPr>
          <a:xfrm>
            <a:off x="9441180" y="2953512"/>
            <a:ext cx="237744" cy="164592"/>
          </a:xfrm>
          <a:prstGeom prst="rightArrow">
            <a:avLst/>
          </a:prstGeom>
          <a:solidFill>
            <a:srgbClr val="6F7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802367" y="2560320"/>
            <a:ext cx="1828800" cy="950976"/>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2" name="Rectangle 31"/>
          <p:cNvSpPr/>
          <p:nvPr/>
        </p:nvSpPr>
        <p:spPr>
          <a:xfrm>
            <a:off x="9802367" y="2560320"/>
            <a:ext cx="1828800" cy="34747"/>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02951" y="2679192"/>
            <a:ext cx="1645920" cy="402336"/>
          </a:xfrm>
          <a:prstGeom prst="rect">
            <a:avLst/>
          </a:prstGeom>
          <a:noFill/>
        </p:spPr>
        <p:txBody>
          <a:bodyPr wrap="square" anchor="t" lIns="0" rIns="0" tIns="0" bIns="0">
            <a:spAutoFit/>
          </a:bodyPr>
          <a:lstStyle/>
          <a:p>
            <a:pPr algn="l">
              <a:lnSpc>
                <a:spcPct val="110000"/>
              </a:lnSpc>
            </a:pPr>
            <a:r>
              <a:rPr sz="950" b="1">
                <a:solidFill>
                  <a:srgbClr val="1F6F6A"/>
                </a:solidFill>
                <a:latin typeface="Consolas"/>
              </a:rPr>
              <a:t>dim_title_
group</a:t>
            </a:r>
          </a:p>
        </p:txBody>
      </p:sp>
      <p:sp>
        <p:nvSpPr>
          <p:cNvPr id="34" name="TextBox 33"/>
          <p:cNvSpPr txBox="1"/>
          <p:nvPr/>
        </p:nvSpPr>
        <p:spPr>
          <a:xfrm>
            <a:off x="9902951" y="3099816"/>
            <a:ext cx="1645920" cy="384048"/>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The nearest anchor's group wins</a:t>
            </a:r>
          </a:p>
        </p:txBody>
      </p:sp>
      <p:sp>
        <p:nvSpPr>
          <p:cNvPr id="35" name="Rectangle 34"/>
          <p:cNvSpPr/>
          <p:nvPr/>
        </p:nvSpPr>
        <p:spPr>
          <a:xfrm>
            <a:off x="566928" y="3675888"/>
            <a:ext cx="11064240" cy="1141171"/>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94944" y="3803904"/>
            <a:ext cx="10808208" cy="221284"/>
          </a:xfrm>
          <a:prstGeom prst="rect">
            <a:avLst/>
          </a:prstGeom>
          <a:noFill/>
        </p:spPr>
        <p:txBody>
          <a:bodyPr wrap="square" anchor="t" lIns="0" rIns="0" tIns="0" bIns="0">
            <a:spAutoFit/>
          </a:bodyPr>
          <a:lstStyle/>
          <a:p>
            <a:pPr algn="l"/>
            <a:r>
              <a:rPr sz="1100" b="0">
                <a:solidFill>
                  <a:srgbClr val="1C1F23"/>
                </a:solidFill>
                <a:latin typeface="Consolas"/>
              </a:rPr>
              <a:t>what the person typed      Consultant Paediatrician</a:t>
            </a:r>
          </a:p>
        </p:txBody>
      </p:sp>
      <p:sp>
        <p:nvSpPr>
          <p:cNvPr id="37" name="TextBox 36"/>
          <p:cNvSpPr txBox="1"/>
          <p:nvPr/>
        </p:nvSpPr>
        <p:spPr>
          <a:xfrm>
            <a:off x="694944" y="4025188"/>
            <a:ext cx="10808208" cy="221284"/>
          </a:xfrm>
          <a:prstGeom prst="rect">
            <a:avLst/>
          </a:prstGeom>
          <a:noFill/>
        </p:spPr>
        <p:txBody>
          <a:bodyPr wrap="square" anchor="t" lIns="0" rIns="0" tIns="0" bIns="0">
            <a:spAutoFit/>
          </a:bodyPr>
          <a:lstStyle/>
          <a:p>
            <a:pPr algn="l"/>
            <a:r>
              <a:rPr sz="1100" b="0">
                <a:solidFill>
                  <a:srgbClr val="464B52"/>
                </a:solidFill>
                <a:latin typeface="Consolas"/>
              </a:rPr>
              <a:t>after clean_text           consultant paediatrician          lowercased, punctuation stripped, accents KEPT</a:t>
            </a:r>
          </a:p>
        </p:txBody>
      </p:sp>
      <p:sp>
        <p:nvSpPr>
          <p:cNvPr id="38" name="TextBox 37"/>
          <p:cNvSpPr txBox="1"/>
          <p:nvPr/>
        </p:nvSpPr>
        <p:spPr>
          <a:xfrm>
            <a:off x="694944" y="4246473"/>
            <a:ext cx="10808208" cy="221284"/>
          </a:xfrm>
          <a:prstGeom prst="rect">
            <a:avLst/>
          </a:prstGeom>
          <a:noFill/>
        </p:spPr>
        <p:txBody>
          <a:bodyPr wrap="square" anchor="t" lIns="0" rIns="0" tIns="0" bIns="0">
            <a:spAutoFit/>
          </a:bodyPr>
          <a:lstStyle/>
          <a:p>
            <a:pPr algn="l"/>
            <a:r>
              <a:rPr sz="1100" b="0">
                <a:solidFill>
                  <a:srgbClr val="464B52"/>
                </a:solidFill>
                <a:latin typeface="Consolas"/>
              </a:rPr>
              <a:t>as an embedding            [ 0.0142, -0.0881, 0.0310, ... ]    768 numbers</a:t>
            </a:r>
          </a:p>
        </p:txBody>
      </p:sp>
      <p:sp>
        <p:nvSpPr>
          <p:cNvPr id="39" name="TextBox 38"/>
          <p:cNvSpPr txBox="1"/>
          <p:nvPr/>
        </p:nvSpPr>
        <p:spPr>
          <a:xfrm>
            <a:off x="694944" y="4467758"/>
            <a:ext cx="10808208" cy="221284"/>
          </a:xfrm>
          <a:prstGeom prst="rect">
            <a:avLst/>
          </a:prstGeom>
          <a:noFill/>
        </p:spPr>
        <p:txBody>
          <a:bodyPr wrap="square" anchor="t" lIns="0" rIns="0" tIns="0" bIns="0">
            <a:spAutoFit/>
          </a:bodyPr>
          <a:lstStyle/>
          <a:p>
            <a:pPr algn="l"/>
            <a:r>
              <a:rPr sz="1100" b="0">
                <a:solidFill>
                  <a:srgbClr val="1F6F6A"/>
                </a:solidFill>
                <a:latin typeface="Consolas"/>
              </a:rPr>
              <a:t>nearest of 151 anchors     consultant                        similarity 0.699</a:t>
            </a:r>
          </a:p>
        </p:txBody>
      </p:sp>
      <p:sp>
        <p:nvSpPr>
          <p:cNvPr id="40" name="Rectangle 39"/>
          <p:cNvSpPr/>
          <p:nvPr/>
        </p:nvSpPr>
        <p:spPr>
          <a:xfrm>
            <a:off x="566928" y="4999939"/>
            <a:ext cx="11064240" cy="694944"/>
          </a:xfrm>
          <a:prstGeom prst="rect">
            <a:avLst/>
          </a:prstGeom>
          <a:solidFill>
            <a:srgbClr val="DFECE9"/>
          </a:solidFill>
          <a:ln w="9525">
            <a:solidFill>
              <a:srgbClr val="1F6F6A"/>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41" name="TextBox 40"/>
          <p:cNvSpPr txBox="1"/>
          <p:nvPr/>
        </p:nvSpPr>
        <p:spPr>
          <a:xfrm>
            <a:off x="749808" y="5100523"/>
            <a:ext cx="3017520" cy="219456"/>
          </a:xfrm>
          <a:prstGeom prst="rect">
            <a:avLst/>
          </a:prstGeom>
          <a:noFill/>
        </p:spPr>
        <p:txBody>
          <a:bodyPr wrap="square" anchor="t" lIns="0" rIns="0" tIns="0" bIns="0">
            <a:spAutoFit/>
          </a:bodyPr>
          <a:lstStyle/>
          <a:p>
            <a:pPr algn="l"/>
            <a:r>
              <a:rPr sz="900" b="1">
                <a:solidFill>
                  <a:srgbClr val="1F6F6A"/>
                </a:solidFill>
                <a:latin typeface="Consolas"/>
              </a:rPr>
              <a:t>title</a:t>
            </a:r>
          </a:p>
        </p:txBody>
      </p:sp>
      <p:sp>
        <p:nvSpPr>
          <p:cNvPr id="42" name="TextBox 41"/>
          <p:cNvSpPr txBox="1"/>
          <p:nvPr/>
        </p:nvSpPr>
        <p:spPr>
          <a:xfrm>
            <a:off x="749808" y="5347411"/>
            <a:ext cx="3017520" cy="274320"/>
          </a:xfrm>
          <a:prstGeom prst="rect">
            <a:avLst/>
          </a:prstGeom>
          <a:noFill/>
        </p:spPr>
        <p:txBody>
          <a:bodyPr wrap="square" anchor="t" lIns="0" rIns="0" tIns="0" bIns="0">
            <a:spAutoFit/>
          </a:bodyPr>
          <a:lstStyle/>
          <a:p>
            <a:pPr algn="l"/>
            <a:r>
              <a:rPr sz="1250" b="0">
                <a:solidFill>
                  <a:srgbClr val="1C1F23"/>
                </a:solidFill>
                <a:latin typeface="Consolas"/>
              </a:rPr>
              <a:t>consultant paediatrician</a:t>
            </a:r>
          </a:p>
        </p:txBody>
      </p:sp>
      <p:sp>
        <p:nvSpPr>
          <p:cNvPr id="43" name="TextBox 42"/>
          <p:cNvSpPr txBox="1"/>
          <p:nvPr/>
        </p:nvSpPr>
        <p:spPr>
          <a:xfrm>
            <a:off x="3767328" y="5100523"/>
            <a:ext cx="1828800" cy="219456"/>
          </a:xfrm>
          <a:prstGeom prst="rect">
            <a:avLst/>
          </a:prstGeom>
          <a:noFill/>
        </p:spPr>
        <p:txBody>
          <a:bodyPr wrap="square" anchor="t" lIns="0" rIns="0" tIns="0" bIns="0">
            <a:spAutoFit/>
          </a:bodyPr>
          <a:lstStyle/>
          <a:p>
            <a:pPr algn="l"/>
            <a:r>
              <a:rPr sz="900" b="1">
                <a:solidFill>
                  <a:srgbClr val="1F6F6A"/>
                </a:solidFill>
                <a:latin typeface="Consolas"/>
              </a:rPr>
              <a:t>title_group</a:t>
            </a:r>
          </a:p>
        </p:txBody>
      </p:sp>
      <p:sp>
        <p:nvSpPr>
          <p:cNvPr id="44" name="TextBox 43"/>
          <p:cNvSpPr txBox="1"/>
          <p:nvPr/>
        </p:nvSpPr>
        <p:spPr>
          <a:xfrm>
            <a:off x="3767328" y="5347411"/>
            <a:ext cx="1828800" cy="274320"/>
          </a:xfrm>
          <a:prstGeom prst="rect">
            <a:avLst/>
          </a:prstGeom>
          <a:noFill/>
        </p:spPr>
        <p:txBody>
          <a:bodyPr wrap="square" anchor="t" lIns="0" rIns="0" tIns="0" bIns="0">
            <a:spAutoFit/>
          </a:bodyPr>
          <a:lstStyle/>
          <a:p>
            <a:pPr algn="l"/>
            <a:r>
              <a:rPr sz="1250" b="0">
                <a:solidFill>
                  <a:srgbClr val="1C1F23"/>
                </a:solidFill>
                <a:latin typeface="Consolas"/>
              </a:rPr>
              <a:t>practitioner</a:t>
            </a:r>
          </a:p>
        </p:txBody>
      </p:sp>
      <p:sp>
        <p:nvSpPr>
          <p:cNvPr id="45" name="TextBox 44"/>
          <p:cNvSpPr txBox="1"/>
          <p:nvPr/>
        </p:nvSpPr>
        <p:spPr>
          <a:xfrm>
            <a:off x="5596128" y="5100523"/>
            <a:ext cx="1737360" cy="219456"/>
          </a:xfrm>
          <a:prstGeom prst="rect">
            <a:avLst/>
          </a:prstGeom>
          <a:noFill/>
        </p:spPr>
        <p:txBody>
          <a:bodyPr wrap="square" anchor="t" lIns="0" rIns="0" tIns="0" bIns="0">
            <a:spAutoFit/>
          </a:bodyPr>
          <a:lstStyle/>
          <a:p>
            <a:pPr algn="l"/>
            <a:r>
              <a:rPr sz="900" b="1">
                <a:solidFill>
                  <a:srgbClr val="1F6F6A"/>
                </a:solidFill>
                <a:latin typeface="Consolas"/>
              </a:rPr>
              <a:t>decision_source</a:t>
            </a:r>
          </a:p>
        </p:txBody>
      </p:sp>
      <p:sp>
        <p:nvSpPr>
          <p:cNvPr id="46" name="TextBox 45"/>
          <p:cNvSpPr txBox="1"/>
          <p:nvPr/>
        </p:nvSpPr>
        <p:spPr>
          <a:xfrm>
            <a:off x="5596128" y="5347411"/>
            <a:ext cx="1737360" cy="274320"/>
          </a:xfrm>
          <a:prstGeom prst="rect">
            <a:avLst/>
          </a:prstGeom>
          <a:noFill/>
        </p:spPr>
        <p:txBody>
          <a:bodyPr wrap="square" anchor="t" lIns="0" rIns="0" tIns="0" bIns="0">
            <a:spAutoFit/>
          </a:bodyPr>
          <a:lstStyle/>
          <a:p>
            <a:pPr algn="l"/>
            <a:r>
              <a:rPr sz="1250" b="0">
                <a:solidFill>
                  <a:srgbClr val="1C1F23"/>
                </a:solidFill>
                <a:latin typeface="Consolas"/>
              </a:rPr>
              <a:t>VECTOR</a:t>
            </a:r>
          </a:p>
        </p:txBody>
      </p:sp>
      <p:sp>
        <p:nvSpPr>
          <p:cNvPr id="47" name="TextBox 46"/>
          <p:cNvSpPr txBox="1"/>
          <p:nvPr/>
        </p:nvSpPr>
        <p:spPr>
          <a:xfrm>
            <a:off x="7333488" y="5100523"/>
            <a:ext cx="1188720" cy="219456"/>
          </a:xfrm>
          <a:prstGeom prst="rect">
            <a:avLst/>
          </a:prstGeom>
          <a:noFill/>
        </p:spPr>
        <p:txBody>
          <a:bodyPr wrap="square" anchor="t" lIns="0" rIns="0" tIns="0" bIns="0">
            <a:spAutoFit/>
          </a:bodyPr>
          <a:lstStyle/>
          <a:p>
            <a:pPr algn="l"/>
            <a:r>
              <a:rPr sz="900" b="1">
                <a:solidFill>
                  <a:srgbClr val="1F6F6A"/>
                </a:solidFill>
                <a:latin typeface="Consolas"/>
              </a:rPr>
              <a:t>similarity</a:t>
            </a:r>
          </a:p>
        </p:txBody>
      </p:sp>
      <p:sp>
        <p:nvSpPr>
          <p:cNvPr id="48" name="TextBox 47"/>
          <p:cNvSpPr txBox="1"/>
          <p:nvPr/>
        </p:nvSpPr>
        <p:spPr>
          <a:xfrm>
            <a:off x="7333488" y="5347411"/>
            <a:ext cx="1188720" cy="274320"/>
          </a:xfrm>
          <a:prstGeom prst="rect">
            <a:avLst/>
          </a:prstGeom>
          <a:noFill/>
        </p:spPr>
        <p:txBody>
          <a:bodyPr wrap="square" anchor="t" lIns="0" rIns="0" tIns="0" bIns="0">
            <a:spAutoFit/>
          </a:bodyPr>
          <a:lstStyle/>
          <a:p>
            <a:pPr algn="l"/>
            <a:r>
              <a:rPr sz="1250" b="0">
                <a:solidFill>
                  <a:srgbClr val="1C1F23"/>
                </a:solidFill>
                <a:latin typeface="Consolas"/>
              </a:rPr>
              <a:t>0.699</a:t>
            </a:r>
          </a:p>
        </p:txBody>
      </p:sp>
      <p:sp>
        <p:nvSpPr>
          <p:cNvPr id="49" name="TextBox 48"/>
          <p:cNvSpPr txBox="1"/>
          <p:nvPr/>
        </p:nvSpPr>
        <p:spPr>
          <a:xfrm>
            <a:off x="8522208" y="5100523"/>
            <a:ext cx="1188720" cy="219456"/>
          </a:xfrm>
          <a:prstGeom prst="rect">
            <a:avLst/>
          </a:prstGeom>
          <a:noFill/>
        </p:spPr>
        <p:txBody>
          <a:bodyPr wrap="square" anchor="t" lIns="0" rIns="0" tIns="0" bIns="0">
            <a:spAutoFit/>
          </a:bodyPr>
          <a:lstStyle/>
          <a:p>
            <a:pPr algn="l"/>
            <a:r>
              <a:rPr sz="900" b="1">
                <a:solidFill>
                  <a:srgbClr val="1F6F6A"/>
                </a:solidFill>
                <a:latin typeface="Consolas"/>
              </a:rPr>
              <a:t>group_score</a:t>
            </a:r>
          </a:p>
        </p:txBody>
      </p:sp>
      <p:sp>
        <p:nvSpPr>
          <p:cNvPr id="50" name="TextBox 49"/>
          <p:cNvSpPr txBox="1"/>
          <p:nvPr/>
        </p:nvSpPr>
        <p:spPr>
          <a:xfrm>
            <a:off x="8522208" y="5347411"/>
            <a:ext cx="1188720" cy="274320"/>
          </a:xfrm>
          <a:prstGeom prst="rect">
            <a:avLst/>
          </a:prstGeom>
          <a:noFill/>
        </p:spPr>
        <p:txBody>
          <a:bodyPr wrap="square" anchor="t" lIns="0" rIns="0" tIns="0" bIns="0">
            <a:spAutoFit/>
          </a:bodyPr>
          <a:lstStyle/>
          <a:p>
            <a:pPr algn="l"/>
            <a:r>
              <a:rPr sz="1250" b="0">
                <a:solidFill>
                  <a:srgbClr val="1C1F23"/>
                </a:solidFill>
                <a:latin typeface="Consolas"/>
              </a:rPr>
              <a:t>0.742</a:t>
            </a:r>
          </a:p>
        </p:txBody>
      </p:sp>
      <p:sp>
        <p:nvSpPr>
          <p:cNvPr id="51" name="TextBox 50"/>
          <p:cNvSpPr txBox="1"/>
          <p:nvPr/>
        </p:nvSpPr>
        <p:spPr>
          <a:xfrm>
            <a:off x="9710928" y="5100523"/>
            <a:ext cx="1188720" cy="219456"/>
          </a:xfrm>
          <a:prstGeom prst="rect">
            <a:avLst/>
          </a:prstGeom>
          <a:noFill/>
        </p:spPr>
        <p:txBody>
          <a:bodyPr wrap="square" anchor="t" lIns="0" rIns="0" tIns="0" bIns="0">
            <a:spAutoFit/>
          </a:bodyPr>
          <a:lstStyle/>
          <a:p>
            <a:pPr algn="l"/>
            <a:r>
              <a:rPr sz="900" b="1">
                <a:solidFill>
                  <a:srgbClr val="1F6F6A"/>
                </a:solidFill>
                <a:latin typeface="Consolas"/>
              </a:rPr>
              <a:t>is_assigned</a:t>
            </a:r>
          </a:p>
        </p:txBody>
      </p:sp>
      <p:sp>
        <p:nvSpPr>
          <p:cNvPr id="52" name="TextBox 51"/>
          <p:cNvSpPr txBox="1"/>
          <p:nvPr/>
        </p:nvSpPr>
        <p:spPr>
          <a:xfrm>
            <a:off x="9710928" y="5347411"/>
            <a:ext cx="1188720" cy="274320"/>
          </a:xfrm>
          <a:prstGeom prst="rect">
            <a:avLst/>
          </a:prstGeom>
          <a:noFill/>
        </p:spPr>
        <p:txBody>
          <a:bodyPr wrap="square" anchor="t" lIns="0" rIns="0" tIns="0" bIns="0">
            <a:spAutoFit/>
          </a:bodyPr>
          <a:lstStyle/>
          <a:p>
            <a:pPr algn="l"/>
            <a:r>
              <a:rPr sz="1250" b="0">
                <a:solidFill>
                  <a:srgbClr val="1C1F23"/>
                </a:solidFill>
                <a:latin typeface="Consolas"/>
              </a:rPr>
              <a:t>true</a:t>
            </a:r>
          </a:p>
        </p:txBody>
      </p:sp>
      <p:sp>
        <p:nvSpPr>
          <p:cNvPr id="53" name="TextBox 52"/>
          <p:cNvSpPr txBox="1"/>
          <p:nvPr/>
        </p:nvSpPr>
        <p:spPr>
          <a:xfrm>
            <a:off x="566928" y="5768035"/>
            <a:ext cx="11064240" cy="457200"/>
          </a:xfrm>
          <a:prstGeom prst="rect">
            <a:avLst/>
          </a:prstGeom>
          <a:noFill/>
        </p:spPr>
        <p:txBody>
          <a:bodyPr wrap="square" anchor="t" lIns="0" rIns="0" tIns="0" bIns="0">
            <a:spAutoFit/>
          </a:bodyPr>
          <a:lstStyle/>
          <a:p>
            <a:pPr algn="l">
              <a:lnSpc>
                <a:spcPct val="125000"/>
              </a:lnSpc>
            </a:pPr>
            <a:r>
              <a:rPr sz="1050" b="0">
                <a:solidFill>
                  <a:srgbClr val="6F757E"/>
                </a:solidFill>
                <a:latin typeface="Calibri"/>
              </a:rPr>
              <a:t>group_score rescales the similarity so the 0.65 floor is worth 0.70 and an exact match is worth 1.00:    0.70 + (0.699 - 0.65) / 0.35 x 0.30  =  0.742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1F6F6A"/>
                </a:solidFill>
                <a:latin typeface="Consolas"/>
              </a:rPr>
              <a:t>3 of 4  /  journey 1 of 3   -   continued</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The same title, now scored for a person</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That one dictionary row is reused for every person who typed the string. Here is one of them.</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6812280" cy="2633472"/>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86384" y="2084832"/>
            <a:ext cx="6400800" cy="237744"/>
          </a:xfrm>
          <a:prstGeom prst="rect">
            <a:avLst/>
          </a:prstGeom>
          <a:noFill/>
        </p:spPr>
        <p:txBody>
          <a:bodyPr wrap="square" anchor="t" lIns="0" rIns="0" tIns="0" bIns="0">
            <a:spAutoFit/>
          </a:bodyPr>
          <a:lstStyle/>
          <a:p>
            <a:pPr algn="l"/>
            <a:r>
              <a:rPr sz="1200" b="1">
                <a:solidFill>
                  <a:srgbClr val="6F757E"/>
                </a:solidFill>
                <a:latin typeface="Calibri"/>
              </a:rPr>
              <a:t>A person with this employment record</a:t>
            </a:r>
          </a:p>
        </p:txBody>
      </p:sp>
      <p:sp>
        <p:nvSpPr>
          <p:cNvPr id="9" name="TextBox 8"/>
          <p:cNvSpPr txBox="1"/>
          <p:nvPr/>
        </p:nvSpPr>
        <p:spPr>
          <a:xfrm>
            <a:off x="786384" y="2395728"/>
            <a:ext cx="1371600" cy="219456"/>
          </a:xfrm>
          <a:prstGeom prst="rect">
            <a:avLst/>
          </a:prstGeom>
          <a:noFill/>
        </p:spPr>
        <p:txBody>
          <a:bodyPr wrap="square" anchor="t" lIns="0" rIns="0" tIns="0" bIns="0">
            <a:spAutoFit/>
          </a:bodyPr>
          <a:lstStyle/>
          <a:p>
            <a:pPr algn="l"/>
            <a:r>
              <a:rPr sz="1000" b="0">
                <a:solidFill>
                  <a:srgbClr val="6F757E"/>
                </a:solidFill>
                <a:latin typeface="Consolas"/>
              </a:rPr>
              <a:t>job title</a:t>
            </a:r>
          </a:p>
        </p:txBody>
      </p:sp>
      <p:sp>
        <p:nvSpPr>
          <p:cNvPr id="10" name="TextBox 9"/>
          <p:cNvSpPr txBox="1"/>
          <p:nvPr/>
        </p:nvSpPr>
        <p:spPr>
          <a:xfrm>
            <a:off x="2194560" y="2395728"/>
            <a:ext cx="2743200" cy="219456"/>
          </a:xfrm>
          <a:prstGeom prst="rect">
            <a:avLst/>
          </a:prstGeom>
          <a:noFill/>
        </p:spPr>
        <p:txBody>
          <a:bodyPr wrap="square" anchor="t" lIns="0" rIns="0" tIns="0" bIns="0">
            <a:spAutoFit/>
          </a:bodyPr>
          <a:lstStyle/>
          <a:p>
            <a:pPr algn="l"/>
            <a:r>
              <a:rPr sz="1150" b="0">
                <a:solidFill>
                  <a:srgbClr val="1C1F23"/>
                </a:solidFill>
                <a:latin typeface="Consolas"/>
              </a:rPr>
              <a:t>consultant paediatrician</a:t>
            </a:r>
          </a:p>
        </p:txBody>
      </p:sp>
      <p:sp>
        <p:nvSpPr>
          <p:cNvPr id="11" name="TextBox 10"/>
          <p:cNvSpPr txBox="1"/>
          <p:nvPr/>
        </p:nvSpPr>
        <p:spPr>
          <a:xfrm>
            <a:off x="5029200" y="2395728"/>
            <a:ext cx="2194560" cy="219456"/>
          </a:xfrm>
          <a:prstGeom prst="rect">
            <a:avLst/>
          </a:prstGeom>
          <a:noFill/>
        </p:spPr>
        <p:txBody>
          <a:bodyPr wrap="square" anchor="t" lIns="0" rIns="0" tIns="0" bIns="0">
            <a:spAutoFit/>
          </a:bodyPr>
          <a:lstStyle/>
          <a:p>
            <a:pPr algn="l"/>
            <a:r>
              <a:rPr sz="1100" b="0">
                <a:solidFill>
                  <a:srgbClr val="1F6F6A"/>
                </a:solidFill>
                <a:latin typeface="Consolas"/>
              </a:rPr>
              <a:t>-&gt; practitioner</a:t>
            </a:r>
          </a:p>
        </p:txBody>
      </p:sp>
      <p:sp>
        <p:nvSpPr>
          <p:cNvPr id="12" name="TextBox 11"/>
          <p:cNvSpPr txBox="1"/>
          <p:nvPr/>
        </p:nvSpPr>
        <p:spPr>
          <a:xfrm>
            <a:off x="786384" y="2688336"/>
            <a:ext cx="1371600" cy="219456"/>
          </a:xfrm>
          <a:prstGeom prst="rect">
            <a:avLst/>
          </a:prstGeom>
          <a:noFill/>
        </p:spPr>
        <p:txBody>
          <a:bodyPr wrap="square" anchor="t" lIns="0" rIns="0" tIns="0" bIns="0">
            <a:spAutoFit/>
          </a:bodyPr>
          <a:lstStyle/>
          <a:p>
            <a:pPr algn="l"/>
            <a:r>
              <a:rPr sz="1000" b="0">
                <a:solidFill>
                  <a:srgbClr val="6F757E"/>
                </a:solidFill>
                <a:latin typeface="Consolas"/>
              </a:rPr>
              <a:t>organisation</a:t>
            </a:r>
          </a:p>
        </p:txBody>
      </p:sp>
      <p:sp>
        <p:nvSpPr>
          <p:cNvPr id="13" name="TextBox 12"/>
          <p:cNvSpPr txBox="1"/>
          <p:nvPr/>
        </p:nvSpPr>
        <p:spPr>
          <a:xfrm>
            <a:off x="2194560" y="2688336"/>
            <a:ext cx="2743200" cy="219456"/>
          </a:xfrm>
          <a:prstGeom prst="rect">
            <a:avLst/>
          </a:prstGeom>
          <a:noFill/>
        </p:spPr>
        <p:txBody>
          <a:bodyPr wrap="square" anchor="t" lIns="0" rIns="0" tIns="0" bIns="0">
            <a:spAutoFit/>
          </a:bodyPr>
          <a:lstStyle/>
          <a:p>
            <a:pPr algn="l"/>
            <a:r>
              <a:rPr sz="1150" b="0">
                <a:solidFill>
                  <a:srgbClr val="1C1F23"/>
                </a:solidFill>
                <a:latin typeface="Consolas"/>
              </a:rPr>
              <a:t>Great Ormond Street Hospital</a:t>
            </a:r>
          </a:p>
        </p:txBody>
      </p:sp>
      <p:sp>
        <p:nvSpPr>
          <p:cNvPr id="14" name="TextBox 13"/>
          <p:cNvSpPr txBox="1"/>
          <p:nvPr/>
        </p:nvSpPr>
        <p:spPr>
          <a:xfrm>
            <a:off x="5029200" y="2688336"/>
            <a:ext cx="2194560" cy="219456"/>
          </a:xfrm>
          <a:prstGeom prst="rect">
            <a:avLst/>
          </a:prstGeom>
          <a:noFill/>
        </p:spPr>
        <p:txBody>
          <a:bodyPr wrap="square" anchor="t" lIns="0" rIns="0" tIns="0" bIns="0">
            <a:spAutoFit/>
          </a:bodyPr>
          <a:lstStyle/>
          <a:p>
            <a:pPr algn="l"/>
            <a:r>
              <a:rPr sz="1100" b="0">
                <a:solidFill>
                  <a:srgbClr val="1F6F6A"/>
                </a:solidFill>
                <a:latin typeface="Consolas"/>
              </a:rPr>
              <a:t>-&gt; ROR type Healthcare</a:t>
            </a:r>
          </a:p>
        </p:txBody>
      </p:sp>
      <p:sp>
        <p:nvSpPr>
          <p:cNvPr id="15" name="TextBox 14"/>
          <p:cNvSpPr txBox="1"/>
          <p:nvPr/>
        </p:nvSpPr>
        <p:spPr>
          <a:xfrm>
            <a:off x="786384" y="2980944"/>
            <a:ext cx="1371600" cy="219456"/>
          </a:xfrm>
          <a:prstGeom prst="rect">
            <a:avLst/>
          </a:prstGeom>
          <a:noFill/>
        </p:spPr>
        <p:txBody>
          <a:bodyPr wrap="square" anchor="t" lIns="0" rIns="0" tIns="0" bIns="0">
            <a:spAutoFit/>
          </a:bodyPr>
          <a:lstStyle/>
          <a:p>
            <a:pPr algn="l"/>
            <a:r>
              <a:rPr sz="1000" b="0">
                <a:solidFill>
                  <a:srgbClr val="6F757E"/>
                </a:solidFill>
                <a:latin typeface="Consolas"/>
              </a:rPr>
              <a:t>department</a:t>
            </a:r>
          </a:p>
        </p:txBody>
      </p:sp>
      <p:sp>
        <p:nvSpPr>
          <p:cNvPr id="16" name="TextBox 15"/>
          <p:cNvSpPr txBox="1"/>
          <p:nvPr/>
        </p:nvSpPr>
        <p:spPr>
          <a:xfrm>
            <a:off x="2194560" y="2980944"/>
            <a:ext cx="2743200" cy="219456"/>
          </a:xfrm>
          <a:prstGeom prst="rect">
            <a:avLst/>
          </a:prstGeom>
          <a:noFill/>
        </p:spPr>
        <p:txBody>
          <a:bodyPr wrap="square" anchor="t" lIns="0" rIns="0" tIns="0" bIns="0">
            <a:spAutoFit/>
          </a:bodyPr>
          <a:lstStyle/>
          <a:p>
            <a:pPr algn="l"/>
            <a:r>
              <a:rPr sz="1150" b="0">
                <a:solidFill>
                  <a:srgbClr val="1C1F23"/>
                </a:solidFill>
                <a:latin typeface="Consolas"/>
              </a:rPr>
              <a:t>paediatrics</a:t>
            </a:r>
          </a:p>
        </p:txBody>
      </p:sp>
      <p:sp>
        <p:nvSpPr>
          <p:cNvPr id="17" name="TextBox 16"/>
          <p:cNvSpPr txBox="1"/>
          <p:nvPr/>
        </p:nvSpPr>
        <p:spPr>
          <a:xfrm>
            <a:off x="5029200" y="2980944"/>
            <a:ext cx="2194560" cy="219456"/>
          </a:xfrm>
          <a:prstGeom prst="rect">
            <a:avLst/>
          </a:prstGeom>
          <a:noFill/>
        </p:spPr>
        <p:txBody>
          <a:bodyPr wrap="square" anchor="t" lIns="0" rIns="0" tIns="0" bIns="0">
            <a:spAutoFit/>
          </a:bodyPr>
          <a:lstStyle/>
          <a:p>
            <a:pPr algn="l"/>
            <a:r>
              <a:rPr sz="1100" b="0">
                <a:solidFill>
                  <a:srgbClr val="1F6F6A"/>
                </a:solidFill>
                <a:latin typeface="Consolas"/>
              </a:rPr>
              <a:t>-&gt; health_clinical</a:t>
            </a:r>
          </a:p>
        </p:txBody>
      </p:sp>
      <p:sp>
        <p:nvSpPr>
          <p:cNvPr id="18" name="Rectangle 17"/>
          <p:cNvSpPr/>
          <p:nvPr/>
        </p:nvSpPr>
        <p:spPr>
          <a:xfrm>
            <a:off x="786384" y="3319271"/>
            <a:ext cx="640080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3493007"/>
            <a:ext cx="6400800" cy="237744"/>
          </a:xfrm>
          <a:prstGeom prst="rect">
            <a:avLst/>
          </a:prstGeom>
          <a:noFill/>
        </p:spPr>
        <p:txBody>
          <a:bodyPr wrap="square" anchor="t" lIns="0" rIns="0" tIns="0" bIns="0">
            <a:spAutoFit/>
          </a:bodyPr>
          <a:lstStyle/>
          <a:p>
            <a:pPr algn="l"/>
            <a:r>
              <a:rPr sz="1200" b="1">
                <a:solidFill>
                  <a:srgbClr val="6F757E"/>
                </a:solidFill>
                <a:latin typeface="Calibri"/>
              </a:rPr>
              <a:t>Scored for hcp_practitioner, weights 0.45 / 0.15 / 0.40</a:t>
            </a:r>
          </a:p>
        </p:txBody>
      </p:sp>
      <p:sp>
        <p:nvSpPr>
          <p:cNvPr id="20" name="TextBox 19"/>
          <p:cNvSpPr txBox="1"/>
          <p:nvPr/>
        </p:nvSpPr>
        <p:spPr>
          <a:xfrm>
            <a:off x="786384" y="3785615"/>
            <a:ext cx="1554480" cy="219456"/>
          </a:xfrm>
          <a:prstGeom prst="rect">
            <a:avLst/>
          </a:prstGeom>
          <a:noFill/>
        </p:spPr>
        <p:txBody>
          <a:bodyPr wrap="square" anchor="t" lIns="0" rIns="0" tIns="0" bIns="0">
            <a:spAutoFit/>
          </a:bodyPr>
          <a:lstStyle/>
          <a:p>
            <a:pPr algn="l"/>
            <a:r>
              <a:rPr sz="1100" b="0">
                <a:solidFill>
                  <a:srgbClr val="464B52"/>
                </a:solidFill>
                <a:latin typeface="Calibri"/>
              </a:rPr>
              <a:t>title</a:t>
            </a:r>
          </a:p>
        </p:txBody>
      </p:sp>
      <p:sp>
        <p:nvSpPr>
          <p:cNvPr id="21" name="TextBox 20"/>
          <p:cNvSpPr txBox="1"/>
          <p:nvPr/>
        </p:nvSpPr>
        <p:spPr>
          <a:xfrm>
            <a:off x="2468880" y="3785615"/>
            <a:ext cx="548640" cy="219456"/>
          </a:xfrm>
          <a:prstGeom prst="rect">
            <a:avLst/>
          </a:prstGeom>
          <a:noFill/>
        </p:spPr>
        <p:txBody>
          <a:bodyPr wrap="square" anchor="t" lIns="0" rIns="0" tIns="0" bIns="0">
            <a:spAutoFit/>
          </a:bodyPr>
          <a:lstStyle/>
          <a:p>
            <a:pPr algn="l"/>
            <a:r>
              <a:rPr sz="1150" b="0">
                <a:solidFill>
                  <a:srgbClr val="6F757E"/>
                </a:solidFill>
                <a:latin typeface="Consolas"/>
              </a:rPr>
              <a:t>0.45</a:t>
            </a:r>
          </a:p>
        </p:txBody>
      </p:sp>
      <p:sp>
        <p:nvSpPr>
          <p:cNvPr id="22" name="TextBox 21"/>
          <p:cNvSpPr txBox="1"/>
          <p:nvPr/>
        </p:nvSpPr>
        <p:spPr>
          <a:xfrm>
            <a:off x="3063240" y="3785615"/>
            <a:ext cx="365760" cy="219456"/>
          </a:xfrm>
          <a:prstGeom prst="rect">
            <a:avLst/>
          </a:prstGeom>
          <a:noFill/>
        </p:spPr>
        <p:txBody>
          <a:bodyPr wrap="square" anchor="t" lIns="0" rIns="0" tIns="0" bIns="0">
            <a:spAutoFit/>
          </a:bodyPr>
          <a:lstStyle/>
          <a:p>
            <a:pPr algn="l"/>
            <a:r>
              <a:rPr sz="1100" b="0">
                <a:solidFill>
                  <a:srgbClr val="6F757E"/>
                </a:solidFill>
                <a:latin typeface="Consolas"/>
              </a:rPr>
              <a:t>x</a:t>
            </a:r>
          </a:p>
        </p:txBody>
      </p:sp>
      <p:sp>
        <p:nvSpPr>
          <p:cNvPr id="23" name="TextBox 22"/>
          <p:cNvSpPr txBox="1"/>
          <p:nvPr/>
        </p:nvSpPr>
        <p:spPr>
          <a:xfrm>
            <a:off x="3383280" y="3785615"/>
            <a:ext cx="640080" cy="219456"/>
          </a:xfrm>
          <a:prstGeom prst="rect">
            <a:avLst/>
          </a:prstGeom>
          <a:noFill/>
        </p:spPr>
        <p:txBody>
          <a:bodyPr wrap="square" anchor="t" lIns="0" rIns="0" tIns="0" bIns="0">
            <a:spAutoFit/>
          </a:bodyPr>
          <a:lstStyle/>
          <a:p>
            <a:pPr algn="l"/>
            <a:r>
              <a:rPr sz="1150" b="0">
                <a:solidFill>
                  <a:srgbClr val="1C1F23"/>
                </a:solidFill>
                <a:latin typeface="Consolas"/>
              </a:rPr>
              <a:t>0.742</a:t>
            </a:r>
          </a:p>
        </p:txBody>
      </p:sp>
      <p:sp>
        <p:nvSpPr>
          <p:cNvPr id="24" name="TextBox 23"/>
          <p:cNvSpPr txBox="1"/>
          <p:nvPr/>
        </p:nvSpPr>
        <p:spPr>
          <a:xfrm>
            <a:off x="4114800" y="3785615"/>
            <a:ext cx="365760" cy="219456"/>
          </a:xfrm>
          <a:prstGeom prst="rect">
            <a:avLst/>
          </a:prstGeom>
          <a:noFill/>
        </p:spPr>
        <p:txBody>
          <a:bodyPr wrap="square" anchor="t" lIns="0" rIns="0" tIns="0" bIns="0">
            <a:spAutoFit/>
          </a:bodyPr>
          <a:lstStyle/>
          <a:p>
            <a:pPr algn="l"/>
            <a:r>
              <a:rPr sz="1100" b="0">
                <a:solidFill>
                  <a:srgbClr val="6F757E"/>
                </a:solidFill>
                <a:latin typeface="Consolas"/>
              </a:rPr>
              <a:t>=</a:t>
            </a:r>
          </a:p>
        </p:txBody>
      </p:sp>
      <p:sp>
        <p:nvSpPr>
          <p:cNvPr id="25" name="TextBox 24"/>
          <p:cNvSpPr txBox="1"/>
          <p:nvPr/>
        </p:nvSpPr>
        <p:spPr>
          <a:xfrm>
            <a:off x="4480560" y="3785615"/>
            <a:ext cx="731520" cy="219456"/>
          </a:xfrm>
          <a:prstGeom prst="rect">
            <a:avLst/>
          </a:prstGeom>
          <a:noFill/>
        </p:spPr>
        <p:txBody>
          <a:bodyPr wrap="square" anchor="t" lIns="0" rIns="0" tIns="0" bIns="0">
            <a:spAutoFit/>
          </a:bodyPr>
          <a:lstStyle/>
          <a:p>
            <a:pPr algn="l"/>
            <a:r>
              <a:rPr sz="1150" b="1">
                <a:solidFill>
                  <a:srgbClr val="1C1F23"/>
                </a:solidFill>
                <a:latin typeface="Consolas"/>
              </a:rPr>
              <a:t>0.334</a:t>
            </a:r>
          </a:p>
        </p:txBody>
      </p:sp>
      <p:sp>
        <p:nvSpPr>
          <p:cNvPr id="26" name="TextBox 25"/>
          <p:cNvSpPr txBox="1"/>
          <p:nvPr/>
        </p:nvSpPr>
        <p:spPr>
          <a:xfrm>
            <a:off x="786384" y="4041648"/>
            <a:ext cx="1554480" cy="219456"/>
          </a:xfrm>
          <a:prstGeom prst="rect">
            <a:avLst/>
          </a:prstGeom>
          <a:noFill/>
        </p:spPr>
        <p:txBody>
          <a:bodyPr wrap="square" anchor="t" lIns="0" rIns="0" tIns="0" bIns="0">
            <a:spAutoFit/>
          </a:bodyPr>
          <a:lstStyle/>
          <a:p>
            <a:pPr algn="l"/>
            <a:r>
              <a:rPr sz="1100" b="0">
                <a:solidFill>
                  <a:srgbClr val="464B52"/>
                </a:solidFill>
                <a:latin typeface="Calibri"/>
              </a:rPr>
              <a:t>organisation</a:t>
            </a:r>
          </a:p>
        </p:txBody>
      </p:sp>
      <p:sp>
        <p:nvSpPr>
          <p:cNvPr id="27" name="TextBox 26"/>
          <p:cNvSpPr txBox="1"/>
          <p:nvPr/>
        </p:nvSpPr>
        <p:spPr>
          <a:xfrm>
            <a:off x="2468880" y="4041648"/>
            <a:ext cx="548640" cy="219456"/>
          </a:xfrm>
          <a:prstGeom prst="rect">
            <a:avLst/>
          </a:prstGeom>
          <a:noFill/>
        </p:spPr>
        <p:txBody>
          <a:bodyPr wrap="square" anchor="t" lIns="0" rIns="0" tIns="0" bIns="0">
            <a:spAutoFit/>
          </a:bodyPr>
          <a:lstStyle/>
          <a:p>
            <a:pPr algn="l"/>
            <a:r>
              <a:rPr sz="1150" b="0">
                <a:solidFill>
                  <a:srgbClr val="6F757E"/>
                </a:solidFill>
                <a:latin typeface="Consolas"/>
              </a:rPr>
              <a:t>0.15</a:t>
            </a:r>
          </a:p>
        </p:txBody>
      </p:sp>
      <p:sp>
        <p:nvSpPr>
          <p:cNvPr id="28" name="TextBox 27"/>
          <p:cNvSpPr txBox="1"/>
          <p:nvPr/>
        </p:nvSpPr>
        <p:spPr>
          <a:xfrm>
            <a:off x="3063240" y="4041648"/>
            <a:ext cx="365760" cy="219456"/>
          </a:xfrm>
          <a:prstGeom prst="rect">
            <a:avLst/>
          </a:prstGeom>
          <a:noFill/>
        </p:spPr>
        <p:txBody>
          <a:bodyPr wrap="square" anchor="t" lIns="0" rIns="0" tIns="0" bIns="0">
            <a:spAutoFit/>
          </a:bodyPr>
          <a:lstStyle/>
          <a:p>
            <a:pPr algn="l"/>
            <a:r>
              <a:rPr sz="1100" b="0">
                <a:solidFill>
                  <a:srgbClr val="6F757E"/>
                </a:solidFill>
                <a:latin typeface="Consolas"/>
              </a:rPr>
              <a:t>x</a:t>
            </a:r>
          </a:p>
        </p:txBody>
      </p:sp>
      <p:sp>
        <p:nvSpPr>
          <p:cNvPr id="29" name="TextBox 28"/>
          <p:cNvSpPr txBox="1"/>
          <p:nvPr/>
        </p:nvSpPr>
        <p:spPr>
          <a:xfrm>
            <a:off x="3383280" y="4041648"/>
            <a:ext cx="640080" cy="219456"/>
          </a:xfrm>
          <a:prstGeom prst="rect">
            <a:avLst/>
          </a:prstGeom>
          <a:noFill/>
        </p:spPr>
        <p:txBody>
          <a:bodyPr wrap="square" anchor="t" lIns="0" rIns="0" tIns="0" bIns="0">
            <a:spAutoFit/>
          </a:bodyPr>
          <a:lstStyle/>
          <a:p>
            <a:pPr algn="l"/>
            <a:r>
              <a:rPr sz="1150" b="0">
                <a:solidFill>
                  <a:srgbClr val="1C1F23"/>
                </a:solidFill>
                <a:latin typeface="Consolas"/>
              </a:rPr>
              <a:t>1.00</a:t>
            </a:r>
          </a:p>
        </p:txBody>
      </p:sp>
      <p:sp>
        <p:nvSpPr>
          <p:cNvPr id="30" name="TextBox 29"/>
          <p:cNvSpPr txBox="1"/>
          <p:nvPr/>
        </p:nvSpPr>
        <p:spPr>
          <a:xfrm>
            <a:off x="4114800" y="4041648"/>
            <a:ext cx="365760" cy="219456"/>
          </a:xfrm>
          <a:prstGeom prst="rect">
            <a:avLst/>
          </a:prstGeom>
          <a:noFill/>
        </p:spPr>
        <p:txBody>
          <a:bodyPr wrap="square" anchor="t" lIns="0" rIns="0" tIns="0" bIns="0">
            <a:spAutoFit/>
          </a:bodyPr>
          <a:lstStyle/>
          <a:p>
            <a:pPr algn="l"/>
            <a:r>
              <a:rPr sz="1100" b="0">
                <a:solidFill>
                  <a:srgbClr val="6F757E"/>
                </a:solidFill>
                <a:latin typeface="Consolas"/>
              </a:rPr>
              <a:t>=</a:t>
            </a:r>
          </a:p>
        </p:txBody>
      </p:sp>
      <p:sp>
        <p:nvSpPr>
          <p:cNvPr id="31" name="TextBox 30"/>
          <p:cNvSpPr txBox="1"/>
          <p:nvPr/>
        </p:nvSpPr>
        <p:spPr>
          <a:xfrm>
            <a:off x="4480560" y="4041648"/>
            <a:ext cx="731520" cy="219456"/>
          </a:xfrm>
          <a:prstGeom prst="rect">
            <a:avLst/>
          </a:prstGeom>
          <a:noFill/>
        </p:spPr>
        <p:txBody>
          <a:bodyPr wrap="square" anchor="t" lIns="0" rIns="0" tIns="0" bIns="0">
            <a:spAutoFit/>
          </a:bodyPr>
          <a:lstStyle/>
          <a:p>
            <a:pPr algn="l"/>
            <a:r>
              <a:rPr sz="1150" b="1">
                <a:solidFill>
                  <a:srgbClr val="1C1F23"/>
                </a:solidFill>
                <a:latin typeface="Consolas"/>
              </a:rPr>
              <a:t>0.150</a:t>
            </a:r>
          </a:p>
        </p:txBody>
      </p:sp>
      <p:sp>
        <p:nvSpPr>
          <p:cNvPr id="32" name="TextBox 31"/>
          <p:cNvSpPr txBox="1"/>
          <p:nvPr/>
        </p:nvSpPr>
        <p:spPr>
          <a:xfrm>
            <a:off x="786384" y="4297680"/>
            <a:ext cx="1554480" cy="219456"/>
          </a:xfrm>
          <a:prstGeom prst="rect">
            <a:avLst/>
          </a:prstGeom>
          <a:noFill/>
        </p:spPr>
        <p:txBody>
          <a:bodyPr wrap="square" anchor="t" lIns="0" rIns="0" tIns="0" bIns="0">
            <a:spAutoFit/>
          </a:bodyPr>
          <a:lstStyle/>
          <a:p>
            <a:pPr algn="l"/>
            <a:r>
              <a:rPr sz="1100" b="0">
                <a:solidFill>
                  <a:srgbClr val="464B52"/>
                </a:solidFill>
                <a:latin typeface="Calibri"/>
              </a:rPr>
              <a:t>department</a:t>
            </a:r>
          </a:p>
        </p:txBody>
      </p:sp>
      <p:sp>
        <p:nvSpPr>
          <p:cNvPr id="33" name="TextBox 32"/>
          <p:cNvSpPr txBox="1"/>
          <p:nvPr/>
        </p:nvSpPr>
        <p:spPr>
          <a:xfrm>
            <a:off x="2468880" y="4297680"/>
            <a:ext cx="548640" cy="219456"/>
          </a:xfrm>
          <a:prstGeom prst="rect">
            <a:avLst/>
          </a:prstGeom>
          <a:noFill/>
        </p:spPr>
        <p:txBody>
          <a:bodyPr wrap="square" anchor="t" lIns="0" rIns="0" tIns="0" bIns="0">
            <a:spAutoFit/>
          </a:bodyPr>
          <a:lstStyle/>
          <a:p>
            <a:pPr algn="l"/>
            <a:r>
              <a:rPr sz="1150" b="0">
                <a:solidFill>
                  <a:srgbClr val="6F757E"/>
                </a:solidFill>
                <a:latin typeface="Consolas"/>
              </a:rPr>
              <a:t>0.40</a:t>
            </a:r>
          </a:p>
        </p:txBody>
      </p:sp>
      <p:sp>
        <p:nvSpPr>
          <p:cNvPr id="34" name="TextBox 33"/>
          <p:cNvSpPr txBox="1"/>
          <p:nvPr/>
        </p:nvSpPr>
        <p:spPr>
          <a:xfrm>
            <a:off x="3063240" y="4297680"/>
            <a:ext cx="365760" cy="219456"/>
          </a:xfrm>
          <a:prstGeom prst="rect">
            <a:avLst/>
          </a:prstGeom>
          <a:noFill/>
        </p:spPr>
        <p:txBody>
          <a:bodyPr wrap="square" anchor="t" lIns="0" rIns="0" tIns="0" bIns="0">
            <a:spAutoFit/>
          </a:bodyPr>
          <a:lstStyle/>
          <a:p>
            <a:pPr algn="l"/>
            <a:r>
              <a:rPr sz="1100" b="0">
                <a:solidFill>
                  <a:srgbClr val="6F757E"/>
                </a:solidFill>
                <a:latin typeface="Consolas"/>
              </a:rPr>
              <a:t>x</a:t>
            </a:r>
          </a:p>
        </p:txBody>
      </p:sp>
      <p:sp>
        <p:nvSpPr>
          <p:cNvPr id="35" name="TextBox 34"/>
          <p:cNvSpPr txBox="1"/>
          <p:nvPr/>
        </p:nvSpPr>
        <p:spPr>
          <a:xfrm>
            <a:off x="3383280" y="4297680"/>
            <a:ext cx="640080" cy="219456"/>
          </a:xfrm>
          <a:prstGeom prst="rect">
            <a:avLst/>
          </a:prstGeom>
          <a:noFill/>
        </p:spPr>
        <p:txBody>
          <a:bodyPr wrap="square" anchor="t" lIns="0" rIns="0" tIns="0" bIns="0">
            <a:spAutoFit/>
          </a:bodyPr>
          <a:lstStyle/>
          <a:p>
            <a:pPr algn="l"/>
            <a:r>
              <a:rPr sz="1150" b="0">
                <a:solidFill>
                  <a:srgbClr val="1C1F23"/>
                </a:solidFill>
                <a:latin typeface="Consolas"/>
              </a:rPr>
              <a:t>1.00</a:t>
            </a:r>
          </a:p>
        </p:txBody>
      </p:sp>
      <p:sp>
        <p:nvSpPr>
          <p:cNvPr id="36" name="TextBox 35"/>
          <p:cNvSpPr txBox="1"/>
          <p:nvPr/>
        </p:nvSpPr>
        <p:spPr>
          <a:xfrm>
            <a:off x="4114800" y="4297680"/>
            <a:ext cx="365760" cy="219456"/>
          </a:xfrm>
          <a:prstGeom prst="rect">
            <a:avLst/>
          </a:prstGeom>
          <a:noFill/>
        </p:spPr>
        <p:txBody>
          <a:bodyPr wrap="square" anchor="t" lIns="0" rIns="0" tIns="0" bIns="0">
            <a:spAutoFit/>
          </a:bodyPr>
          <a:lstStyle/>
          <a:p>
            <a:pPr algn="l"/>
            <a:r>
              <a:rPr sz="1100" b="0">
                <a:solidFill>
                  <a:srgbClr val="6F757E"/>
                </a:solidFill>
                <a:latin typeface="Consolas"/>
              </a:rPr>
              <a:t>=</a:t>
            </a:r>
          </a:p>
        </p:txBody>
      </p:sp>
      <p:sp>
        <p:nvSpPr>
          <p:cNvPr id="37" name="TextBox 36"/>
          <p:cNvSpPr txBox="1"/>
          <p:nvPr/>
        </p:nvSpPr>
        <p:spPr>
          <a:xfrm>
            <a:off x="4480560" y="4297680"/>
            <a:ext cx="731520" cy="219456"/>
          </a:xfrm>
          <a:prstGeom prst="rect">
            <a:avLst/>
          </a:prstGeom>
          <a:noFill/>
        </p:spPr>
        <p:txBody>
          <a:bodyPr wrap="square" anchor="t" lIns="0" rIns="0" tIns="0" bIns="0">
            <a:spAutoFit/>
          </a:bodyPr>
          <a:lstStyle/>
          <a:p>
            <a:pPr algn="l"/>
            <a:r>
              <a:rPr sz="1150" b="1">
                <a:solidFill>
                  <a:srgbClr val="1C1F23"/>
                </a:solidFill>
                <a:latin typeface="Consolas"/>
              </a:rPr>
              <a:t>0.400</a:t>
            </a:r>
          </a:p>
        </p:txBody>
      </p:sp>
      <p:sp>
        <p:nvSpPr>
          <p:cNvPr id="38" name="Rectangle 37"/>
          <p:cNvSpPr/>
          <p:nvPr/>
        </p:nvSpPr>
        <p:spPr>
          <a:xfrm>
            <a:off x="2468880" y="4581144"/>
            <a:ext cx="2743200" cy="10972"/>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4672584"/>
            <a:ext cx="1737360" cy="237744"/>
          </a:xfrm>
          <a:prstGeom prst="rect">
            <a:avLst/>
          </a:prstGeom>
          <a:noFill/>
        </p:spPr>
        <p:txBody>
          <a:bodyPr wrap="square" anchor="t" lIns="0" rIns="0" tIns="0" bIns="0">
            <a:spAutoFit/>
          </a:bodyPr>
          <a:lstStyle/>
          <a:p>
            <a:pPr algn="l"/>
            <a:r>
              <a:rPr sz="1100" b="1">
                <a:solidFill>
                  <a:srgbClr val="1C1F23"/>
                </a:solidFill>
                <a:latin typeface="Calibri"/>
              </a:rPr>
              <a:t>role_final_score</a:t>
            </a:r>
          </a:p>
        </p:txBody>
      </p:sp>
      <p:sp>
        <p:nvSpPr>
          <p:cNvPr id="40" name="TextBox 39"/>
          <p:cNvSpPr txBox="1"/>
          <p:nvPr/>
        </p:nvSpPr>
        <p:spPr>
          <a:xfrm>
            <a:off x="4480560" y="4672584"/>
            <a:ext cx="1097280" cy="237744"/>
          </a:xfrm>
          <a:prstGeom prst="rect">
            <a:avLst/>
          </a:prstGeom>
          <a:noFill/>
        </p:spPr>
        <p:txBody>
          <a:bodyPr wrap="square" anchor="t" lIns="0" rIns="0" tIns="0" bIns="0">
            <a:spAutoFit/>
          </a:bodyPr>
          <a:lstStyle/>
          <a:p>
            <a:pPr algn="l"/>
            <a:r>
              <a:rPr sz="1400" b="1">
                <a:solidFill>
                  <a:srgbClr val="1F6F6A"/>
                </a:solidFill>
                <a:latin typeface="Consolas"/>
              </a:rPr>
              <a:t>0.884</a:t>
            </a:r>
          </a:p>
        </p:txBody>
      </p:sp>
      <p:sp>
        <p:nvSpPr>
          <p:cNvPr id="41" name="Rectangle 40"/>
          <p:cNvSpPr/>
          <p:nvPr/>
        </p:nvSpPr>
        <p:spPr>
          <a:xfrm>
            <a:off x="7589520" y="1956816"/>
            <a:ext cx="4041648" cy="2633472"/>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42" name="TextBox 41"/>
          <p:cNvSpPr txBox="1"/>
          <p:nvPr/>
        </p:nvSpPr>
        <p:spPr>
          <a:xfrm>
            <a:off x="7808975" y="2084832"/>
            <a:ext cx="3657600" cy="237744"/>
          </a:xfrm>
          <a:prstGeom prst="rect">
            <a:avLst/>
          </a:prstGeom>
          <a:noFill/>
        </p:spPr>
        <p:txBody>
          <a:bodyPr wrap="square" anchor="t" lIns="0" rIns="0" tIns="0" bIns="0">
            <a:spAutoFit/>
          </a:bodyPr>
          <a:lstStyle/>
          <a:p>
            <a:pPr algn="l"/>
            <a:r>
              <a:rPr sz="1200" b="1">
                <a:solidFill>
                  <a:srgbClr val="6F757E"/>
                </a:solidFill>
                <a:latin typeface="Calibri"/>
              </a:rPr>
              <a:t>The label</a:t>
            </a:r>
          </a:p>
        </p:txBody>
      </p:sp>
      <p:sp>
        <p:nvSpPr>
          <p:cNvPr id="43" name="Rectangle 42"/>
          <p:cNvSpPr/>
          <p:nvPr/>
        </p:nvSpPr>
        <p:spPr>
          <a:xfrm>
            <a:off x="7808975" y="2395728"/>
            <a:ext cx="3602736" cy="347472"/>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44" name="TextBox 43"/>
          <p:cNvSpPr txBox="1"/>
          <p:nvPr/>
        </p:nvSpPr>
        <p:spPr>
          <a:xfrm>
            <a:off x="7936992" y="2459736"/>
            <a:ext cx="914400" cy="237744"/>
          </a:xfrm>
          <a:prstGeom prst="rect">
            <a:avLst/>
          </a:prstGeom>
          <a:noFill/>
        </p:spPr>
        <p:txBody>
          <a:bodyPr wrap="square" anchor="t" lIns="0" rIns="0" tIns="0" bIns="0">
            <a:spAutoFit/>
          </a:bodyPr>
          <a:lstStyle/>
          <a:p>
            <a:pPr algn="l"/>
            <a:r>
              <a:rPr sz="1250" b="1">
                <a:solidFill>
                  <a:srgbClr val="1C1F23"/>
                </a:solidFill>
                <a:latin typeface="Consolas"/>
              </a:rPr>
              <a:t>0.884</a:t>
            </a:r>
          </a:p>
        </p:txBody>
      </p:sp>
      <p:sp>
        <p:nvSpPr>
          <p:cNvPr id="45" name="TextBox 44"/>
          <p:cNvSpPr txBox="1"/>
          <p:nvPr/>
        </p:nvSpPr>
        <p:spPr>
          <a:xfrm>
            <a:off x="8961120" y="2478024"/>
            <a:ext cx="2377440" cy="219456"/>
          </a:xfrm>
          <a:prstGeom prst="rect">
            <a:avLst/>
          </a:prstGeom>
          <a:noFill/>
        </p:spPr>
        <p:txBody>
          <a:bodyPr wrap="square" anchor="t" lIns="0" rIns="0" tIns="0" bIns="0">
            <a:spAutoFit/>
          </a:bodyPr>
          <a:lstStyle/>
          <a:p>
            <a:pPr algn="l"/>
            <a:r>
              <a:rPr sz="1050" b="0">
                <a:solidFill>
                  <a:srgbClr val="1C1F23"/>
                </a:solidFill>
                <a:latin typeface="Calibri"/>
              </a:rPr>
              <a:t>scored</a:t>
            </a:r>
          </a:p>
        </p:txBody>
      </p:sp>
      <p:sp>
        <p:nvSpPr>
          <p:cNvPr id="46" name="Rectangle 45"/>
          <p:cNvSpPr/>
          <p:nvPr/>
        </p:nvSpPr>
        <p:spPr>
          <a:xfrm>
            <a:off x="7808975" y="2798064"/>
            <a:ext cx="3602736" cy="347472"/>
          </a:xfrm>
          <a:prstGeom prst="rect">
            <a:avLst/>
          </a:prstGeom>
          <a:solidFill>
            <a:srgbClr val="DF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47" name="TextBox 46"/>
          <p:cNvSpPr txBox="1"/>
          <p:nvPr/>
        </p:nvSpPr>
        <p:spPr>
          <a:xfrm>
            <a:off x="7936992" y="2862072"/>
            <a:ext cx="914400" cy="237744"/>
          </a:xfrm>
          <a:prstGeom prst="rect">
            <a:avLst/>
          </a:prstGeom>
          <a:noFill/>
        </p:spPr>
        <p:txBody>
          <a:bodyPr wrap="square" anchor="t" lIns="0" rIns="0" tIns="0" bIns="0">
            <a:spAutoFit/>
          </a:bodyPr>
          <a:lstStyle/>
          <a:p>
            <a:pPr algn="l"/>
            <a:r>
              <a:rPr sz="1250" b="1">
                <a:solidFill>
                  <a:srgbClr val="1F6F6A"/>
                </a:solidFill>
                <a:latin typeface="Consolas"/>
              </a:rPr>
              <a:t>0.70</a:t>
            </a:r>
          </a:p>
        </p:txBody>
      </p:sp>
      <p:sp>
        <p:nvSpPr>
          <p:cNvPr id="48" name="TextBox 47"/>
          <p:cNvSpPr txBox="1"/>
          <p:nvPr/>
        </p:nvSpPr>
        <p:spPr>
          <a:xfrm>
            <a:off x="8961120" y="2880360"/>
            <a:ext cx="2377440" cy="219456"/>
          </a:xfrm>
          <a:prstGeom prst="rect">
            <a:avLst/>
          </a:prstGeom>
          <a:noFill/>
        </p:spPr>
        <p:txBody>
          <a:bodyPr wrap="square" anchor="t" lIns="0" rIns="0" tIns="0" bIns="0">
            <a:spAutoFit/>
          </a:bodyPr>
          <a:lstStyle/>
          <a:p>
            <a:pPr algn="l"/>
            <a:r>
              <a:rPr sz="1050" b="0">
                <a:solidFill>
                  <a:srgbClr val="1F6F6A"/>
                </a:solidFill>
                <a:latin typeface="Calibri"/>
              </a:rPr>
              <a:t>confirmed threshold</a:t>
            </a:r>
          </a:p>
        </p:txBody>
      </p:sp>
      <p:sp>
        <p:nvSpPr>
          <p:cNvPr id="49" name="Rectangle 48"/>
          <p:cNvSpPr/>
          <p:nvPr/>
        </p:nvSpPr>
        <p:spPr>
          <a:xfrm>
            <a:off x="7808975" y="3200400"/>
            <a:ext cx="3602736" cy="347472"/>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50" name="TextBox 49"/>
          <p:cNvSpPr txBox="1"/>
          <p:nvPr/>
        </p:nvSpPr>
        <p:spPr>
          <a:xfrm>
            <a:off x="7936992" y="3264408"/>
            <a:ext cx="914400" cy="237744"/>
          </a:xfrm>
          <a:prstGeom prst="rect">
            <a:avLst/>
          </a:prstGeom>
          <a:noFill/>
        </p:spPr>
        <p:txBody>
          <a:bodyPr wrap="square" anchor="t" lIns="0" rIns="0" tIns="0" bIns="0">
            <a:spAutoFit/>
          </a:bodyPr>
          <a:lstStyle/>
          <a:p>
            <a:pPr algn="l"/>
            <a:r>
              <a:rPr sz="1250" b="1">
                <a:solidFill>
                  <a:srgbClr val="6F757E"/>
                </a:solidFill>
                <a:latin typeface="Consolas"/>
              </a:rPr>
              <a:t>0.50</a:t>
            </a:r>
          </a:p>
        </p:txBody>
      </p:sp>
      <p:sp>
        <p:nvSpPr>
          <p:cNvPr id="51" name="TextBox 50"/>
          <p:cNvSpPr txBox="1"/>
          <p:nvPr/>
        </p:nvSpPr>
        <p:spPr>
          <a:xfrm>
            <a:off x="8961120" y="3282696"/>
            <a:ext cx="2377440" cy="219456"/>
          </a:xfrm>
          <a:prstGeom prst="rect">
            <a:avLst/>
          </a:prstGeom>
          <a:noFill/>
        </p:spPr>
        <p:txBody>
          <a:bodyPr wrap="square" anchor="t" lIns="0" rIns="0" tIns="0" bIns="0">
            <a:spAutoFit/>
          </a:bodyPr>
          <a:lstStyle/>
          <a:p>
            <a:pPr algn="l"/>
            <a:r>
              <a:rPr sz="1050" b="0">
                <a:solidFill>
                  <a:srgbClr val="6F757E"/>
                </a:solidFill>
                <a:latin typeface="Calibri"/>
              </a:rPr>
              <a:t>probable threshold</a:t>
            </a:r>
          </a:p>
        </p:txBody>
      </p:sp>
      <p:sp>
        <p:nvSpPr>
          <p:cNvPr id="52" name="Rectangle 51"/>
          <p:cNvSpPr/>
          <p:nvPr/>
        </p:nvSpPr>
        <p:spPr>
          <a:xfrm>
            <a:off x="7808975" y="3675887"/>
            <a:ext cx="3602736" cy="402336"/>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Consolas"/>
              </a:rPr>
              <a:t>CONFIRMED  -&gt;  delivered</a:t>
            </a:r>
          </a:p>
        </p:txBody>
      </p:sp>
      <p:sp>
        <p:nvSpPr>
          <p:cNvPr id="53" name="TextBox 52"/>
          <p:cNvSpPr txBox="1"/>
          <p:nvPr/>
        </p:nvSpPr>
        <p:spPr>
          <a:xfrm>
            <a:off x="7808975" y="4187952"/>
            <a:ext cx="3602736" cy="457200"/>
          </a:xfrm>
          <a:prstGeom prst="rect">
            <a:avLst/>
          </a:prstGeom>
          <a:noFill/>
        </p:spPr>
        <p:txBody>
          <a:bodyPr wrap="square" anchor="t" lIns="0" rIns="0" tIns="0" bIns="0">
            <a:spAutoFit/>
          </a:bodyPr>
          <a:lstStyle/>
          <a:p>
            <a:pPr algn="l">
              <a:lnSpc>
                <a:spcPct val="125000"/>
              </a:lnSpc>
            </a:pPr>
            <a:r>
              <a:rPr sz="1050" b="0">
                <a:solidFill>
                  <a:srgbClr val="6F757E"/>
                </a:solidFill>
                <a:latin typeface="Calibri"/>
              </a:rPr>
              <a:t>hcp_practitioner rolls up into hcp_broad and hands it the same score, so this person appears in both audiences.</a:t>
            </a:r>
          </a:p>
        </p:txBody>
      </p:sp>
      <p:sp>
        <p:nvSpPr>
          <p:cNvPr id="54" name="Rectangle 53"/>
          <p:cNvSpPr/>
          <p:nvPr/>
        </p:nvSpPr>
        <p:spPr>
          <a:xfrm>
            <a:off x="566928" y="4791456"/>
            <a:ext cx="11064240" cy="841248"/>
          </a:xfrm>
          <a:prstGeom prst="rect">
            <a:avLst/>
          </a:prstGeom>
          <a:solidFill>
            <a:srgbClr val="F7E4E0"/>
          </a:solidFill>
          <a:ln w="9525">
            <a:solidFill>
              <a:srgbClr val="9B3B2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55" name="TextBox 54"/>
          <p:cNvSpPr txBox="1"/>
          <p:nvPr/>
        </p:nvSpPr>
        <p:spPr>
          <a:xfrm>
            <a:off x="786384" y="4910328"/>
            <a:ext cx="10607040" cy="237744"/>
          </a:xfrm>
          <a:prstGeom prst="rect">
            <a:avLst/>
          </a:prstGeom>
          <a:noFill/>
        </p:spPr>
        <p:txBody>
          <a:bodyPr wrap="square" anchor="t" lIns="0" rIns="0" tIns="0" bIns="0">
            <a:spAutoFit/>
          </a:bodyPr>
          <a:lstStyle/>
          <a:p>
            <a:pPr algn="l"/>
            <a:r>
              <a:rPr sz="1200" b="1">
                <a:solidFill>
                  <a:srgbClr val="9B3B2F"/>
                </a:solidFill>
                <a:latin typeface="Calibri"/>
              </a:rPr>
              <a:t>Change one field and the answer changes - which is the whole point of the second axis</a:t>
            </a:r>
          </a:p>
        </p:txBody>
      </p:sp>
      <p:sp>
        <p:nvSpPr>
          <p:cNvPr id="56" name="TextBox 55"/>
          <p:cNvSpPr txBox="1"/>
          <p:nvPr/>
        </p:nvSpPr>
        <p:spPr>
          <a:xfrm>
            <a:off x="786384" y="5175504"/>
            <a:ext cx="10607040" cy="402336"/>
          </a:xfrm>
          <a:prstGeom prst="rect">
            <a:avLst/>
          </a:prstGeom>
          <a:noFill/>
        </p:spPr>
        <p:txBody>
          <a:bodyPr wrap="square" anchor="t" lIns="0" rIns="0" tIns="0" bIns="0">
            <a:spAutoFit/>
          </a:bodyPr>
          <a:lstStyle/>
          <a:p>
            <a:pPr algn="l">
              <a:lnSpc>
                <a:spcPct val="122000"/>
              </a:lnSpc>
            </a:pPr>
            <a:r>
              <a:rPr sz="1150" b="0">
                <a:solidFill>
                  <a:srgbClr val="464B52"/>
                </a:solidFill>
                <a:latin typeface="Calibri"/>
              </a:rPr>
              <a:t>Same title, but the department says mechanical engineering. The discipline is no longer health_clinical, and hcp_practitioner requires BOTH axes - so no row is produced at all. The person is not scored low; they are simply not in the audience.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1F6F6A"/>
                </a:solidFill>
                <a:latin typeface="Consolas"/>
              </a:rPr>
              <a:t>4 of 4  /  journeys 2 and 3</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The two paths that beat the model</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A human override and a literal pattern both outrank the embedding. In precedence order: HUMAN, then PATTERN, then VECTOR.</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5468112" cy="3584448"/>
          </a:xfrm>
          <a:prstGeom prst="rect">
            <a:avLst/>
          </a:prstGeom>
          <a:solidFill>
            <a:srgbClr val="FFFFFF"/>
          </a:solidFill>
          <a:ln w="15875">
            <a:solidFill>
              <a:srgbClr val="8A3D5E"/>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Rectangle 7"/>
          <p:cNvSpPr/>
          <p:nvPr/>
        </p:nvSpPr>
        <p:spPr>
          <a:xfrm>
            <a:off x="566928" y="1956816"/>
            <a:ext cx="5468112" cy="45720"/>
          </a:xfrm>
          <a:prstGeom prst="rect">
            <a:avLst/>
          </a:prstGeom>
          <a:solidFill>
            <a:srgbClr val="8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2139696"/>
            <a:ext cx="804672" cy="192024"/>
          </a:xfrm>
          <a:prstGeom prst="rect">
            <a:avLst/>
          </a:prstGeom>
          <a:solidFill>
            <a:srgbClr val="F3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8A3D5E"/>
                </a:solidFill>
                <a:latin typeface="Consolas"/>
              </a:rPr>
              <a:t>HUMAN</a:t>
            </a:r>
          </a:p>
        </p:txBody>
      </p:sp>
      <p:sp>
        <p:nvSpPr>
          <p:cNvPr id="10" name="TextBox 9"/>
          <p:cNvSpPr txBox="1"/>
          <p:nvPr/>
        </p:nvSpPr>
        <p:spPr>
          <a:xfrm>
            <a:off x="1737360" y="2139696"/>
            <a:ext cx="4114800" cy="237744"/>
          </a:xfrm>
          <a:prstGeom prst="rect">
            <a:avLst/>
          </a:prstGeom>
          <a:noFill/>
        </p:spPr>
        <p:txBody>
          <a:bodyPr wrap="square" anchor="t" lIns="0" rIns="0" tIns="0" bIns="0">
            <a:spAutoFit/>
          </a:bodyPr>
          <a:lstStyle/>
          <a:p>
            <a:pPr algn="l"/>
            <a:r>
              <a:rPr sz="1100" b="0">
                <a:solidFill>
                  <a:srgbClr val="6F757E"/>
                </a:solidFill>
                <a:latin typeface="Consolas"/>
              </a:rPr>
              <a:t>348 decisions</a:t>
            </a:r>
          </a:p>
        </p:txBody>
      </p:sp>
      <p:sp>
        <p:nvSpPr>
          <p:cNvPr id="11" name="TextBox 10"/>
          <p:cNvSpPr txBox="1"/>
          <p:nvPr/>
        </p:nvSpPr>
        <p:spPr>
          <a:xfrm>
            <a:off x="786384" y="2487168"/>
            <a:ext cx="5029200" cy="274320"/>
          </a:xfrm>
          <a:prstGeom prst="rect">
            <a:avLst/>
          </a:prstGeom>
          <a:noFill/>
        </p:spPr>
        <p:txBody>
          <a:bodyPr wrap="square" anchor="t" lIns="0" rIns="0" tIns="0" bIns="0">
            <a:spAutoFit/>
          </a:bodyPr>
          <a:lstStyle/>
          <a:p>
            <a:pPr algn="l"/>
            <a:r>
              <a:rPr sz="1500" b="1">
                <a:solidFill>
                  <a:srgbClr val="1C1F23"/>
                </a:solidFill>
                <a:latin typeface="Consolas"/>
              </a:rPr>
              <a:t>junior researcher</a:t>
            </a:r>
          </a:p>
        </p:txBody>
      </p:sp>
      <p:sp>
        <p:nvSpPr>
          <p:cNvPr id="12" name="TextBox 11"/>
          <p:cNvSpPr txBox="1"/>
          <p:nvPr/>
        </p:nvSpPr>
        <p:spPr>
          <a:xfrm>
            <a:off x="786384" y="2798064"/>
            <a:ext cx="5029200" cy="237744"/>
          </a:xfrm>
          <a:prstGeom prst="rect">
            <a:avLst/>
          </a:prstGeom>
          <a:noFill/>
        </p:spPr>
        <p:txBody>
          <a:bodyPr wrap="square" anchor="t" lIns="0" rIns="0" tIns="0" bIns="0">
            <a:spAutoFit/>
          </a:bodyPr>
          <a:lstStyle/>
          <a:p>
            <a:pPr algn="l"/>
            <a:r>
              <a:rPr sz="1100" b="0">
                <a:solidFill>
                  <a:srgbClr val="8A3D5E"/>
                </a:solidFill>
                <a:latin typeface="Consolas"/>
              </a:rPr>
              <a:t>42,949 records</a:t>
            </a:r>
          </a:p>
        </p:txBody>
      </p:sp>
      <p:sp>
        <p:nvSpPr>
          <p:cNvPr id="13" name="Rectangle 12"/>
          <p:cNvSpPr/>
          <p:nvPr/>
        </p:nvSpPr>
        <p:spPr>
          <a:xfrm>
            <a:off x="786384" y="3127248"/>
            <a:ext cx="5029200" cy="603504"/>
          </a:xfrm>
          <a:prstGeom prst="rect">
            <a:avLst/>
          </a:prstGeom>
          <a:solidFill>
            <a:srgbClr val="F7E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TextBox 13"/>
          <p:cNvSpPr txBox="1"/>
          <p:nvPr/>
        </p:nvSpPr>
        <p:spPr>
          <a:xfrm>
            <a:off x="932688" y="3209544"/>
            <a:ext cx="4754880" cy="219456"/>
          </a:xfrm>
          <a:prstGeom prst="rect">
            <a:avLst/>
          </a:prstGeom>
          <a:noFill/>
        </p:spPr>
        <p:txBody>
          <a:bodyPr wrap="square" anchor="t" lIns="0" rIns="0" tIns="0" bIns="0">
            <a:spAutoFit/>
          </a:bodyPr>
          <a:lstStyle/>
          <a:p>
            <a:pPr algn="l"/>
            <a:r>
              <a:rPr sz="1100" b="0">
                <a:solidFill>
                  <a:srgbClr val="1C1F23"/>
                </a:solidFill>
                <a:latin typeface="Consolas"/>
              </a:rPr>
              <a:t>nearest anchor   senior researcher</a:t>
            </a:r>
          </a:p>
        </p:txBody>
      </p:sp>
      <p:sp>
        <p:nvSpPr>
          <p:cNvPr id="15" name="TextBox 14"/>
          <p:cNvSpPr txBox="1"/>
          <p:nvPr/>
        </p:nvSpPr>
        <p:spPr>
          <a:xfrm>
            <a:off x="932688" y="3447288"/>
            <a:ext cx="4754880" cy="219456"/>
          </a:xfrm>
          <a:prstGeom prst="rect">
            <a:avLst/>
          </a:prstGeom>
          <a:noFill/>
        </p:spPr>
        <p:txBody>
          <a:bodyPr wrap="square" anchor="t" lIns="0" rIns="0" tIns="0" bIns="0">
            <a:spAutoFit/>
          </a:bodyPr>
          <a:lstStyle/>
          <a:p>
            <a:pPr algn="l"/>
            <a:r>
              <a:rPr sz="1100" b="1">
                <a:solidFill>
                  <a:srgbClr val="9B3B2F"/>
                </a:solidFill>
                <a:latin typeface="Consolas"/>
              </a:rPr>
              <a:t>similarity       0.870   -&gt; the opposite group</a:t>
            </a:r>
          </a:p>
        </p:txBody>
      </p:sp>
      <p:sp>
        <p:nvSpPr>
          <p:cNvPr id="16" name="Rectangle 15"/>
          <p:cNvSpPr/>
          <p:nvPr/>
        </p:nvSpPr>
        <p:spPr>
          <a:xfrm>
            <a:off x="786384" y="3858768"/>
            <a:ext cx="5029200" cy="402336"/>
          </a:xfrm>
          <a:prstGeom prst="rect">
            <a:avLst/>
          </a:prstGeom>
          <a:solidFill>
            <a:srgbClr val="F3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7" name="TextBox 16"/>
          <p:cNvSpPr txBox="1"/>
          <p:nvPr/>
        </p:nvSpPr>
        <p:spPr>
          <a:xfrm>
            <a:off x="932688" y="3950207"/>
            <a:ext cx="4754880" cy="219456"/>
          </a:xfrm>
          <a:prstGeom prst="rect">
            <a:avLst/>
          </a:prstGeom>
          <a:noFill/>
        </p:spPr>
        <p:txBody>
          <a:bodyPr wrap="square" anchor="t" lIns="0" rIns="0" tIns="0" bIns="0">
            <a:spAutoFit/>
          </a:bodyPr>
          <a:lstStyle/>
          <a:p>
            <a:pPr algn="l"/>
            <a:r>
              <a:rPr sz="1100" b="1">
                <a:solidFill>
                  <a:srgbClr val="8A3D5E"/>
                </a:solidFill>
                <a:latin typeface="Consolas"/>
              </a:rPr>
              <a:t>a person set it to researcher_early, score 1.000</a:t>
            </a:r>
          </a:p>
        </p:txBody>
      </p:sp>
      <p:sp>
        <p:nvSpPr>
          <p:cNvPr id="18" name="TextBox 17"/>
          <p:cNvSpPr txBox="1"/>
          <p:nvPr/>
        </p:nvSpPr>
        <p:spPr>
          <a:xfrm>
            <a:off x="786384" y="4407407"/>
            <a:ext cx="5029200" cy="914400"/>
          </a:xfrm>
          <a:prstGeom prst="rect">
            <a:avLst/>
          </a:prstGeom>
          <a:noFill/>
        </p:spPr>
        <p:txBody>
          <a:bodyPr wrap="square" anchor="t" lIns="0" rIns="0" tIns="0" bIns="0">
            <a:spAutoFit/>
          </a:bodyPr>
          <a:lstStyle/>
          <a:p>
            <a:pPr algn="l">
              <a:lnSpc>
                <a:spcPct val="124000"/>
              </a:lnSpc>
            </a:pPr>
            <a:r>
              <a:rPr sz="1100" b="0">
                <a:solidFill>
                  <a:srgbClr val="464B52"/>
                </a:solidFill>
                <a:latin typeface="Calibri"/>
              </a:rPr>
              <a:t>The embedding places junior and senior close together - two ends of one axis, not opposites. And every review query filtered similarity &lt; 0.75, so a confident mistake at 0.870 was invisible to the method for months.</a:t>
            </a:r>
          </a:p>
        </p:txBody>
      </p:sp>
      <p:sp>
        <p:nvSpPr>
          <p:cNvPr id="19" name="Rectangle 18"/>
          <p:cNvSpPr/>
          <p:nvPr/>
        </p:nvSpPr>
        <p:spPr>
          <a:xfrm>
            <a:off x="6163056" y="1956816"/>
            <a:ext cx="5468112" cy="3584448"/>
          </a:xfrm>
          <a:prstGeom prst="rect">
            <a:avLst/>
          </a:prstGeom>
          <a:solidFill>
            <a:srgbClr val="FFFFFF"/>
          </a:solidFill>
          <a:ln w="15875">
            <a:solidFill>
              <a:srgbClr val="8A6410"/>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0" name="Rectangle 19"/>
          <p:cNvSpPr/>
          <p:nvPr/>
        </p:nvSpPr>
        <p:spPr>
          <a:xfrm>
            <a:off x="6163056" y="1956816"/>
            <a:ext cx="5468112" cy="45720"/>
          </a:xfrm>
          <a:prstGeom prst="rect">
            <a:avLst/>
          </a:prstGeom>
          <a:solidFill>
            <a:srgbClr val="8A6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82512" y="2139696"/>
            <a:ext cx="914400" cy="192024"/>
          </a:xfrm>
          <a:prstGeom prst="rect">
            <a:avLst/>
          </a:prstGeom>
          <a:solidFill>
            <a:srgbClr val="F5EC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8A6410"/>
                </a:solidFill>
                <a:latin typeface="Consolas"/>
              </a:rPr>
              <a:t>PATTERN</a:t>
            </a:r>
          </a:p>
        </p:txBody>
      </p:sp>
      <p:sp>
        <p:nvSpPr>
          <p:cNvPr id="22" name="TextBox 21"/>
          <p:cNvSpPr txBox="1"/>
          <p:nvPr/>
        </p:nvSpPr>
        <p:spPr>
          <a:xfrm>
            <a:off x="7443216" y="2139696"/>
            <a:ext cx="4023360" cy="237744"/>
          </a:xfrm>
          <a:prstGeom prst="rect">
            <a:avLst/>
          </a:prstGeom>
          <a:noFill/>
        </p:spPr>
        <p:txBody>
          <a:bodyPr wrap="square" anchor="t" lIns="0" rIns="0" tIns="0" bIns="0">
            <a:spAutoFit/>
          </a:bodyPr>
          <a:lstStyle/>
          <a:p>
            <a:pPr algn="l"/>
            <a:r>
              <a:rPr sz="1100" b="0">
                <a:solidFill>
                  <a:srgbClr val="6F757E"/>
                </a:solidFill>
                <a:latin typeface="Consolas"/>
              </a:rPr>
              <a:t>11 patterns, Librarian only</a:t>
            </a:r>
          </a:p>
        </p:txBody>
      </p:sp>
      <p:sp>
        <p:nvSpPr>
          <p:cNvPr id="23" name="TextBox 22"/>
          <p:cNvSpPr txBox="1"/>
          <p:nvPr/>
        </p:nvSpPr>
        <p:spPr>
          <a:xfrm>
            <a:off x="6382512" y="2487168"/>
            <a:ext cx="5029200" cy="274320"/>
          </a:xfrm>
          <a:prstGeom prst="rect">
            <a:avLst/>
          </a:prstGeom>
          <a:noFill/>
        </p:spPr>
        <p:txBody>
          <a:bodyPr wrap="square" anchor="t" lIns="0" rIns="0" tIns="0" bIns="0">
            <a:spAutoFit/>
          </a:bodyPr>
          <a:lstStyle/>
          <a:p>
            <a:pPr algn="l"/>
            <a:r>
              <a:rPr sz="1500" b="1">
                <a:solidFill>
                  <a:srgbClr val="1C1F23"/>
                </a:solidFill>
                <a:latin typeface="Consolas"/>
              </a:rPr>
              <a:t>library manager</a:t>
            </a:r>
          </a:p>
        </p:txBody>
      </p:sp>
      <p:sp>
        <p:nvSpPr>
          <p:cNvPr id="24" name="TextBox 23"/>
          <p:cNvSpPr txBox="1"/>
          <p:nvPr/>
        </p:nvSpPr>
        <p:spPr>
          <a:xfrm>
            <a:off x="6382512" y="2798064"/>
            <a:ext cx="5029200" cy="237744"/>
          </a:xfrm>
          <a:prstGeom prst="rect">
            <a:avLst/>
          </a:prstGeom>
          <a:noFill/>
        </p:spPr>
        <p:txBody>
          <a:bodyPr wrap="square" anchor="t" lIns="0" rIns="0" tIns="0" bIns="0">
            <a:spAutoFit/>
          </a:bodyPr>
          <a:lstStyle/>
          <a:p>
            <a:pPr algn="l"/>
            <a:r>
              <a:rPr sz="1100" b="0">
                <a:solidFill>
                  <a:srgbClr val="8A6410"/>
                </a:solidFill>
                <a:latin typeface="Consolas"/>
              </a:rPr>
              <a:t>no similarity is computed at all</a:t>
            </a:r>
          </a:p>
        </p:txBody>
      </p:sp>
      <p:sp>
        <p:nvSpPr>
          <p:cNvPr id="25" name="Rectangle 24"/>
          <p:cNvSpPr/>
          <p:nvPr/>
        </p:nvSpPr>
        <p:spPr>
          <a:xfrm>
            <a:off x="6382512" y="3127248"/>
            <a:ext cx="5029200" cy="603504"/>
          </a:xfrm>
          <a:prstGeom prst="rect">
            <a:avLst/>
          </a:prstGeom>
          <a:solidFill>
            <a:srgbClr val="F5EC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TextBox 25"/>
          <p:cNvSpPr txBox="1"/>
          <p:nvPr/>
        </p:nvSpPr>
        <p:spPr>
          <a:xfrm>
            <a:off x="6528816" y="3209544"/>
            <a:ext cx="4754880" cy="219456"/>
          </a:xfrm>
          <a:prstGeom prst="rect">
            <a:avLst/>
          </a:prstGeom>
          <a:noFill/>
        </p:spPr>
        <p:txBody>
          <a:bodyPr wrap="square" anchor="t" lIns="0" rIns="0" tIns="0" bIns="0">
            <a:spAutoFit/>
          </a:bodyPr>
          <a:lstStyle/>
          <a:p>
            <a:pPr algn="l"/>
            <a:r>
              <a:rPr sz="1100" b="0">
                <a:solidFill>
                  <a:srgbClr val="1C1F23"/>
                </a:solidFill>
                <a:latin typeface="Consolas"/>
              </a:rPr>
              <a:t>regexp_contains(title, 'librar')</a:t>
            </a:r>
          </a:p>
        </p:txBody>
      </p:sp>
      <p:sp>
        <p:nvSpPr>
          <p:cNvPr id="27" name="TextBox 26"/>
          <p:cNvSpPr txBox="1"/>
          <p:nvPr/>
        </p:nvSpPr>
        <p:spPr>
          <a:xfrm>
            <a:off x="6528816" y="3447288"/>
            <a:ext cx="4754880" cy="219456"/>
          </a:xfrm>
          <a:prstGeom prst="rect">
            <a:avLst/>
          </a:prstGeom>
          <a:noFill/>
        </p:spPr>
        <p:txBody>
          <a:bodyPr wrap="square" anchor="t" lIns="0" rIns="0" tIns="0" bIns="0">
            <a:spAutoFit/>
          </a:bodyPr>
          <a:lstStyle/>
          <a:p>
            <a:pPr algn="l"/>
            <a:r>
              <a:rPr sz="1100" b="1">
                <a:solidFill>
                  <a:srgbClr val="8A6410"/>
                </a:solidFill>
                <a:latin typeface="Consolas"/>
              </a:rPr>
              <a:t>-&gt; librarian, score 1.000</a:t>
            </a:r>
          </a:p>
        </p:txBody>
      </p:sp>
      <p:sp>
        <p:nvSpPr>
          <p:cNvPr id="28" name="Rectangle 27"/>
          <p:cNvSpPr/>
          <p:nvPr/>
        </p:nvSpPr>
        <p:spPr>
          <a:xfrm>
            <a:off x="6382512" y="3858768"/>
            <a:ext cx="5029200" cy="402336"/>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9" name="TextBox 28"/>
          <p:cNvSpPr txBox="1"/>
          <p:nvPr/>
        </p:nvSpPr>
        <p:spPr>
          <a:xfrm>
            <a:off x="6528816" y="3950207"/>
            <a:ext cx="4754880" cy="219456"/>
          </a:xfrm>
          <a:prstGeom prst="rect">
            <a:avLst/>
          </a:prstGeom>
          <a:noFill/>
        </p:spPr>
        <p:txBody>
          <a:bodyPr wrap="square" anchor="t" lIns="0" rIns="0" tIns="0" bIns="0">
            <a:spAutoFit/>
          </a:bodyPr>
          <a:lstStyle/>
          <a:p>
            <a:pPr algn="l"/>
            <a:r>
              <a:rPr sz="1100" b="0">
                <a:solidFill>
                  <a:srgbClr val="464B52"/>
                </a:solidFill>
                <a:latin typeface="Consolas"/>
              </a:rPr>
              <a:t>librar  bibliotec  bibliothek  図書館  kütüphane  ...</a:t>
            </a:r>
          </a:p>
        </p:txBody>
      </p:sp>
      <p:sp>
        <p:nvSpPr>
          <p:cNvPr id="30" name="TextBox 29"/>
          <p:cNvSpPr txBox="1"/>
          <p:nvPr/>
        </p:nvSpPr>
        <p:spPr>
          <a:xfrm>
            <a:off x="6382512" y="4407407"/>
            <a:ext cx="5029200" cy="914400"/>
          </a:xfrm>
          <a:prstGeom prst="rect">
            <a:avLst/>
          </a:prstGeom>
          <a:noFill/>
        </p:spPr>
        <p:txBody>
          <a:bodyPr wrap="square" anchor="t" lIns="0" rIns="0" tIns="0" bIns="0">
            <a:spAutoFit/>
          </a:bodyPr>
          <a:lstStyle/>
          <a:p>
            <a:pPr algn="l">
              <a:lnSpc>
                <a:spcPct val="124000"/>
              </a:lnSpc>
            </a:pPr>
            <a:r>
              <a:rPr sz="1100" b="0">
                <a:solidFill>
                  <a:srgbClr val="464B52"/>
                </a:solidFill>
                <a:latin typeface="Calibri"/>
              </a:rPr>
              <a:t>Anchors failed here twice, at 69% and 73% wrong. Librarian now has ZERO anchors - so it can never be returned by the vector search, and it cannot take a title from another group. Fixed by construction, not by tuning.</a:t>
            </a:r>
          </a:p>
        </p:txBody>
      </p:sp>
      <p:sp>
        <p:nvSpPr>
          <p:cNvPr id="31" name="Rectangle 30"/>
          <p:cNvSpPr/>
          <p:nvPr/>
        </p:nvSpPr>
        <p:spPr>
          <a:xfrm>
            <a:off x="566928" y="5669279"/>
            <a:ext cx="11064240" cy="731520"/>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2" name="TextBox 31"/>
          <p:cNvSpPr txBox="1"/>
          <p:nvPr/>
        </p:nvSpPr>
        <p:spPr>
          <a:xfrm>
            <a:off x="822960" y="5769864"/>
            <a:ext cx="10515600" cy="530352"/>
          </a:xfrm>
          <a:prstGeom prst="rect">
            <a:avLst/>
          </a:prstGeom>
          <a:noFill/>
        </p:spPr>
        <p:txBody>
          <a:bodyPr wrap="square" anchor="t" lIns="0" rIns="0" tIns="0" bIns="0">
            <a:spAutoFit/>
          </a:bodyPr>
          <a:lstStyle/>
          <a:p>
            <a:pPr algn="l"/>
            <a:r>
              <a:rPr sz="1200" b="1">
                <a:solidFill>
                  <a:srgbClr val="6CB3AC"/>
                </a:solidFill>
                <a:latin typeface="Calibri"/>
              </a:rPr>
              <a:t>The lesson worth keeping:  </a:t>
            </a:r>
          </a:p>
          <a:p>
            <a:pPr algn="l"/>
            <a:r>
              <a:rPr sz="1200" b="0">
                <a:solidFill>
                  <a:srgbClr val="D6D8D5"/>
                </a:solidFill>
                <a:latin typeface="Calibri"/>
              </a:rPr>
              <a:t>a correct dictionary and a correct audience are two different things. 42,949 records moved for junior researcher and NO audience changed, because both researcher groups feed the same two.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1F6F6A"/>
                </a:solidFill>
                <a:latin typeface="Consolas"/>
              </a:rPr>
              <a:t>the map</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Ten groups, nine audiences, and the headline</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Neither direction is one-to-one: a group can feed two audiences, and an audience can draw on two groups.</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956816"/>
            <a:ext cx="2743200" cy="201168"/>
          </a:xfrm>
          <a:prstGeom prst="rect">
            <a:avLst/>
          </a:prstGeom>
          <a:noFill/>
        </p:spPr>
        <p:txBody>
          <a:bodyPr wrap="square" anchor="t" lIns="0" rIns="0" tIns="0" bIns="0">
            <a:spAutoFit/>
          </a:bodyPr>
          <a:lstStyle/>
          <a:p>
            <a:pPr algn="l"/>
            <a:r>
              <a:rPr sz="900" b="1">
                <a:solidFill>
                  <a:srgbClr val="6F757E"/>
                </a:solidFill>
                <a:latin typeface="Consolas"/>
              </a:rPr>
              <a:t>TITLE GROUP</a:t>
            </a:r>
          </a:p>
        </p:txBody>
      </p:sp>
      <p:sp>
        <p:nvSpPr>
          <p:cNvPr id="8" name="TextBox 7"/>
          <p:cNvSpPr txBox="1"/>
          <p:nvPr/>
        </p:nvSpPr>
        <p:spPr>
          <a:xfrm>
            <a:off x="3154680" y="1956816"/>
            <a:ext cx="1371600" cy="201168"/>
          </a:xfrm>
          <a:prstGeom prst="rect">
            <a:avLst/>
          </a:prstGeom>
          <a:noFill/>
        </p:spPr>
        <p:txBody>
          <a:bodyPr wrap="square" anchor="t" lIns="0" rIns="0" tIns="0" bIns="0">
            <a:spAutoFit/>
          </a:bodyPr>
          <a:lstStyle/>
          <a:p>
            <a:pPr algn="r"/>
            <a:r>
              <a:rPr sz="900" b="1">
                <a:solidFill>
                  <a:srgbClr val="6F757E"/>
                </a:solidFill>
                <a:latin typeface="Consolas"/>
              </a:rPr>
              <a:t>RECORDS</a:t>
            </a:r>
          </a:p>
        </p:txBody>
      </p:sp>
      <p:sp>
        <p:nvSpPr>
          <p:cNvPr id="9" name="TextBox 8"/>
          <p:cNvSpPr txBox="1"/>
          <p:nvPr/>
        </p:nvSpPr>
        <p:spPr>
          <a:xfrm>
            <a:off x="4937760" y="1956816"/>
            <a:ext cx="2194560" cy="201168"/>
          </a:xfrm>
          <a:prstGeom prst="rect">
            <a:avLst/>
          </a:prstGeom>
          <a:noFill/>
        </p:spPr>
        <p:txBody>
          <a:bodyPr wrap="square" anchor="t" lIns="0" rIns="0" tIns="0" bIns="0">
            <a:spAutoFit/>
          </a:bodyPr>
          <a:lstStyle/>
          <a:p>
            <a:pPr algn="l"/>
            <a:r>
              <a:rPr sz="900" b="1">
                <a:solidFill>
                  <a:srgbClr val="6F757E"/>
                </a:solidFill>
                <a:latin typeface="Consolas"/>
              </a:rPr>
              <a:t>FEEDS</a:t>
            </a:r>
          </a:p>
        </p:txBody>
      </p:sp>
      <p:sp>
        <p:nvSpPr>
          <p:cNvPr id="10" name="Rectangle 9"/>
          <p:cNvSpPr/>
          <p:nvPr/>
        </p:nvSpPr>
        <p:spPr>
          <a:xfrm>
            <a:off x="566928" y="2185416"/>
            <a:ext cx="6720840"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1" name="TextBox 10"/>
          <p:cNvSpPr txBox="1"/>
          <p:nvPr/>
        </p:nvSpPr>
        <p:spPr>
          <a:xfrm>
            <a:off x="694944" y="2240280"/>
            <a:ext cx="2560320" cy="219456"/>
          </a:xfrm>
          <a:prstGeom prst="rect">
            <a:avLst/>
          </a:prstGeom>
          <a:noFill/>
        </p:spPr>
        <p:txBody>
          <a:bodyPr wrap="square" anchor="t" lIns="0" rIns="0" tIns="0" bIns="0">
            <a:spAutoFit/>
          </a:bodyPr>
          <a:lstStyle/>
          <a:p>
            <a:pPr algn="l"/>
            <a:r>
              <a:rPr sz="1050" b="0">
                <a:solidFill>
                  <a:srgbClr val="1C1F23"/>
                </a:solidFill>
                <a:latin typeface="Consolas"/>
              </a:rPr>
              <a:t>teaching_academic</a:t>
            </a:r>
          </a:p>
        </p:txBody>
      </p:sp>
      <p:sp>
        <p:nvSpPr>
          <p:cNvPr id="12" name="TextBox 11"/>
          <p:cNvSpPr txBox="1"/>
          <p:nvPr/>
        </p:nvSpPr>
        <p:spPr>
          <a:xfrm>
            <a:off x="2743200" y="2240280"/>
            <a:ext cx="1783080" cy="219456"/>
          </a:xfrm>
          <a:prstGeom prst="rect">
            <a:avLst/>
          </a:prstGeom>
          <a:noFill/>
        </p:spPr>
        <p:txBody>
          <a:bodyPr wrap="square" anchor="t" lIns="0" rIns="0" tIns="0" bIns="0">
            <a:spAutoFit/>
          </a:bodyPr>
          <a:lstStyle/>
          <a:p>
            <a:pPr algn="r"/>
            <a:r>
              <a:rPr sz="1050" b="0">
                <a:solidFill>
                  <a:srgbClr val="1C1F23"/>
                </a:solidFill>
                <a:latin typeface="Consolas"/>
              </a:rPr>
              <a:t>12,024,436</a:t>
            </a:r>
          </a:p>
        </p:txBody>
      </p:sp>
      <p:sp>
        <p:nvSpPr>
          <p:cNvPr id="13" name="Right Arrow 12"/>
          <p:cNvSpPr/>
          <p:nvPr/>
        </p:nvSpPr>
        <p:spPr>
          <a:xfrm>
            <a:off x="4663440" y="2281428"/>
            <a:ext cx="182880" cy="100584"/>
          </a:xfrm>
          <a:prstGeom prst="rightArrow">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74336" y="2240280"/>
            <a:ext cx="2286000" cy="219456"/>
          </a:xfrm>
          <a:prstGeom prst="rect">
            <a:avLst/>
          </a:prstGeom>
          <a:noFill/>
        </p:spPr>
        <p:txBody>
          <a:bodyPr wrap="square" anchor="t" lIns="0" rIns="0" tIns="0" bIns="0">
            <a:spAutoFit/>
          </a:bodyPr>
          <a:lstStyle/>
          <a:p>
            <a:pPr algn="l"/>
            <a:r>
              <a:rPr sz="1000" b="1">
                <a:solidFill>
                  <a:srgbClr val="1F6F6A"/>
                </a:solidFill>
                <a:latin typeface="Calibri"/>
              </a:rPr>
              <a:t>Lecturer</a:t>
            </a:r>
          </a:p>
        </p:txBody>
      </p:sp>
      <p:sp>
        <p:nvSpPr>
          <p:cNvPr id="15" name="Rectangle 14"/>
          <p:cNvSpPr/>
          <p:nvPr/>
        </p:nvSpPr>
        <p:spPr>
          <a:xfrm>
            <a:off x="566928" y="2500884"/>
            <a:ext cx="6720840"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6" name="TextBox 15"/>
          <p:cNvSpPr txBox="1"/>
          <p:nvPr/>
        </p:nvSpPr>
        <p:spPr>
          <a:xfrm>
            <a:off x="694944" y="2555748"/>
            <a:ext cx="2560320" cy="219456"/>
          </a:xfrm>
          <a:prstGeom prst="rect">
            <a:avLst/>
          </a:prstGeom>
          <a:noFill/>
        </p:spPr>
        <p:txBody>
          <a:bodyPr wrap="square" anchor="t" lIns="0" rIns="0" tIns="0" bIns="0">
            <a:spAutoFit/>
          </a:bodyPr>
          <a:lstStyle/>
          <a:p>
            <a:pPr algn="l"/>
            <a:r>
              <a:rPr sz="1050" b="0">
                <a:solidFill>
                  <a:srgbClr val="1C1F23"/>
                </a:solidFill>
                <a:latin typeface="Consolas"/>
              </a:rPr>
              <a:t>researcher_early</a:t>
            </a:r>
          </a:p>
        </p:txBody>
      </p:sp>
      <p:sp>
        <p:nvSpPr>
          <p:cNvPr id="17" name="TextBox 16"/>
          <p:cNvSpPr txBox="1"/>
          <p:nvPr/>
        </p:nvSpPr>
        <p:spPr>
          <a:xfrm>
            <a:off x="2743200" y="2555748"/>
            <a:ext cx="1783080" cy="219456"/>
          </a:xfrm>
          <a:prstGeom prst="rect">
            <a:avLst/>
          </a:prstGeom>
          <a:noFill/>
        </p:spPr>
        <p:txBody>
          <a:bodyPr wrap="square" anchor="t" lIns="0" rIns="0" tIns="0" bIns="0">
            <a:spAutoFit/>
          </a:bodyPr>
          <a:lstStyle/>
          <a:p>
            <a:pPr algn="r"/>
            <a:r>
              <a:rPr sz="1050" b="0">
                <a:solidFill>
                  <a:srgbClr val="1C1F23"/>
                </a:solidFill>
                <a:latin typeface="Consolas"/>
              </a:rPr>
              <a:t>8,343,585</a:t>
            </a:r>
          </a:p>
        </p:txBody>
      </p:sp>
      <p:sp>
        <p:nvSpPr>
          <p:cNvPr id="18" name="Right Arrow 17"/>
          <p:cNvSpPr/>
          <p:nvPr/>
        </p:nvSpPr>
        <p:spPr>
          <a:xfrm>
            <a:off x="4663440" y="2596896"/>
            <a:ext cx="182880" cy="100584"/>
          </a:xfrm>
          <a:prstGeom prst="rightArrow">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74336" y="2555748"/>
            <a:ext cx="2286000" cy="219456"/>
          </a:xfrm>
          <a:prstGeom prst="rect">
            <a:avLst/>
          </a:prstGeom>
          <a:noFill/>
        </p:spPr>
        <p:txBody>
          <a:bodyPr wrap="square" anchor="t" lIns="0" rIns="0" tIns="0" bIns="0">
            <a:spAutoFit/>
          </a:bodyPr>
          <a:lstStyle/>
          <a:p>
            <a:pPr algn="l"/>
            <a:r>
              <a:rPr sz="1000" b="1">
                <a:solidFill>
                  <a:srgbClr val="1F6F6A"/>
                </a:solidFill>
                <a:latin typeface="Calibri"/>
              </a:rPr>
              <a:t>Researcher + Clinical researcher</a:t>
            </a:r>
          </a:p>
        </p:txBody>
      </p:sp>
      <p:sp>
        <p:nvSpPr>
          <p:cNvPr id="20" name="Rectangle 19"/>
          <p:cNvSpPr/>
          <p:nvPr/>
        </p:nvSpPr>
        <p:spPr>
          <a:xfrm>
            <a:off x="566928" y="2816352"/>
            <a:ext cx="6720840" cy="297180"/>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1" name="TextBox 20"/>
          <p:cNvSpPr txBox="1"/>
          <p:nvPr/>
        </p:nvSpPr>
        <p:spPr>
          <a:xfrm>
            <a:off x="694944" y="2871216"/>
            <a:ext cx="2560320" cy="219456"/>
          </a:xfrm>
          <a:prstGeom prst="rect">
            <a:avLst/>
          </a:prstGeom>
          <a:noFill/>
        </p:spPr>
        <p:txBody>
          <a:bodyPr wrap="square" anchor="t" lIns="0" rIns="0" tIns="0" bIns="0">
            <a:spAutoFit/>
          </a:bodyPr>
          <a:lstStyle/>
          <a:p>
            <a:pPr algn="l"/>
            <a:r>
              <a:rPr sz="1050" b="0">
                <a:solidFill>
                  <a:srgbClr val="6F757E"/>
                </a:solidFill>
                <a:latin typeface="Consolas"/>
              </a:rPr>
              <a:t>student</a:t>
            </a:r>
          </a:p>
        </p:txBody>
      </p:sp>
      <p:sp>
        <p:nvSpPr>
          <p:cNvPr id="22" name="TextBox 21"/>
          <p:cNvSpPr txBox="1"/>
          <p:nvPr/>
        </p:nvSpPr>
        <p:spPr>
          <a:xfrm>
            <a:off x="2743200" y="2871216"/>
            <a:ext cx="1783080" cy="219456"/>
          </a:xfrm>
          <a:prstGeom prst="rect">
            <a:avLst/>
          </a:prstGeom>
          <a:noFill/>
        </p:spPr>
        <p:txBody>
          <a:bodyPr wrap="square" anchor="t" lIns="0" rIns="0" tIns="0" bIns="0">
            <a:spAutoFit/>
          </a:bodyPr>
          <a:lstStyle/>
          <a:p>
            <a:pPr algn="r"/>
            <a:r>
              <a:rPr sz="1050" b="0">
                <a:solidFill>
                  <a:srgbClr val="6F757E"/>
                </a:solidFill>
                <a:latin typeface="Consolas"/>
              </a:rPr>
              <a:t>1,968,320</a:t>
            </a:r>
          </a:p>
        </p:txBody>
      </p:sp>
      <p:sp>
        <p:nvSpPr>
          <p:cNvPr id="23" name="Right Arrow 22"/>
          <p:cNvSpPr/>
          <p:nvPr/>
        </p:nvSpPr>
        <p:spPr>
          <a:xfrm>
            <a:off x="4663440" y="2912364"/>
            <a:ext cx="182880" cy="100584"/>
          </a:xfrm>
          <a:prstGeom prst="rightArrow">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74336" y="2871216"/>
            <a:ext cx="2286000" cy="219456"/>
          </a:xfrm>
          <a:prstGeom prst="rect">
            <a:avLst/>
          </a:prstGeom>
          <a:noFill/>
        </p:spPr>
        <p:txBody>
          <a:bodyPr wrap="square" anchor="t" lIns="0" rIns="0" tIns="0" bIns="0">
            <a:spAutoFit/>
          </a:bodyPr>
          <a:lstStyle/>
          <a:p>
            <a:pPr algn="l"/>
            <a:r>
              <a:rPr sz="1000" b="0">
                <a:solidFill>
                  <a:srgbClr val="6F757E"/>
                </a:solidFill>
                <a:latin typeface="Calibri"/>
              </a:rPr>
              <a:t>nothing</a:t>
            </a:r>
          </a:p>
        </p:txBody>
      </p:sp>
      <p:sp>
        <p:nvSpPr>
          <p:cNvPr id="25" name="Rectangle 24"/>
          <p:cNvSpPr/>
          <p:nvPr/>
        </p:nvSpPr>
        <p:spPr>
          <a:xfrm>
            <a:off x="566928" y="3131820"/>
            <a:ext cx="6720840"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TextBox 25"/>
          <p:cNvSpPr txBox="1"/>
          <p:nvPr/>
        </p:nvSpPr>
        <p:spPr>
          <a:xfrm>
            <a:off x="694944" y="3186684"/>
            <a:ext cx="2560320" cy="219456"/>
          </a:xfrm>
          <a:prstGeom prst="rect">
            <a:avLst/>
          </a:prstGeom>
          <a:noFill/>
        </p:spPr>
        <p:txBody>
          <a:bodyPr wrap="square" anchor="t" lIns="0" rIns="0" tIns="0" bIns="0">
            <a:spAutoFit/>
          </a:bodyPr>
          <a:lstStyle/>
          <a:p>
            <a:pPr algn="l"/>
            <a:r>
              <a:rPr sz="1050" b="0">
                <a:solidFill>
                  <a:srgbClr val="1C1F23"/>
                </a:solidFill>
                <a:latin typeface="Consolas"/>
              </a:rPr>
              <a:t>researcher_established</a:t>
            </a:r>
          </a:p>
        </p:txBody>
      </p:sp>
      <p:sp>
        <p:nvSpPr>
          <p:cNvPr id="27" name="TextBox 26"/>
          <p:cNvSpPr txBox="1"/>
          <p:nvPr/>
        </p:nvSpPr>
        <p:spPr>
          <a:xfrm>
            <a:off x="2743200" y="3186684"/>
            <a:ext cx="1783080" cy="219456"/>
          </a:xfrm>
          <a:prstGeom prst="rect">
            <a:avLst/>
          </a:prstGeom>
          <a:noFill/>
        </p:spPr>
        <p:txBody>
          <a:bodyPr wrap="square" anchor="t" lIns="0" rIns="0" tIns="0" bIns="0">
            <a:spAutoFit/>
          </a:bodyPr>
          <a:lstStyle/>
          <a:p>
            <a:pPr algn="r"/>
            <a:r>
              <a:rPr sz="1050" b="0">
                <a:solidFill>
                  <a:srgbClr val="1C1F23"/>
                </a:solidFill>
                <a:latin typeface="Consolas"/>
              </a:rPr>
              <a:t>1,917,931</a:t>
            </a:r>
          </a:p>
        </p:txBody>
      </p:sp>
      <p:sp>
        <p:nvSpPr>
          <p:cNvPr id="28" name="Right Arrow 27"/>
          <p:cNvSpPr/>
          <p:nvPr/>
        </p:nvSpPr>
        <p:spPr>
          <a:xfrm>
            <a:off x="4663440" y="3227832"/>
            <a:ext cx="182880" cy="100584"/>
          </a:xfrm>
          <a:prstGeom prst="rightArrow">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4336" y="3186684"/>
            <a:ext cx="2286000" cy="219456"/>
          </a:xfrm>
          <a:prstGeom prst="rect">
            <a:avLst/>
          </a:prstGeom>
          <a:noFill/>
        </p:spPr>
        <p:txBody>
          <a:bodyPr wrap="square" anchor="t" lIns="0" rIns="0" tIns="0" bIns="0">
            <a:spAutoFit/>
          </a:bodyPr>
          <a:lstStyle/>
          <a:p>
            <a:pPr algn="l"/>
            <a:r>
              <a:rPr sz="1000" b="1">
                <a:solidFill>
                  <a:srgbClr val="1F6F6A"/>
                </a:solidFill>
                <a:latin typeface="Calibri"/>
              </a:rPr>
              <a:t>Researcher + Clinical researcher</a:t>
            </a:r>
          </a:p>
        </p:txBody>
      </p:sp>
      <p:sp>
        <p:nvSpPr>
          <p:cNvPr id="30" name="Rectangle 29"/>
          <p:cNvSpPr/>
          <p:nvPr/>
        </p:nvSpPr>
        <p:spPr>
          <a:xfrm>
            <a:off x="566928" y="3447287"/>
            <a:ext cx="6720840"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1" name="TextBox 30"/>
          <p:cNvSpPr txBox="1"/>
          <p:nvPr/>
        </p:nvSpPr>
        <p:spPr>
          <a:xfrm>
            <a:off x="694944" y="3502151"/>
            <a:ext cx="2560320" cy="219456"/>
          </a:xfrm>
          <a:prstGeom prst="rect">
            <a:avLst/>
          </a:prstGeom>
          <a:noFill/>
        </p:spPr>
        <p:txBody>
          <a:bodyPr wrap="square" anchor="t" lIns="0" rIns="0" tIns="0" bIns="0">
            <a:spAutoFit/>
          </a:bodyPr>
          <a:lstStyle/>
          <a:p>
            <a:pPr algn="l"/>
            <a:r>
              <a:rPr sz="1050" b="0">
                <a:solidFill>
                  <a:srgbClr val="1C1F23"/>
                </a:solidFill>
                <a:latin typeface="Consolas"/>
              </a:rPr>
              <a:t>practitioner</a:t>
            </a:r>
          </a:p>
        </p:txBody>
      </p:sp>
      <p:sp>
        <p:nvSpPr>
          <p:cNvPr id="32" name="TextBox 31"/>
          <p:cNvSpPr txBox="1"/>
          <p:nvPr/>
        </p:nvSpPr>
        <p:spPr>
          <a:xfrm>
            <a:off x="2743200" y="3502151"/>
            <a:ext cx="1783080" cy="219456"/>
          </a:xfrm>
          <a:prstGeom prst="rect">
            <a:avLst/>
          </a:prstGeom>
          <a:noFill/>
        </p:spPr>
        <p:txBody>
          <a:bodyPr wrap="square" anchor="t" lIns="0" rIns="0" tIns="0" bIns="0">
            <a:spAutoFit/>
          </a:bodyPr>
          <a:lstStyle/>
          <a:p>
            <a:pPr algn="r"/>
            <a:r>
              <a:rPr sz="1050" b="0">
                <a:solidFill>
                  <a:srgbClr val="1C1F23"/>
                </a:solidFill>
                <a:latin typeface="Consolas"/>
              </a:rPr>
              <a:t>1,656,354</a:t>
            </a:r>
          </a:p>
        </p:txBody>
      </p:sp>
      <p:sp>
        <p:nvSpPr>
          <p:cNvPr id="33" name="Right Arrow 32"/>
          <p:cNvSpPr/>
          <p:nvPr/>
        </p:nvSpPr>
        <p:spPr>
          <a:xfrm>
            <a:off x="4663440" y="3543299"/>
            <a:ext cx="182880" cy="100584"/>
          </a:xfrm>
          <a:prstGeom prst="rightArrow">
            <a:avLst/>
          </a:prstGeom>
          <a:solidFill>
            <a:srgbClr val="8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74336" y="3502151"/>
            <a:ext cx="2286000" cy="219456"/>
          </a:xfrm>
          <a:prstGeom prst="rect">
            <a:avLst/>
          </a:prstGeom>
          <a:noFill/>
        </p:spPr>
        <p:txBody>
          <a:bodyPr wrap="square" anchor="t" lIns="0" rIns="0" tIns="0" bIns="0">
            <a:spAutoFit/>
          </a:bodyPr>
          <a:lstStyle/>
          <a:p>
            <a:pPr algn="l"/>
            <a:r>
              <a:rPr sz="1000" b="1">
                <a:solidFill>
                  <a:srgbClr val="8A3D5E"/>
                </a:solidFill>
                <a:latin typeface="Calibri"/>
              </a:rPr>
              <a:t>Healthcare prof. + Practitioner</a:t>
            </a:r>
          </a:p>
        </p:txBody>
      </p:sp>
      <p:sp>
        <p:nvSpPr>
          <p:cNvPr id="35" name="Rectangle 34"/>
          <p:cNvSpPr/>
          <p:nvPr/>
        </p:nvSpPr>
        <p:spPr>
          <a:xfrm>
            <a:off x="566928" y="3762755"/>
            <a:ext cx="6720840" cy="297180"/>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94944" y="3817619"/>
            <a:ext cx="2560320" cy="219456"/>
          </a:xfrm>
          <a:prstGeom prst="rect">
            <a:avLst/>
          </a:prstGeom>
          <a:noFill/>
        </p:spPr>
        <p:txBody>
          <a:bodyPr wrap="square" anchor="t" lIns="0" rIns="0" tIns="0" bIns="0">
            <a:spAutoFit/>
          </a:bodyPr>
          <a:lstStyle/>
          <a:p>
            <a:pPr algn="l"/>
            <a:r>
              <a:rPr sz="1050" b="0">
                <a:solidFill>
                  <a:srgbClr val="6F757E"/>
                </a:solidFill>
                <a:latin typeface="Consolas"/>
              </a:rPr>
              <a:t>support_technical</a:t>
            </a:r>
          </a:p>
        </p:txBody>
      </p:sp>
      <p:sp>
        <p:nvSpPr>
          <p:cNvPr id="37" name="TextBox 36"/>
          <p:cNvSpPr txBox="1"/>
          <p:nvPr/>
        </p:nvSpPr>
        <p:spPr>
          <a:xfrm>
            <a:off x="2743200" y="3817619"/>
            <a:ext cx="1783080" cy="219456"/>
          </a:xfrm>
          <a:prstGeom prst="rect">
            <a:avLst/>
          </a:prstGeom>
          <a:noFill/>
        </p:spPr>
        <p:txBody>
          <a:bodyPr wrap="square" anchor="t" lIns="0" rIns="0" tIns="0" bIns="0">
            <a:spAutoFit/>
          </a:bodyPr>
          <a:lstStyle/>
          <a:p>
            <a:pPr algn="r"/>
            <a:r>
              <a:rPr sz="1050" b="0">
                <a:solidFill>
                  <a:srgbClr val="6F757E"/>
                </a:solidFill>
                <a:latin typeface="Consolas"/>
              </a:rPr>
              <a:t>1,458,782</a:t>
            </a:r>
          </a:p>
        </p:txBody>
      </p:sp>
      <p:sp>
        <p:nvSpPr>
          <p:cNvPr id="38" name="Right Arrow 37"/>
          <p:cNvSpPr/>
          <p:nvPr/>
        </p:nvSpPr>
        <p:spPr>
          <a:xfrm>
            <a:off x="4663440" y="3858768"/>
            <a:ext cx="182880" cy="100584"/>
          </a:xfrm>
          <a:prstGeom prst="rightArrow">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74336" y="3817619"/>
            <a:ext cx="2286000" cy="219456"/>
          </a:xfrm>
          <a:prstGeom prst="rect">
            <a:avLst/>
          </a:prstGeom>
          <a:noFill/>
        </p:spPr>
        <p:txBody>
          <a:bodyPr wrap="square" anchor="t" lIns="0" rIns="0" tIns="0" bIns="0">
            <a:spAutoFit/>
          </a:bodyPr>
          <a:lstStyle/>
          <a:p>
            <a:pPr algn="l"/>
            <a:r>
              <a:rPr sz="1000" b="0">
                <a:solidFill>
                  <a:srgbClr val="6F757E"/>
                </a:solidFill>
                <a:latin typeface="Calibri"/>
              </a:rPr>
              <a:t>nothing</a:t>
            </a:r>
          </a:p>
        </p:txBody>
      </p:sp>
      <p:sp>
        <p:nvSpPr>
          <p:cNvPr id="40" name="Rectangle 39"/>
          <p:cNvSpPr/>
          <p:nvPr/>
        </p:nvSpPr>
        <p:spPr>
          <a:xfrm>
            <a:off x="566928" y="4078223"/>
            <a:ext cx="6720840"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41" name="TextBox 40"/>
          <p:cNvSpPr txBox="1"/>
          <p:nvPr/>
        </p:nvSpPr>
        <p:spPr>
          <a:xfrm>
            <a:off x="694944" y="4133087"/>
            <a:ext cx="2560320" cy="219456"/>
          </a:xfrm>
          <a:prstGeom prst="rect">
            <a:avLst/>
          </a:prstGeom>
          <a:noFill/>
        </p:spPr>
        <p:txBody>
          <a:bodyPr wrap="square" anchor="t" lIns="0" rIns="0" tIns="0" bIns="0">
            <a:spAutoFit/>
          </a:bodyPr>
          <a:lstStyle/>
          <a:p>
            <a:pPr algn="l"/>
            <a:r>
              <a:rPr sz="1050" b="0">
                <a:solidFill>
                  <a:srgbClr val="1C1F23"/>
                </a:solidFill>
                <a:latin typeface="Consolas"/>
              </a:rPr>
              <a:t>leadership</a:t>
            </a:r>
          </a:p>
        </p:txBody>
      </p:sp>
      <p:sp>
        <p:nvSpPr>
          <p:cNvPr id="42" name="TextBox 41"/>
          <p:cNvSpPr txBox="1"/>
          <p:nvPr/>
        </p:nvSpPr>
        <p:spPr>
          <a:xfrm>
            <a:off x="2743200" y="4133087"/>
            <a:ext cx="1783080" cy="219456"/>
          </a:xfrm>
          <a:prstGeom prst="rect">
            <a:avLst/>
          </a:prstGeom>
          <a:noFill/>
        </p:spPr>
        <p:txBody>
          <a:bodyPr wrap="square" anchor="t" lIns="0" rIns="0" tIns="0" bIns="0">
            <a:spAutoFit/>
          </a:bodyPr>
          <a:lstStyle/>
          <a:p>
            <a:pPr algn="r"/>
            <a:r>
              <a:rPr sz="1050" b="0">
                <a:solidFill>
                  <a:srgbClr val="1C1F23"/>
                </a:solidFill>
                <a:latin typeface="Consolas"/>
              </a:rPr>
              <a:t>953,819</a:t>
            </a:r>
          </a:p>
        </p:txBody>
      </p:sp>
      <p:sp>
        <p:nvSpPr>
          <p:cNvPr id="43" name="Right Arrow 42"/>
          <p:cNvSpPr/>
          <p:nvPr/>
        </p:nvSpPr>
        <p:spPr>
          <a:xfrm>
            <a:off x="4663440" y="4174235"/>
            <a:ext cx="182880" cy="100584"/>
          </a:xfrm>
          <a:prstGeom prst="rightArrow">
            <a:avLst/>
          </a:prstGeom>
          <a:solidFill>
            <a:srgbClr val="8A6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74336" y="4133087"/>
            <a:ext cx="2286000" cy="219456"/>
          </a:xfrm>
          <a:prstGeom prst="rect">
            <a:avLst/>
          </a:prstGeom>
          <a:noFill/>
        </p:spPr>
        <p:txBody>
          <a:bodyPr wrap="square" anchor="t" lIns="0" rIns="0" tIns="0" bIns="0">
            <a:spAutoFit/>
          </a:bodyPr>
          <a:lstStyle/>
          <a:p>
            <a:pPr algn="l"/>
            <a:r>
              <a:rPr sz="1000" b="1">
                <a:solidFill>
                  <a:srgbClr val="8A6410"/>
                </a:solidFill>
                <a:latin typeface="Calibri"/>
              </a:rPr>
              <a:t>Head of faculty + Clin. administrator</a:t>
            </a:r>
          </a:p>
        </p:txBody>
      </p:sp>
      <p:sp>
        <p:nvSpPr>
          <p:cNvPr id="45" name="Rectangle 44"/>
          <p:cNvSpPr/>
          <p:nvPr/>
        </p:nvSpPr>
        <p:spPr>
          <a:xfrm>
            <a:off x="566928" y="4393691"/>
            <a:ext cx="6720840"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46" name="TextBox 45"/>
          <p:cNvSpPr txBox="1"/>
          <p:nvPr/>
        </p:nvSpPr>
        <p:spPr>
          <a:xfrm>
            <a:off x="694944" y="4448555"/>
            <a:ext cx="2560320" cy="219456"/>
          </a:xfrm>
          <a:prstGeom prst="rect">
            <a:avLst/>
          </a:prstGeom>
          <a:noFill/>
        </p:spPr>
        <p:txBody>
          <a:bodyPr wrap="square" anchor="t" lIns="0" rIns="0" tIns="0" bIns="0">
            <a:spAutoFit/>
          </a:bodyPr>
          <a:lstStyle/>
          <a:p>
            <a:pPr algn="l"/>
            <a:r>
              <a:rPr sz="1050" b="0">
                <a:solidFill>
                  <a:srgbClr val="1C1F23"/>
                </a:solidFill>
                <a:latin typeface="Consolas"/>
              </a:rPr>
              <a:t>trainee_clinical</a:t>
            </a:r>
          </a:p>
        </p:txBody>
      </p:sp>
      <p:sp>
        <p:nvSpPr>
          <p:cNvPr id="47" name="TextBox 46"/>
          <p:cNvSpPr txBox="1"/>
          <p:nvPr/>
        </p:nvSpPr>
        <p:spPr>
          <a:xfrm>
            <a:off x="2743200" y="4448555"/>
            <a:ext cx="1783080" cy="219456"/>
          </a:xfrm>
          <a:prstGeom prst="rect">
            <a:avLst/>
          </a:prstGeom>
          <a:noFill/>
        </p:spPr>
        <p:txBody>
          <a:bodyPr wrap="square" anchor="t" lIns="0" rIns="0" tIns="0" bIns="0">
            <a:spAutoFit/>
          </a:bodyPr>
          <a:lstStyle/>
          <a:p>
            <a:pPr algn="r"/>
            <a:r>
              <a:rPr sz="1050" b="0">
                <a:solidFill>
                  <a:srgbClr val="1C1F23"/>
                </a:solidFill>
                <a:latin typeface="Consolas"/>
              </a:rPr>
              <a:t>801,282</a:t>
            </a:r>
          </a:p>
        </p:txBody>
      </p:sp>
      <p:sp>
        <p:nvSpPr>
          <p:cNvPr id="48" name="Right Arrow 47"/>
          <p:cNvSpPr/>
          <p:nvPr/>
        </p:nvSpPr>
        <p:spPr>
          <a:xfrm>
            <a:off x="4663440" y="4489703"/>
            <a:ext cx="182880" cy="100584"/>
          </a:xfrm>
          <a:prstGeom prst="rightArrow">
            <a:avLst/>
          </a:prstGeom>
          <a:solidFill>
            <a:srgbClr val="8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74336" y="4448555"/>
            <a:ext cx="2286000" cy="219456"/>
          </a:xfrm>
          <a:prstGeom prst="rect">
            <a:avLst/>
          </a:prstGeom>
          <a:noFill/>
        </p:spPr>
        <p:txBody>
          <a:bodyPr wrap="square" anchor="t" lIns="0" rIns="0" tIns="0" bIns="0">
            <a:spAutoFit/>
          </a:bodyPr>
          <a:lstStyle/>
          <a:p>
            <a:pPr algn="l"/>
            <a:r>
              <a:rPr sz="1000" b="1">
                <a:solidFill>
                  <a:srgbClr val="8A3D5E"/>
                </a:solidFill>
                <a:latin typeface="Calibri"/>
              </a:rPr>
              <a:t>Healthcare prof. + Practitioner</a:t>
            </a:r>
          </a:p>
        </p:txBody>
      </p:sp>
      <p:sp>
        <p:nvSpPr>
          <p:cNvPr id="50" name="Rectangle 49"/>
          <p:cNvSpPr/>
          <p:nvPr/>
        </p:nvSpPr>
        <p:spPr>
          <a:xfrm>
            <a:off x="566928" y="4709159"/>
            <a:ext cx="6720840"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51" name="TextBox 50"/>
          <p:cNvSpPr txBox="1"/>
          <p:nvPr/>
        </p:nvSpPr>
        <p:spPr>
          <a:xfrm>
            <a:off x="694944" y="4764023"/>
            <a:ext cx="2560320" cy="219456"/>
          </a:xfrm>
          <a:prstGeom prst="rect">
            <a:avLst/>
          </a:prstGeom>
          <a:noFill/>
        </p:spPr>
        <p:txBody>
          <a:bodyPr wrap="square" anchor="t" lIns="0" rIns="0" tIns="0" bIns="0">
            <a:spAutoFit/>
          </a:bodyPr>
          <a:lstStyle/>
          <a:p>
            <a:pPr algn="l"/>
            <a:r>
              <a:rPr sz="1050" b="0">
                <a:solidFill>
                  <a:srgbClr val="1C1F23"/>
                </a:solidFill>
                <a:latin typeface="Consolas"/>
              </a:rPr>
              <a:t>pharmacist</a:t>
            </a:r>
          </a:p>
        </p:txBody>
      </p:sp>
      <p:sp>
        <p:nvSpPr>
          <p:cNvPr id="52" name="TextBox 51"/>
          <p:cNvSpPr txBox="1"/>
          <p:nvPr/>
        </p:nvSpPr>
        <p:spPr>
          <a:xfrm>
            <a:off x="2743200" y="4764023"/>
            <a:ext cx="1783080" cy="219456"/>
          </a:xfrm>
          <a:prstGeom prst="rect">
            <a:avLst/>
          </a:prstGeom>
          <a:noFill/>
        </p:spPr>
        <p:txBody>
          <a:bodyPr wrap="square" anchor="t" lIns="0" rIns="0" tIns="0" bIns="0">
            <a:spAutoFit/>
          </a:bodyPr>
          <a:lstStyle/>
          <a:p>
            <a:pPr algn="r"/>
            <a:r>
              <a:rPr sz="1050" b="0">
                <a:solidFill>
                  <a:srgbClr val="1C1F23"/>
                </a:solidFill>
                <a:latin typeface="Consolas"/>
              </a:rPr>
              <a:t>74,941</a:t>
            </a:r>
          </a:p>
        </p:txBody>
      </p:sp>
      <p:sp>
        <p:nvSpPr>
          <p:cNvPr id="53" name="Right Arrow 52"/>
          <p:cNvSpPr/>
          <p:nvPr/>
        </p:nvSpPr>
        <p:spPr>
          <a:xfrm>
            <a:off x="4663440" y="4805171"/>
            <a:ext cx="182880" cy="100584"/>
          </a:xfrm>
          <a:prstGeom prst="rightArrow">
            <a:avLst/>
          </a:prstGeom>
          <a:solidFill>
            <a:srgbClr val="8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974336" y="4764023"/>
            <a:ext cx="2286000" cy="219456"/>
          </a:xfrm>
          <a:prstGeom prst="rect">
            <a:avLst/>
          </a:prstGeom>
          <a:noFill/>
        </p:spPr>
        <p:txBody>
          <a:bodyPr wrap="square" anchor="t" lIns="0" rIns="0" tIns="0" bIns="0">
            <a:spAutoFit/>
          </a:bodyPr>
          <a:lstStyle/>
          <a:p>
            <a:pPr algn="l"/>
            <a:r>
              <a:rPr sz="1000" b="1">
                <a:solidFill>
                  <a:srgbClr val="8A3D5E"/>
                </a:solidFill>
                <a:latin typeface="Calibri"/>
              </a:rPr>
              <a:t>Pharmacist</a:t>
            </a:r>
          </a:p>
        </p:txBody>
      </p:sp>
      <p:sp>
        <p:nvSpPr>
          <p:cNvPr id="55" name="Rectangle 54"/>
          <p:cNvSpPr/>
          <p:nvPr/>
        </p:nvSpPr>
        <p:spPr>
          <a:xfrm>
            <a:off x="566928" y="5024627"/>
            <a:ext cx="6720840"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56" name="TextBox 55"/>
          <p:cNvSpPr txBox="1"/>
          <p:nvPr/>
        </p:nvSpPr>
        <p:spPr>
          <a:xfrm>
            <a:off x="694944" y="5079491"/>
            <a:ext cx="2560320" cy="219456"/>
          </a:xfrm>
          <a:prstGeom prst="rect">
            <a:avLst/>
          </a:prstGeom>
          <a:noFill/>
        </p:spPr>
        <p:txBody>
          <a:bodyPr wrap="square" anchor="t" lIns="0" rIns="0" tIns="0" bIns="0">
            <a:spAutoFit/>
          </a:bodyPr>
          <a:lstStyle/>
          <a:p>
            <a:pPr algn="l"/>
            <a:r>
              <a:rPr sz="1050" b="0">
                <a:solidFill>
                  <a:srgbClr val="1C1F23"/>
                </a:solidFill>
                <a:latin typeface="Consolas"/>
              </a:rPr>
              <a:t>librarian</a:t>
            </a:r>
          </a:p>
        </p:txBody>
      </p:sp>
      <p:sp>
        <p:nvSpPr>
          <p:cNvPr id="57" name="TextBox 56"/>
          <p:cNvSpPr txBox="1"/>
          <p:nvPr/>
        </p:nvSpPr>
        <p:spPr>
          <a:xfrm>
            <a:off x="2743200" y="5079491"/>
            <a:ext cx="1783080" cy="219456"/>
          </a:xfrm>
          <a:prstGeom prst="rect">
            <a:avLst/>
          </a:prstGeom>
          <a:noFill/>
        </p:spPr>
        <p:txBody>
          <a:bodyPr wrap="square" anchor="t" lIns="0" rIns="0" tIns="0" bIns="0">
            <a:spAutoFit/>
          </a:bodyPr>
          <a:lstStyle/>
          <a:p>
            <a:pPr algn="r"/>
            <a:r>
              <a:rPr sz="1050" b="0">
                <a:solidFill>
                  <a:srgbClr val="1C1F23"/>
                </a:solidFill>
                <a:latin typeface="Consolas"/>
              </a:rPr>
              <a:t>21,832</a:t>
            </a:r>
          </a:p>
        </p:txBody>
      </p:sp>
      <p:sp>
        <p:nvSpPr>
          <p:cNvPr id="58" name="Right Arrow 57"/>
          <p:cNvSpPr/>
          <p:nvPr/>
        </p:nvSpPr>
        <p:spPr>
          <a:xfrm>
            <a:off x="4663440" y="5120639"/>
            <a:ext cx="182880" cy="100584"/>
          </a:xfrm>
          <a:prstGeom prst="rightArrow">
            <a:avLst/>
          </a:prstGeom>
          <a:solidFill>
            <a:srgbClr val="8A6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974336" y="5079491"/>
            <a:ext cx="2286000" cy="219456"/>
          </a:xfrm>
          <a:prstGeom prst="rect">
            <a:avLst/>
          </a:prstGeom>
          <a:noFill/>
        </p:spPr>
        <p:txBody>
          <a:bodyPr wrap="square" anchor="t" lIns="0" rIns="0" tIns="0" bIns="0">
            <a:spAutoFit/>
          </a:bodyPr>
          <a:lstStyle/>
          <a:p>
            <a:pPr algn="l"/>
            <a:r>
              <a:rPr sz="1000" b="1">
                <a:solidFill>
                  <a:srgbClr val="8A6410"/>
                </a:solidFill>
                <a:latin typeface="Calibri"/>
              </a:rPr>
              <a:t>Librarian</a:t>
            </a:r>
          </a:p>
        </p:txBody>
      </p:sp>
      <p:sp>
        <p:nvSpPr>
          <p:cNvPr id="60" name="Rectangle 59"/>
          <p:cNvSpPr/>
          <p:nvPr/>
        </p:nvSpPr>
        <p:spPr>
          <a:xfrm>
            <a:off x="566928" y="5431535"/>
            <a:ext cx="6720840" cy="512064"/>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61" name="TextBox 60"/>
          <p:cNvSpPr txBox="1"/>
          <p:nvPr/>
        </p:nvSpPr>
        <p:spPr>
          <a:xfrm>
            <a:off x="731520" y="5532119"/>
            <a:ext cx="6400800" cy="329184"/>
          </a:xfrm>
          <a:prstGeom prst="rect">
            <a:avLst/>
          </a:prstGeom>
          <a:noFill/>
        </p:spPr>
        <p:txBody>
          <a:bodyPr wrap="square" anchor="t" lIns="0" rIns="0" tIns="0" bIns="0">
            <a:spAutoFit/>
          </a:bodyPr>
          <a:lstStyle/>
          <a:p>
            <a:pPr algn="l">
              <a:lnSpc>
                <a:spcPct val="120000"/>
              </a:lnSpc>
            </a:pPr>
            <a:r>
              <a:rPr sz="1000" b="0">
                <a:solidFill>
                  <a:srgbClr val="464B52"/>
                </a:solidFill>
                <a:latin typeface="Calibri"/>
              </a:rPr>
              <a:t>student and support_technical feed nothing - they are where titles that belong nowhere get parked, so their quality numbers do not matter today.</a:t>
            </a:r>
          </a:p>
        </p:txBody>
      </p:sp>
      <p:sp>
        <p:nvSpPr>
          <p:cNvPr id="62" name="Rectangle 61"/>
          <p:cNvSpPr/>
          <p:nvPr/>
        </p:nvSpPr>
        <p:spPr>
          <a:xfrm>
            <a:off x="7589520" y="1956816"/>
            <a:ext cx="1975104" cy="731520"/>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63" name="TextBox 62"/>
          <p:cNvSpPr txBox="1"/>
          <p:nvPr/>
        </p:nvSpPr>
        <p:spPr>
          <a:xfrm>
            <a:off x="7717536" y="2057400"/>
            <a:ext cx="1746504" cy="301752"/>
          </a:xfrm>
          <a:prstGeom prst="rect">
            <a:avLst/>
          </a:prstGeom>
          <a:noFill/>
        </p:spPr>
        <p:txBody>
          <a:bodyPr wrap="square" anchor="t" lIns="0" rIns="0" tIns="0" bIns="0">
            <a:spAutoFit/>
          </a:bodyPr>
          <a:lstStyle/>
          <a:p>
            <a:pPr algn="l"/>
            <a:r>
              <a:rPr sz="1900" b="1">
                <a:solidFill>
                  <a:srgbClr val="1C1F23"/>
                </a:solidFill>
                <a:latin typeface="Consolas"/>
              </a:rPr>
              <a:t>673,851</a:t>
            </a:r>
          </a:p>
        </p:txBody>
      </p:sp>
      <p:sp>
        <p:nvSpPr>
          <p:cNvPr id="64" name="TextBox 63"/>
          <p:cNvSpPr txBox="1"/>
          <p:nvPr/>
        </p:nvSpPr>
        <p:spPr>
          <a:xfrm>
            <a:off x="7717536" y="2386584"/>
            <a:ext cx="1746504"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with a role</a:t>
            </a:r>
          </a:p>
        </p:txBody>
      </p:sp>
      <p:sp>
        <p:nvSpPr>
          <p:cNvPr id="65" name="Rectangle 64"/>
          <p:cNvSpPr/>
          <p:nvPr/>
        </p:nvSpPr>
        <p:spPr>
          <a:xfrm>
            <a:off x="9656064" y="1956816"/>
            <a:ext cx="1975104" cy="731520"/>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66" name="TextBox 65"/>
          <p:cNvSpPr txBox="1"/>
          <p:nvPr/>
        </p:nvSpPr>
        <p:spPr>
          <a:xfrm>
            <a:off x="9784080" y="2057400"/>
            <a:ext cx="1746504" cy="301752"/>
          </a:xfrm>
          <a:prstGeom prst="rect">
            <a:avLst/>
          </a:prstGeom>
          <a:noFill/>
        </p:spPr>
        <p:txBody>
          <a:bodyPr wrap="square" anchor="t" lIns="0" rIns="0" tIns="0" bIns="0">
            <a:spAutoFit/>
          </a:bodyPr>
          <a:lstStyle/>
          <a:p>
            <a:pPr algn="l"/>
            <a:r>
              <a:rPr sz="1900" b="1">
                <a:solidFill>
                  <a:srgbClr val="1F6F6A"/>
                </a:solidFill>
                <a:latin typeface="Consolas"/>
              </a:rPr>
              <a:t>501,508</a:t>
            </a:r>
          </a:p>
        </p:txBody>
      </p:sp>
      <p:sp>
        <p:nvSpPr>
          <p:cNvPr id="67" name="TextBox 66"/>
          <p:cNvSpPr txBox="1"/>
          <p:nvPr/>
        </p:nvSpPr>
        <p:spPr>
          <a:xfrm>
            <a:off x="9784080" y="2386584"/>
            <a:ext cx="1746504"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reachable</a:t>
            </a:r>
          </a:p>
        </p:txBody>
      </p:sp>
      <p:sp>
        <p:nvSpPr>
          <p:cNvPr id="68" name="Rectangle 67"/>
          <p:cNvSpPr/>
          <p:nvPr/>
        </p:nvSpPr>
        <p:spPr>
          <a:xfrm>
            <a:off x="7589520" y="2834640"/>
            <a:ext cx="1837112"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900" b="1" cap="all">
                <a:solidFill>
                  <a:srgbClr val="6F757E"/>
                </a:solidFill>
                <a:latin typeface="Consolas"/>
              </a:rPr>
              <a:t>AUDIENCE</a:t>
            </a:r>
          </a:p>
        </p:txBody>
      </p:sp>
      <p:sp>
        <p:nvSpPr>
          <p:cNvPr id="69" name="Rectangle 68"/>
          <p:cNvSpPr/>
          <p:nvPr/>
        </p:nvSpPr>
        <p:spPr>
          <a:xfrm>
            <a:off x="9426632" y="2834640"/>
            <a:ext cx="1102267"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900" b="1" cap="all">
                <a:solidFill>
                  <a:srgbClr val="6F757E"/>
                </a:solidFill>
                <a:latin typeface="Consolas"/>
              </a:rPr>
              <a:t>IDENT.</a:t>
            </a:r>
          </a:p>
        </p:txBody>
      </p:sp>
      <p:sp>
        <p:nvSpPr>
          <p:cNvPr id="70" name="Rectangle 69"/>
          <p:cNvSpPr/>
          <p:nvPr/>
        </p:nvSpPr>
        <p:spPr>
          <a:xfrm>
            <a:off x="10528900" y="2834640"/>
            <a:ext cx="1102267"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900" b="1" cap="all">
                <a:solidFill>
                  <a:srgbClr val="6F757E"/>
                </a:solidFill>
                <a:latin typeface="Consolas"/>
              </a:rPr>
              <a:t>REACH.</a:t>
            </a:r>
          </a:p>
        </p:txBody>
      </p:sp>
      <p:sp>
        <p:nvSpPr>
          <p:cNvPr id="71" name="Rectangle 70"/>
          <p:cNvSpPr/>
          <p:nvPr/>
        </p:nvSpPr>
        <p:spPr>
          <a:xfrm>
            <a:off x="7589520" y="3072384"/>
            <a:ext cx="4041648"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589520" y="3113532"/>
            <a:ext cx="4041648"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73" name="Rectangle 72"/>
          <p:cNvSpPr/>
          <p:nvPr/>
        </p:nvSpPr>
        <p:spPr>
          <a:xfrm>
            <a:off x="7589520" y="3113532"/>
            <a:ext cx="1837112"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00" b="0">
                <a:solidFill>
                  <a:srgbClr val="1C1F23"/>
                </a:solidFill>
                <a:latin typeface="Consolas"/>
              </a:rPr>
              <a:t>lecturer</a:t>
            </a:r>
          </a:p>
        </p:txBody>
      </p:sp>
      <p:sp>
        <p:nvSpPr>
          <p:cNvPr id="74" name="Rectangle 73"/>
          <p:cNvSpPr/>
          <p:nvPr/>
        </p:nvSpPr>
        <p:spPr>
          <a:xfrm>
            <a:off x="9426632" y="3113532"/>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399,884</a:t>
            </a:r>
          </a:p>
        </p:txBody>
      </p:sp>
      <p:sp>
        <p:nvSpPr>
          <p:cNvPr id="75" name="Rectangle 74"/>
          <p:cNvSpPr/>
          <p:nvPr/>
        </p:nvSpPr>
        <p:spPr>
          <a:xfrm>
            <a:off x="10528900" y="3113532"/>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308,671</a:t>
            </a:r>
          </a:p>
        </p:txBody>
      </p:sp>
      <p:sp>
        <p:nvSpPr>
          <p:cNvPr id="76" name="Rectangle 75"/>
          <p:cNvSpPr/>
          <p:nvPr/>
        </p:nvSpPr>
        <p:spPr>
          <a:xfrm>
            <a:off x="7589520" y="3387852"/>
            <a:ext cx="4041648" cy="251460"/>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77" name="Rectangle 76"/>
          <p:cNvSpPr/>
          <p:nvPr/>
        </p:nvSpPr>
        <p:spPr>
          <a:xfrm>
            <a:off x="7589520" y="3387852"/>
            <a:ext cx="1837112"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00" b="0">
                <a:solidFill>
                  <a:srgbClr val="1C1F23"/>
                </a:solidFill>
                <a:latin typeface="Consolas"/>
              </a:rPr>
              <a:t>researcher</a:t>
            </a:r>
          </a:p>
        </p:txBody>
      </p:sp>
      <p:sp>
        <p:nvSpPr>
          <p:cNvPr id="78" name="Rectangle 77"/>
          <p:cNvSpPr/>
          <p:nvPr/>
        </p:nvSpPr>
        <p:spPr>
          <a:xfrm>
            <a:off x="9426632" y="3387852"/>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321,824</a:t>
            </a:r>
          </a:p>
        </p:txBody>
      </p:sp>
      <p:sp>
        <p:nvSpPr>
          <p:cNvPr id="79" name="Rectangle 78"/>
          <p:cNvSpPr/>
          <p:nvPr/>
        </p:nvSpPr>
        <p:spPr>
          <a:xfrm>
            <a:off x="10528900" y="3387852"/>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227,513</a:t>
            </a:r>
          </a:p>
        </p:txBody>
      </p:sp>
      <p:sp>
        <p:nvSpPr>
          <p:cNvPr id="80" name="Rectangle 79"/>
          <p:cNvSpPr/>
          <p:nvPr/>
        </p:nvSpPr>
        <p:spPr>
          <a:xfrm>
            <a:off x="7589520" y="3662172"/>
            <a:ext cx="4041648"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1" name="Rectangle 80"/>
          <p:cNvSpPr/>
          <p:nvPr/>
        </p:nvSpPr>
        <p:spPr>
          <a:xfrm>
            <a:off x="7589520" y="3662172"/>
            <a:ext cx="1837112"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00" b="0">
                <a:solidFill>
                  <a:srgbClr val="1C1F23"/>
                </a:solidFill>
                <a:latin typeface="Consolas"/>
              </a:rPr>
              <a:t>hcp_broad</a:t>
            </a:r>
          </a:p>
        </p:txBody>
      </p:sp>
      <p:sp>
        <p:nvSpPr>
          <p:cNvPr id="82" name="Rectangle 81"/>
          <p:cNvSpPr/>
          <p:nvPr/>
        </p:nvSpPr>
        <p:spPr>
          <a:xfrm>
            <a:off x="9426632" y="3662172"/>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126,869</a:t>
            </a:r>
          </a:p>
        </p:txBody>
      </p:sp>
      <p:sp>
        <p:nvSpPr>
          <p:cNvPr id="83" name="Rectangle 82"/>
          <p:cNvSpPr/>
          <p:nvPr/>
        </p:nvSpPr>
        <p:spPr>
          <a:xfrm>
            <a:off x="10528900" y="3662172"/>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94,622</a:t>
            </a:r>
          </a:p>
        </p:txBody>
      </p:sp>
      <p:sp>
        <p:nvSpPr>
          <p:cNvPr id="84" name="Rectangle 83"/>
          <p:cNvSpPr/>
          <p:nvPr/>
        </p:nvSpPr>
        <p:spPr>
          <a:xfrm>
            <a:off x="7589520" y="3936491"/>
            <a:ext cx="4041648" cy="251460"/>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5" name="Rectangle 84"/>
          <p:cNvSpPr/>
          <p:nvPr/>
        </p:nvSpPr>
        <p:spPr>
          <a:xfrm>
            <a:off x="7589520" y="3936491"/>
            <a:ext cx="1837112"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00" b="0">
                <a:solidFill>
                  <a:srgbClr val="1C1F23"/>
                </a:solidFill>
                <a:latin typeface="Consolas"/>
              </a:rPr>
              <a:t>hcp_practitioner</a:t>
            </a:r>
          </a:p>
        </p:txBody>
      </p:sp>
      <p:sp>
        <p:nvSpPr>
          <p:cNvPr id="86" name="Rectangle 85"/>
          <p:cNvSpPr/>
          <p:nvPr/>
        </p:nvSpPr>
        <p:spPr>
          <a:xfrm>
            <a:off x="9426632" y="393649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60,937</a:t>
            </a:r>
          </a:p>
        </p:txBody>
      </p:sp>
      <p:sp>
        <p:nvSpPr>
          <p:cNvPr id="87" name="Rectangle 86"/>
          <p:cNvSpPr/>
          <p:nvPr/>
        </p:nvSpPr>
        <p:spPr>
          <a:xfrm>
            <a:off x="10528900" y="393649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45,516</a:t>
            </a:r>
          </a:p>
        </p:txBody>
      </p:sp>
      <p:sp>
        <p:nvSpPr>
          <p:cNvPr id="88" name="Rectangle 87"/>
          <p:cNvSpPr/>
          <p:nvPr/>
        </p:nvSpPr>
        <p:spPr>
          <a:xfrm>
            <a:off x="7589520" y="4210812"/>
            <a:ext cx="4041648"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9" name="Rectangle 88"/>
          <p:cNvSpPr/>
          <p:nvPr/>
        </p:nvSpPr>
        <p:spPr>
          <a:xfrm>
            <a:off x="7589520" y="4210812"/>
            <a:ext cx="1837112"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00" b="0">
                <a:solidFill>
                  <a:srgbClr val="1C1F23"/>
                </a:solidFill>
                <a:latin typeface="Consolas"/>
              </a:rPr>
              <a:t>hcp_researcher</a:t>
            </a:r>
          </a:p>
        </p:txBody>
      </p:sp>
      <p:sp>
        <p:nvSpPr>
          <p:cNvPr id="90" name="Rectangle 89"/>
          <p:cNvSpPr/>
          <p:nvPr/>
        </p:nvSpPr>
        <p:spPr>
          <a:xfrm>
            <a:off x="9426632" y="4210812"/>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50,600</a:t>
            </a:r>
          </a:p>
        </p:txBody>
      </p:sp>
      <p:sp>
        <p:nvSpPr>
          <p:cNvPr id="91" name="Rectangle 90"/>
          <p:cNvSpPr/>
          <p:nvPr/>
        </p:nvSpPr>
        <p:spPr>
          <a:xfrm>
            <a:off x="10528900" y="4210812"/>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37,180</a:t>
            </a:r>
          </a:p>
        </p:txBody>
      </p:sp>
      <p:sp>
        <p:nvSpPr>
          <p:cNvPr id="92" name="Rectangle 91"/>
          <p:cNvSpPr/>
          <p:nvPr/>
        </p:nvSpPr>
        <p:spPr>
          <a:xfrm>
            <a:off x="7589520" y="4485131"/>
            <a:ext cx="4041648" cy="251460"/>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93" name="Rectangle 92"/>
          <p:cNvSpPr/>
          <p:nvPr/>
        </p:nvSpPr>
        <p:spPr>
          <a:xfrm>
            <a:off x="7589520" y="4485131"/>
            <a:ext cx="1837112"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00" b="0">
                <a:solidFill>
                  <a:srgbClr val="1C1F23"/>
                </a:solidFill>
                <a:latin typeface="Consolas"/>
              </a:rPr>
              <a:t>faculty_head</a:t>
            </a:r>
          </a:p>
        </p:txBody>
      </p:sp>
      <p:sp>
        <p:nvSpPr>
          <p:cNvPr id="94" name="Rectangle 93"/>
          <p:cNvSpPr/>
          <p:nvPr/>
        </p:nvSpPr>
        <p:spPr>
          <a:xfrm>
            <a:off x="9426632" y="448513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20,347</a:t>
            </a:r>
          </a:p>
        </p:txBody>
      </p:sp>
      <p:sp>
        <p:nvSpPr>
          <p:cNvPr id="95" name="Rectangle 94"/>
          <p:cNvSpPr/>
          <p:nvPr/>
        </p:nvSpPr>
        <p:spPr>
          <a:xfrm>
            <a:off x="10528900" y="448513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15,796</a:t>
            </a:r>
          </a:p>
        </p:txBody>
      </p:sp>
      <p:sp>
        <p:nvSpPr>
          <p:cNvPr id="96" name="Rectangle 95"/>
          <p:cNvSpPr/>
          <p:nvPr/>
        </p:nvSpPr>
        <p:spPr>
          <a:xfrm>
            <a:off x="7589520" y="4759451"/>
            <a:ext cx="4041648"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97" name="Rectangle 96"/>
          <p:cNvSpPr/>
          <p:nvPr/>
        </p:nvSpPr>
        <p:spPr>
          <a:xfrm>
            <a:off x="7589520" y="4759451"/>
            <a:ext cx="1837112"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00" b="0">
                <a:solidFill>
                  <a:srgbClr val="1C1F23"/>
                </a:solidFill>
                <a:latin typeface="Consolas"/>
              </a:rPr>
              <a:t>hcp_administrator</a:t>
            </a:r>
          </a:p>
        </p:txBody>
      </p:sp>
      <p:sp>
        <p:nvSpPr>
          <p:cNvPr id="98" name="Rectangle 97"/>
          <p:cNvSpPr/>
          <p:nvPr/>
        </p:nvSpPr>
        <p:spPr>
          <a:xfrm>
            <a:off x="9426632" y="475945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6,865</a:t>
            </a:r>
          </a:p>
        </p:txBody>
      </p:sp>
      <p:sp>
        <p:nvSpPr>
          <p:cNvPr id="99" name="Rectangle 98"/>
          <p:cNvSpPr/>
          <p:nvPr/>
        </p:nvSpPr>
        <p:spPr>
          <a:xfrm>
            <a:off x="10528900" y="475945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5,368</a:t>
            </a:r>
          </a:p>
        </p:txBody>
      </p:sp>
      <p:sp>
        <p:nvSpPr>
          <p:cNvPr id="100" name="Rectangle 99"/>
          <p:cNvSpPr/>
          <p:nvPr/>
        </p:nvSpPr>
        <p:spPr>
          <a:xfrm>
            <a:off x="7589520" y="5033771"/>
            <a:ext cx="4041648" cy="251460"/>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01" name="Rectangle 100"/>
          <p:cNvSpPr/>
          <p:nvPr/>
        </p:nvSpPr>
        <p:spPr>
          <a:xfrm>
            <a:off x="7589520" y="5033771"/>
            <a:ext cx="1837112"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00" b="0">
                <a:solidFill>
                  <a:srgbClr val="1C1F23"/>
                </a:solidFill>
                <a:latin typeface="Consolas"/>
              </a:rPr>
              <a:t>pharmacist</a:t>
            </a:r>
          </a:p>
        </p:txBody>
      </p:sp>
      <p:sp>
        <p:nvSpPr>
          <p:cNvPr id="102" name="Rectangle 101"/>
          <p:cNvSpPr/>
          <p:nvPr/>
        </p:nvSpPr>
        <p:spPr>
          <a:xfrm>
            <a:off x="9426632" y="503377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2,245</a:t>
            </a:r>
          </a:p>
        </p:txBody>
      </p:sp>
      <p:sp>
        <p:nvSpPr>
          <p:cNvPr id="103" name="Rectangle 102"/>
          <p:cNvSpPr/>
          <p:nvPr/>
        </p:nvSpPr>
        <p:spPr>
          <a:xfrm>
            <a:off x="10528900" y="503377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1,680</a:t>
            </a:r>
          </a:p>
        </p:txBody>
      </p:sp>
      <p:sp>
        <p:nvSpPr>
          <p:cNvPr id="104" name="Rectangle 103"/>
          <p:cNvSpPr/>
          <p:nvPr/>
        </p:nvSpPr>
        <p:spPr>
          <a:xfrm>
            <a:off x="7589520" y="5308091"/>
            <a:ext cx="4041648"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05" name="Rectangle 104"/>
          <p:cNvSpPr/>
          <p:nvPr/>
        </p:nvSpPr>
        <p:spPr>
          <a:xfrm>
            <a:off x="7589520" y="5308091"/>
            <a:ext cx="1837112"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00" b="0">
                <a:solidFill>
                  <a:srgbClr val="1C1F23"/>
                </a:solidFill>
                <a:latin typeface="Consolas"/>
              </a:rPr>
              <a:t>librarian</a:t>
            </a:r>
          </a:p>
        </p:txBody>
      </p:sp>
      <p:sp>
        <p:nvSpPr>
          <p:cNvPr id="106" name="Rectangle 105"/>
          <p:cNvSpPr/>
          <p:nvPr/>
        </p:nvSpPr>
        <p:spPr>
          <a:xfrm>
            <a:off x="9426632" y="530809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668</a:t>
            </a:r>
          </a:p>
        </p:txBody>
      </p:sp>
      <p:sp>
        <p:nvSpPr>
          <p:cNvPr id="107" name="Rectangle 106"/>
          <p:cNvSpPr/>
          <p:nvPr/>
        </p:nvSpPr>
        <p:spPr>
          <a:xfrm>
            <a:off x="10528900" y="5308091"/>
            <a:ext cx="1102267" cy="2514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1000" b="0">
                <a:solidFill>
                  <a:srgbClr val="1C1F23"/>
                </a:solidFill>
                <a:latin typeface="Consolas"/>
              </a:rPr>
              <a:t>361</a:t>
            </a:r>
          </a:p>
        </p:txBody>
      </p:sp>
      <p:sp>
        <p:nvSpPr>
          <p:cNvPr id="108" name="Rectangle 107"/>
          <p:cNvSpPr/>
          <p:nvPr/>
        </p:nvSpPr>
        <p:spPr>
          <a:xfrm>
            <a:off x="7589520" y="5321808"/>
            <a:ext cx="4041648" cy="640080"/>
          </a:xfrm>
          <a:prstGeom prst="rect">
            <a:avLst/>
          </a:prstGeom>
          <a:solidFill>
            <a:srgbClr val="F7E4E0"/>
          </a:solidFill>
          <a:ln w="9525">
            <a:solidFill>
              <a:srgbClr val="9B3B2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09" name="TextBox 108"/>
          <p:cNvSpPr txBox="1"/>
          <p:nvPr/>
        </p:nvSpPr>
        <p:spPr>
          <a:xfrm>
            <a:off x="7772400" y="5422392"/>
            <a:ext cx="3657600" cy="457200"/>
          </a:xfrm>
          <a:prstGeom prst="rect">
            <a:avLst/>
          </a:prstGeom>
          <a:noFill/>
        </p:spPr>
        <p:txBody>
          <a:bodyPr wrap="square" anchor="t" lIns="0" rIns="0" tIns="0" bIns="0">
            <a:spAutoFit/>
          </a:bodyPr>
          <a:lstStyle/>
          <a:p>
            <a:pPr algn="l">
              <a:lnSpc>
                <a:spcPct val="120000"/>
              </a:lnSpc>
            </a:pPr>
            <a:r>
              <a:rPr sz="1000" b="0">
                <a:solidFill>
                  <a:srgbClr val="464B52"/>
                </a:solidFill>
                <a:latin typeface="Calibri"/>
              </a:rPr>
              <a:t>Do not add the column. People hold 1.59 roles on average, so the same person appears on several 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1F6F6A"/>
                </a:solidFill>
                <a:latin typeface="Consolas"/>
              </a:rPr>
              <a:t>honesty</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There is no false-positive rate</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A false-positive rate needs a correct answer to compare against. ORCID has no profession field, and the old system is not a reference either - it called about 53,000 engineers, earth scientists and mathematicians healthcare professionals.</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93392"/>
            <a:ext cx="3538728" cy="1371600"/>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Rectangle 7"/>
          <p:cNvSpPr/>
          <p:nvPr/>
        </p:nvSpPr>
        <p:spPr>
          <a:xfrm>
            <a:off x="566928" y="1993392"/>
            <a:ext cx="3538728" cy="36576"/>
          </a:xfrm>
          <a:prstGeom prst="rect">
            <a:avLst/>
          </a:prstGeom>
          <a:solidFill>
            <a:srgbClr val="8A6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139696"/>
            <a:ext cx="3246120" cy="237744"/>
          </a:xfrm>
          <a:prstGeom prst="rect">
            <a:avLst/>
          </a:prstGeom>
          <a:noFill/>
        </p:spPr>
        <p:txBody>
          <a:bodyPr wrap="square" anchor="t" lIns="0" rIns="0" tIns="0" bIns="0">
            <a:spAutoFit/>
          </a:bodyPr>
          <a:lstStyle/>
          <a:p>
            <a:pPr algn="l"/>
            <a:r>
              <a:rPr sz="1200" b="1">
                <a:solidFill>
                  <a:srgbClr val="8A6410"/>
                </a:solidFill>
                <a:latin typeface="Consolas"/>
              </a:rPr>
              <a:t>share below 0.75</a:t>
            </a:r>
          </a:p>
        </p:txBody>
      </p:sp>
      <p:sp>
        <p:nvSpPr>
          <p:cNvPr id="10" name="TextBox 9"/>
          <p:cNvSpPr txBox="1"/>
          <p:nvPr/>
        </p:nvSpPr>
        <p:spPr>
          <a:xfrm>
            <a:off x="713232" y="2432304"/>
            <a:ext cx="3246120" cy="475488"/>
          </a:xfrm>
          <a:prstGeom prst="rect">
            <a:avLst/>
          </a:prstGeom>
          <a:noFill/>
        </p:spPr>
        <p:txBody>
          <a:bodyPr wrap="square" anchor="t" lIns="0" rIns="0" tIns="0" bIns="0">
            <a:spAutoFit/>
          </a:bodyPr>
          <a:lstStyle/>
          <a:p>
            <a:pPr algn="l">
              <a:lnSpc>
                <a:spcPct val="120000"/>
              </a:lnSpc>
            </a:pPr>
            <a:r>
              <a:rPr sz="1050" b="0">
                <a:solidFill>
                  <a:srgbClr val="464B52"/>
                </a:solidFill>
                <a:latin typeface="Calibri"/>
              </a:rPr>
              <a:t>How much of a group the model was UNSURE about.</a:t>
            </a:r>
          </a:p>
        </p:txBody>
      </p:sp>
      <p:sp>
        <p:nvSpPr>
          <p:cNvPr id="11" name="TextBox 10"/>
          <p:cNvSpPr txBox="1"/>
          <p:nvPr/>
        </p:nvSpPr>
        <p:spPr>
          <a:xfrm>
            <a:off x="713232" y="2962656"/>
            <a:ext cx="3246120" cy="365760"/>
          </a:xfrm>
          <a:prstGeom prst="rect">
            <a:avLst/>
          </a:prstGeom>
          <a:noFill/>
        </p:spPr>
        <p:txBody>
          <a:bodyPr wrap="square" anchor="t" lIns="0" rIns="0" tIns="0" bIns="0">
            <a:spAutoFit/>
          </a:bodyPr>
          <a:lstStyle/>
          <a:p>
            <a:pPr algn="l">
              <a:lnSpc>
                <a:spcPct val="118000"/>
              </a:lnSpc>
            </a:pPr>
            <a:r>
              <a:rPr sz="1000" b="0">
                <a:solidFill>
                  <a:srgbClr val="9B3B2F"/>
                </a:solidFill>
                <a:latin typeface="Calibri"/>
              </a:rPr>
              <a:t>NOT:  An error rate.</a:t>
            </a:r>
          </a:p>
        </p:txBody>
      </p:sp>
      <p:sp>
        <p:nvSpPr>
          <p:cNvPr id="12" name="Rectangle 11"/>
          <p:cNvSpPr/>
          <p:nvPr/>
        </p:nvSpPr>
        <p:spPr>
          <a:xfrm>
            <a:off x="4325112" y="1993392"/>
            <a:ext cx="3538728" cy="1371600"/>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3" name="Rectangle 12"/>
          <p:cNvSpPr/>
          <p:nvPr/>
        </p:nvSpPr>
        <p:spPr>
          <a:xfrm>
            <a:off x="4325112" y="1993392"/>
            <a:ext cx="3538728" cy="36576"/>
          </a:xfrm>
          <a:prstGeom prst="rect">
            <a:avLst/>
          </a:prstGeom>
          <a:solidFill>
            <a:srgbClr val="8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1416" y="2139696"/>
            <a:ext cx="3246120" cy="237744"/>
          </a:xfrm>
          <a:prstGeom prst="rect">
            <a:avLst/>
          </a:prstGeom>
          <a:noFill/>
        </p:spPr>
        <p:txBody>
          <a:bodyPr wrap="square" anchor="t" lIns="0" rIns="0" tIns="0" bIns="0">
            <a:spAutoFit/>
          </a:bodyPr>
          <a:lstStyle/>
          <a:p>
            <a:pPr algn="l"/>
            <a:r>
              <a:rPr sz="1200" b="1">
                <a:solidFill>
                  <a:srgbClr val="8A3D5E"/>
                </a:solidFill>
                <a:latin typeface="Consolas"/>
              </a:rPr>
              <a:t>records corrected</a:t>
            </a:r>
          </a:p>
        </p:txBody>
      </p:sp>
      <p:sp>
        <p:nvSpPr>
          <p:cNvPr id="15" name="TextBox 14"/>
          <p:cNvSpPr txBox="1"/>
          <p:nvPr/>
        </p:nvSpPr>
        <p:spPr>
          <a:xfrm>
            <a:off x="4471416" y="2432304"/>
            <a:ext cx="3246120" cy="475488"/>
          </a:xfrm>
          <a:prstGeom prst="rect">
            <a:avLst/>
          </a:prstGeom>
          <a:noFill/>
        </p:spPr>
        <p:txBody>
          <a:bodyPr wrap="square" anchor="t" lIns="0" rIns="0" tIns="0" bIns="0">
            <a:spAutoFit/>
          </a:bodyPr>
          <a:lstStyle/>
          <a:p>
            <a:pPr algn="l">
              <a:lnSpc>
                <a:spcPct val="120000"/>
              </a:lnSpc>
            </a:pPr>
            <a:r>
              <a:rPr sz="1050" b="0">
                <a:solidFill>
                  <a:srgbClr val="464B52"/>
                </a:solidFill>
                <a:latin typeface="Calibri"/>
              </a:rPr>
              <a:t>Titles a person read and judged wrong, with the records they carry.</a:t>
            </a:r>
          </a:p>
        </p:txBody>
      </p:sp>
      <p:sp>
        <p:nvSpPr>
          <p:cNvPr id="16" name="TextBox 15"/>
          <p:cNvSpPr txBox="1"/>
          <p:nvPr/>
        </p:nvSpPr>
        <p:spPr>
          <a:xfrm>
            <a:off x="4471416" y="2962656"/>
            <a:ext cx="3246120" cy="365760"/>
          </a:xfrm>
          <a:prstGeom prst="rect">
            <a:avLst/>
          </a:prstGeom>
          <a:noFill/>
        </p:spPr>
        <p:txBody>
          <a:bodyPr wrap="square" anchor="t" lIns="0" rIns="0" tIns="0" bIns="0">
            <a:spAutoFit/>
          </a:bodyPr>
          <a:lstStyle/>
          <a:p>
            <a:pPr algn="l">
              <a:lnSpc>
                <a:spcPct val="118000"/>
              </a:lnSpc>
            </a:pPr>
            <a:r>
              <a:rPr sz="1000" b="0">
                <a:solidFill>
                  <a:srgbClr val="9B3B2F"/>
                </a:solidFill>
                <a:latin typeface="Calibri"/>
              </a:rPr>
              <a:t>NOT:  All the errors - only the part that was read.</a:t>
            </a:r>
          </a:p>
        </p:txBody>
      </p:sp>
      <p:sp>
        <p:nvSpPr>
          <p:cNvPr id="17" name="Rectangle 16"/>
          <p:cNvSpPr/>
          <p:nvPr/>
        </p:nvSpPr>
        <p:spPr>
          <a:xfrm>
            <a:off x="8083296" y="1993392"/>
            <a:ext cx="3538728" cy="1371600"/>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8" name="Rectangle 17"/>
          <p:cNvSpPr/>
          <p:nvPr/>
        </p:nvSpPr>
        <p:spPr>
          <a:xfrm>
            <a:off x="8083296" y="1993392"/>
            <a:ext cx="3538728" cy="36576"/>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2139696"/>
            <a:ext cx="3246120" cy="237744"/>
          </a:xfrm>
          <a:prstGeom prst="rect">
            <a:avLst/>
          </a:prstGeom>
          <a:noFill/>
        </p:spPr>
        <p:txBody>
          <a:bodyPr wrap="square" anchor="t" lIns="0" rIns="0" tIns="0" bIns="0">
            <a:spAutoFit/>
          </a:bodyPr>
          <a:lstStyle/>
          <a:p>
            <a:pPr algn="l"/>
            <a:r>
              <a:rPr sz="1200" b="1">
                <a:solidFill>
                  <a:srgbClr val="1F6F6A"/>
                </a:solidFill>
                <a:latin typeface="Consolas"/>
              </a:rPr>
              <a:t>coverage</a:t>
            </a:r>
          </a:p>
        </p:txBody>
      </p:sp>
      <p:sp>
        <p:nvSpPr>
          <p:cNvPr id="20" name="TextBox 19"/>
          <p:cNvSpPr txBox="1"/>
          <p:nvPr/>
        </p:nvSpPr>
        <p:spPr>
          <a:xfrm>
            <a:off x="8229600" y="2432304"/>
            <a:ext cx="3246120" cy="475488"/>
          </a:xfrm>
          <a:prstGeom prst="rect">
            <a:avLst/>
          </a:prstGeom>
          <a:noFill/>
        </p:spPr>
        <p:txBody>
          <a:bodyPr wrap="square" anchor="t" lIns="0" rIns="0" tIns="0" bIns="0">
            <a:spAutoFit/>
          </a:bodyPr>
          <a:lstStyle/>
          <a:p>
            <a:pPr algn="l">
              <a:lnSpc>
                <a:spcPct val="120000"/>
              </a:lnSpc>
            </a:pPr>
            <a:r>
              <a:rPr sz="1050" b="0">
                <a:solidFill>
                  <a:srgbClr val="464B52"/>
                </a:solidFill>
                <a:latin typeface="Calibri"/>
              </a:rPr>
              <a:t>The share of a group's records sitting in titles a person actually read.</a:t>
            </a:r>
          </a:p>
        </p:txBody>
      </p:sp>
      <p:sp>
        <p:nvSpPr>
          <p:cNvPr id="21" name="TextBox 20"/>
          <p:cNvSpPr txBox="1"/>
          <p:nvPr/>
        </p:nvSpPr>
        <p:spPr>
          <a:xfrm>
            <a:off x="8229600" y="2962656"/>
            <a:ext cx="3246120" cy="365760"/>
          </a:xfrm>
          <a:prstGeom prst="rect">
            <a:avLst/>
          </a:prstGeom>
          <a:noFill/>
        </p:spPr>
        <p:txBody>
          <a:bodyPr wrap="square" anchor="t" lIns="0" rIns="0" tIns="0" bIns="0">
            <a:spAutoFit/>
          </a:bodyPr>
          <a:lstStyle/>
          <a:p>
            <a:pPr algn="l">
              <a:lnSpc>
                <a:spcPct val="118000"/>
              </a:lnSpc>
            </a:pPr>
            <a:r>
              <a:rPr sz="1000" b="0">
                <a:solidFill>
                  <a:srgbClr val="9B3B2F"/>
                </a:solidFill>
                <a:latin typeface="Calibri"/>
              </a:rPr>
              <a:t>NOT:  Confidence. It means looked at and not objected to.</a:t>
            </a:r>
          </a:p>
        </p:txBody>
      </p:sp>
      <p:sp>
        <p:nvSpPr>
          <p:cNvPr id="22" name="Rectangle 21"/>
          <p:cNvSpPr/>
          <p:nvPr/>
        </p:nvSpPr>
        <p:spPr>
          <a:xfrm>
            <a:off x="566928" y="3529584"/>
            <a:ext cx="5385816" cy="1481328"/>
          </a:xfrm>
          <a:prstGeom prst="rect">
            <a:avLst/>
          </a:prstGeom>
          <a:solidFill>
            <a:srgbClr val="FFFFFF"/>
          </a:solidFill>
          <a:ln w="12700">
            <a:solidFill>
              <a:srgbClr val="1C1F23"/>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3" name="TextBox 22"/>
          <p:cNvSpPr txBox="1"/>
          <p:nvPr/>
        </p:nvSpPr>
        <p:spPr>
          <a:xfrm>
            <a:off x="731520" y="3648456"/>
            <a:ext cx="5029200" cy="219456"/>
          </a:xfrm>
          <a:prstGeom prst="rect">
            <a:avLst/>
          </a:prstGeom>
          <a:noFill/>
        </p:spPr>
        <p:txBody>
          <a:bodyPr wrap="square" anchor="t" lIns="0" rIns="0" tIns="0" bIns="0">
            <a:spAutoFit/>
          </a:bodyPr>
          <a:lstStyle/>
          <a:p>
            <a:pPr algn="l"/>
            <a:r>
              <a:rPr sz="950" b="1">
                <a:solidFill>
                  <a:srgbClr val="6F757E"/>
                </a:solidFill>
                <a:latin typeface="Consolas"/>
              </a:rPr>
              <a:t>Proof one</a:t>
            </a:r>
          </a:p>
        </p:txBody>
      </p:sp>
      <p:sp>
        <p:nvSpPr>
          <p:cNvPr id="24" name="TextBox 23"/>
          <p:cNvSpPr txBox="1"/>
          <p:nvPr/>
        </p:nvSpPr>
        <p:spPr>
          <a:xfrm>
            <a:off x="731520" y="3877056"/>
            <a:ext cx="5029200" cy="256032"/>
          </a:xfrm>
          <a:prstGeom prst="rect">
            <a:avLst/>
          </a:prstGeom>
          <a:noFill/>
        </p:spPr>
        <p:txBody>
          <a:bodyPr wrap="square" anchor="t" lIns="0" rIns="0" tIns="0" bIns="0">
            <a:spAutoFit/>
          </a:bodyPr>
          <a:lstStyle/>
          <a:p>
            <a:pPr algn="l"/>
            <a:r>
              <a:rPr sz="1250" b="1">
                <a:solidFill>
                  <a:srgbClr val="1C1F23"/>
                </a:solidFill>
                <a:latin typeface="Calibri"/>
              </a:rPr>
              <a:t>We removed 70,977 wrong records and the number got WORSE</a:t>
            </a:r>
          </a:p>
        </p:txBody>
      </p:sp>
      <p:sp>
        <p:nvSpPr>
          <p:cNvPr id="25" name="TextBox 24"/>
          <p:cNvSpPr txBox="1"/>
          <p:nvPr/>
        </p:nvSpPr>
        <p:spPr>
          <a:xfrm>
            <a:off x="731520" y="4169664"/>
            <a:ext cx="5029200" cy="786384"/>
          </a:xfrm>
          <a:prstGeom prst="rect">
            <a:avLst/>
          </a:prstGeom>
          <a:noFill/>
        </p:spPr>
        <p:txBody>
          <a:bodyPr wrap="square" anchor="t" lIns="0" rIns="0" tIns="0" bIns="0">
            <a:spAutoFit/>
          </a:bodyPr>
          <a:lstStyle/>
          <a:p>
            <a:pPr algn="l">
              <a:lnSpc>
                <a:spcPct val="120000"/>
              </a:lnSpc>
            </a:pPr>
            <a:r>
              <a:rPr sz="1050" b="0">
                <a:solidFill>
                  <a:srgbClr val="464B52"/>
                </a:solidFill>
                <a:latin typeface="Calibri"/>
              </a:rPr>
              <a:t>Moving junior researcher out of the senior group took the share below 0.75 from 0.1561 to 0.1620. The count of low-confidence records was 304,478 before and 304,478 after - identical, because everything removed had scored ABOVE 0.75. The denominator shrank and the numerator did not.</a:t>
            </a:r>
          </a:p>
        </p:txBody>
      </p:sp>
      <p:sp>
        <p:nvSpPr>
          <p:cNvPr id="26" name="Rectangle 25"/>
          <p:cNvSpPr/>
          <p:nvPr/>
        </p:nvSpPr>
        <p:spPr>
          <a:xfrm>
            <a:off x="6245352" y="3529584"/>
            <a:ext cx="5385816" cy="1481328"/>
          </a:xfrm>
          <a:prstGeom prst="rect">
            <a:avLst/>
          </a:prstGeom>
          <a:solidFill>
            <a:srgbClr val="FFFFFF"/>
          </a:solidFill>
          <a:ln w="12700">
            <a:solidFill>
              <a:srgbClr val="1C1F23"/>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7" name="TextBox 26"/>
          <p:cNvSpPr txBox="1"/>
          <p:nvPr/>
        </p:nvSpPr>
        <p:spPr>
          <a:xfrm>
            <a:off x="6409944" y="3648456"/>
            <a:ext cx="5029200" cy="219456"/>
          </a:xfrm>
          <a:prstGeom prst="rect">
            <a:avLst/>
          </a:prstGeom>
          <a:noFill/>
        </p:spPr>
        <p:txBody>
          <a:bodyPr wrap="square" anchor="t" lIns="0" rIns="0" tIns="0" bIns="0">
            <a:spAutoFit/>
          </a:bodyPr>
          <a:lstStyle/>
          <a:p>
            <a:pPr algn="l"/>
            <a:r>
              <a:rPr sz="950" b="1">
                <a:solidFill>
                  <a:srgbClr val="6F757E"/>
                </a:solidFill>
                <a:latin typeface="Consolas"/>
              </a:rPr>
              <a:t>Proof two</a:t>
            </a:r>
          </a:p>
        </p:txBody>
      </p:sp>
      <p:sp>
        <p:nvSpPr>
          <p:cNvPr id="28" name="TextBox 27"/>
          <p:cNvSpPr txBox="1"/>
          <p:nvPr/>
        </p:nvSpPr>
        <p:spPr>
          <a:xfrm>
            <a:off x="6409944" y="3877056"/>
            <a:ext cx="5029200" cy="256032"/>
          </a:xfrm>
          <a:prstGeom prst="rect">
            <a:avLst/>
          </a:prstGeom>
          <a:noFill/>
        </p:spPr>
        <p:txBody>
          <a:bodyPr wrap="square" anchor="t" lIns="0" rIns="0" tIns="0" bIns="0">
            <a:spAutoFit/>
          </a:bodyPr>
          <a:lstStyle/>
          <a:p>
            <a:pPr algn="l"/>
            <a:r>
              <a:rPr sz="1250" b="1">
                <a:solidFill>
                  <a:srgbClr val="1C1F23"/>
                </a:solidFill>
                <a:latin typeface="Calibri"/>
              </a:rPr>
              <a:t>The number is partly a measure of title LENGTH</a:t>
            </a:r>
          </a:p>
        </p:txBody>
      </p:sp>
      <p:sp>
        <p:nvSpPr>
          <p:cNvPr id="29" name="TextBox 28"/>
          <p:cNvSpPr txBox="1"/>
          <p:nvPr/>
        </p:nvSpPr>
        <p:spPr>
          <a:xfrm>
            <a:off x="6409944" y="4169664"/>
            <a:ext cx="5029200" cy="786384"/>
          </a:xfrm>
          <a:prstGeom prst="rect">
            <a:avLst/>
          </a:prstGeom>
          <a:noFill/>
        </p:spPr>
        <p:txBody>
          <a:bodyPr wrap="square" anchor="t" lIns="0" rIns="0" tIns="0" bIns="0">
            <a:spAutoFit/>
          </a:bodyPr>
          <a:lstStyle/>
          <a:p>
            <a:pPr algn="l">
              <a:lnSpc>
                <a:spcPct val="120000"/>
              </a:lnSpc>
            </a:pPr>
            <a:r>
              <a:rPr sz="1050" b="0">
                <a:solidFill>
                  <a:srgbClr val="464B52"/>
                </a:solidFill>
                <a:latin typeface="Calibri"/>
              </a:rPr>
              <a:t>head of national reference laboratory nrl for bovine tuberculosis -&gt; 0.711.   librarian -&gt; 1.000. Both correct; one is nine words. So a group with long, specific vocabulary always looks dirtier whatever its accuracy, and the number is NOT comparable between groups.</a:t>
            </a:r>
          </a:p>
        </p:txBody>
      </p:sp>
      <p:sp>
        <p:nvSpPr>
          <p:cNvPr id="30" name="Rectangle 29"/>
          <p:cNvSpPr/>
          <p:nvPr/>
        </p:nvSpPr>
        <p:spPr>
          <a:xfrm>
            <a:off x="566928" y="5157216"/>
            <a:ext cx="11064240" cy="786384"/>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1" name="TextBox 30"/>
          <p:cNvSpPr txBox="1"/>
          <p:nvPr/>
        </p:nvSpPr>
        <p:spPr>
          <a:xfrm>
            <a:off x="822960" y="5248656"/>
            <a:ext cx="10515600" cy="603504"/>
          </a:xfrm>
          <a:prstGeom prst="rect">
            <a:avLst/>
          </a:prstGeom>
          <a:noFill/>
        </p:spPr>
        <p:txBody>
          <a:bodyPr wrap="square" anchor="t" lIns="0" rIns="0" tIns="0" bIns="0">
            <a:spAutoFit/>
          </a:bodyPr>
          <a:lstStyle/>
          <a:p>
            <a:pPr algn="l"/>
            <a:r>
              <a:rPr sz="1200" b="1">
                <a:solidFill>
                  <a:srgbClr val="6CB3AC"/>
                </a:solidFill>
                <a:latin typeface="Calibri"/>
              </a:rPr>
              <a:t>What we have instead:  </a:t>
            </a:r>
          </a:p>
          <a:p>
            <a:pPr algn="l"/>
            <a:r>
              <a:rPr sz="1200" b="0">
                <a:solidFill>
                  <a:srgbClr val="D6D8D5"/>
                </a:solidFill>
                <a:latin typeface="Calibri"/>
              </a:rPr>
              <a:t>every decision is inspectable - the words typed, the anchor matched, the distance, and whether a person or the model decided. Plus ten automated tests guarding the specific ways this system has failed before.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8A3D5E"/>
                </a:solidFill>
                <a:latin typeface="Consolas"/>
              </a:rPr>
              <a:t>profession  /  practitioner</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Practitioner</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Clinicians who treat patients. 58 anchors - the most of any group, and it started the month with 19.</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11064240" cy="365760"/>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13232" y="2039112"/>
            <a:ext cx="914400" cy="219456"/>
          </a:xfrm>
          <a:prstGeom prst="rect">
            <a:avLst/>
          </a:prstGeom>
          <a:noFill/>
        </p:spPr>
        <p:txBody>
          <a:bodyPr wrap="square" anchor="t" lIns="0" rIns="0" tIns="0" bIns="0">
            <a:spAutoFit/>
          </a:bodyPr>
          <a:lstStyle/>
          <a:p>
            <a:pPr algn="l"/>
            <a:r>
              <a:rPr sz="900" b="1">
                <a:solidFill>
                  <a:srgbClr val="6F757E"/>
                </a:solidFill>
                <a:latin typeface="Consolas"/>
              </a:rPr>
              <a:t>FEEDS</a:t>
            </a:r>
          </a:p>
        </p:txBody>
      </p:sp>
      <p:sp>
        <p:nvSpPr>
          <p:cNvPr id="9" name="TextBox 8"/>
          <p:cNvSpPr txBox="1"/>
          <p:nvPr/>
        </p:nvSpPr>
        <p:spPr>
          <a:xfrm>
            <a:off x="1609344" y="2029968"/>
            <a:ext cx="9875520" cy="237744"/>
          </a:xfrm>
          <a:prstGeom prst="rect">
            <a:avLst/>
          </a:prstGeom>
          <a:noFill/>
        </p:spPr>
        <p:txBody>
          <a:bodyPr wrap="square" anchor="t" lIns="0" rIns="0" tIns="0" bIns="0">
            <a:spAutoFit/>
          </a:bodyPr>
          <a:lstStyle/>
          <a:p>
            <a:pPr algn="l"/>
            <a:r>
              <a:rPr sz="1050" b="0">
                <a:solidFill>
                  <a:srgbClr val="1C1F23"/>
                </a:solidFill>
                <a:latin typeface="Consolas"/>
              </a:rPr>
              <a:t>hcp_broad  (title or field, 0.35/0.25/0.40)      hcp_practitioner  (title and field, 0.45/0.15/0.40)</a:t>
            </a:r>
          </a:p>
        </p:txBody>
      </p:sp>
      <p:sp>
        <p:nvSpPr>
          <p:cNvPr id="10" name="TextBox 9"/>
          <p:cNvSpPr txBox="1"/>
          <p:nvPr/>
        </p:nvSpPr>
        <p:spPr>
          <a:xfrm>
            <a:off x="566928" y="2432304"/>
            <a:ext cx="5486400" cy="182880"/>
          </a:xfrm>
          <a:prstGeom prst="rect">
            <a:avLst/>
          </a:prstGeom>
          <a:noFill/>
        </p:spPr>
        <p:txBody>
          <a:bodyPr wrap="square" anchor="t" lIns="0" rIns="0" tIns="0" bIns="0">
            <a:spAutoFit/>
          </a:bodyPr>
          <a:lstStyle/>
          <a:p>
            <a:pPr algn="l"/>
            <a:r>
              <a:rPr sz="900" b="1">
                <a:solidFill>
                  <a:srgbClr val="6F757E"/>
                </a:solidFill>
                <a:latin typeface="Consolas"/>
              </a:rPr>
              <a:t>ANCHORS</a:t>
            </a:r>
          </a:p>
        </p:txBody>
      </p:sp>
      <p:sp>
        <p:nvSpPr>
          <p:cNvPr id="11" name="Rectangle 10"/>
          <p:cNvSpPr/>
          <p:nvPr/>
        </p:nvSpPr>
        <p:spPr>
          <a:xfrm>
            <a:off x="566928" y="2633472"/>
            <a:ext cx="11064240" cy="60350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32000"/>
              </a:lnSpc>
            </a:pPr>
            <a:r>
              <a:rPr sz="1000" b="0">
                <a:solidFill>
                  <a:srgbClr val="464B52"/>
                </a:solidFill>
                <a:latin typeface="Consolas"/>
              </a:rPr>
              <a:t>consultant · physician · medical doctor · surgeon · nurse · dentist · cardiologist · radiologist · psychiatrist · dirigente medico · + 39 added in October: anaesthetist · veterinarian · midwife · paediatrician · oncologist · pathologist · orthodontist · dental hygienist · ...</a:t>
            </a:r>
          </a:p>
        </p:txBody>
      </p:sp>
      <p:sp>
        <p:nvSpPr>
          <p:cNvPr id="12" name="TextBox 11"/>
          <p:cNvSpPr txBox="1"/>
          <p:nvPr/>
        </p:nvSpPr>
        <p:spPr>
          <a:xfrm>
            <a:off x="566928" y="3364992"/>
            <a:ext cx="6675120" cy="182880"/>
          </a:xfrm>
          <a:prstGeom prst="rect">
            <a:avLst/>
          </a:prstGeom>
          <a:noFill/>
        </p:spPr>
        <p:txBody>
          <a:bodyPr wrap="square" anchor="t" lIns="0" rIns="0" tIns="0" bIns="0">
            <a:spAutoFit/>
          </a:bodyPr>
          <a:lstStyle/>
          <a:p>
            <a:pPr algn="l"/>
            <a:r>
              <a:rPr sz="900" b="1">
                <a:solidFill>
                  <a:srgbClr val="6F757E"/>
                </a:solidFill>
                <a:latin typeface="Consolas"/>
              </a:rPr>
              <a:t>WHAT WENT WRONG</a:t>
            </a:r>
          </a:p>
        </p:txBody>
      </p:sp>
      <p:sp>
        <p:nvSpPr>
          <p:cNvPr id="13" name="Rectangle 12"/>
          <p:cNvSpPr/>
          <p:nvPr/>
        </p:nvSpPr>
        <p:spPr>
          <a:xfrm>
            <a:off x="566928" y="3584448"/>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TextBox 13"/>
          <p:cNvSpPr txBox="1"/>
          <p:nvPr/>
        </p:nvSpPr>
        <p:spPr>
          <a:xfrm>
            <a:off x="694944" y="3648456"/>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No anchor existed for whole professions, so the model used the nearest it had. 2,684 veterinarians matched dentist, 2,765 anaesthetists matched neurosurgeon, 2,325 midwives matched nurse.</a:t>
            </a:r>
          </a:p>
        </p:txBody>
      </p:sp>
      <p:sp>
        <p:nvSpPr>
          <p:cNvPr id="15" name="TextBox 14"/>
          <p:cNvSpPr txBox="1"/>
          <p:nvPr/>
        </p:nvSpPr>
        <p:spPr>
          <a:xfrm>
            <a:off x="694944" y="4105656"/>
            <a:ext cx="1097280" cy="201168"/>
          </a:xfrm>
          <a:prstGeom prst="rect">
            <a:avLst/>
          </a:prstGeom>
          <a:noFill/>
        </p:spPr>
        <p:txBody>
          <a:bodyPr wrap="square" anchor="t" lIns="0" rIns="0" tIns="0" bIns="0">
            <a:spAutoFit/>
          </a:bodyPr>
          <a:lstStyle/>
          <a:p>
            <a:pPr algn="l"/>
            <a:r>
              <a:rPr sz="1000" b="1">
                <a:solidFill>
                  <a:srgbClr val="1C1F23"/>
                </a:solidFill>
                <a:latin typeface="Consolas"/>
              </a:rPr>
              <a:t>~24,000</a:t>
            </a:r>
          </a:p>
        </p:txBody>
      </p:sp>
      <p:sp>
        <p:nvSpPr>
          <p:cNvPr id="16" name="TextBox 15"/>
          <p:cNvSpPr txBox="1"/>
          <p:nvPr/>
        </p:nvSpPr>
        <p:spPr>
          <a:xfrm>
            <a:off x="1920240" y="4105656"/>
            <a:ext cx="5120640" cy="201168"/>
          </a:xfrm>
          <a:prstGeom prst="rect">
            <a:avLst/>
          </a:prstGeom>
          <a:noFill/>
        </p:spPr>
        <p:txBody>
          <a:bodyPr wrap="square" anchor="t" lIns="0" rIns="0" tIns="0" bIns="0">
            <a:spAutoFit/>
          </a:bodyPr>
          <a:lstStyle/>
          <a:p>
            <a:pPr algn="l"/>
            <a:r>
              <a:rPr sz="1000" b="0">
                <a:solidFill>
                  <a:srgbClr val="8A3D5E"/>
                </a:solidFill>
                <a:latin typeface="Consolas"/>
              </a:rPr>
              <a:t>-&gt; Added 25 specialty anchors</a:t>
            </a:r>
          </a:p>
        </p:txBody>
      </p:sp>
      <p:sp>
        <p:nvSpPr>
          <p:cNvPr id="17" name="Rectangle 16"/>
          <p:cNvSpPr/>
          <p:nvPr/>
        </p:nvSpPr>
        <p:spPr>
          <a:xfrm>
            <a:off x="566928" y="4379976"/>
            <a:ext cx="6675120" cy="749808"/>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8" name="TextBox 17"/>
          <p:cNvSpPr txBox="1"/>
          <p:nvPr/>
        </p:nvSpPr>
        <p:spPr>
          <a:xfrm>
            <a:off x="694944" y="4443984"/>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pathologist attracted every science ending the same way - epidemiologist 7,779, toxicologist, hydrologist, anatomist. Happened THREE separate times.</a:t>
            </a:r>
          </a:p>
        </p:txBody>
      </p:sp>
      <p:sp>
        <p:nvSpPr>
          <p:cNvPr id="19" name="TextBox 18"/>
          <p:cNvSpPr txBox="1"/>
          <p:nvPr/>
        </p:nvSpPr>
        <p:spPr>
          <a:xfrm>
            <a:off x="694944" y="4901184"/>
            <a:ext cx="1097280" cy="201168"/>
          </a:xfrm>
          <a:prstGeom prst="rect">
            <a:avLst/>
          </a:prstGeom>
          <a:noFill/>
        </p:spPr>
        <p:txBody>
          <a:bodyPr wrap="square" anchor="t" lIns="0" rIns="0" tIns="0" bIns="0">
            <a:spAutoFit/>
          </a:bodyPr>
          <a:lstStyle/>
          <a:p>
            <a:pPr algn="l"/>
            <a:r>
              <a:rPr sz="1000" b="1">
                <a:solidFill>
                  <a:srgbClr val="1C1F23"/>
                </a:solidFill>
                <a:latin typeface="Consolas"/>
              </a:rPr>
              <a:t>~9,200</a:t>
            </a:r>
          </a:p>
        </p:txBody>
      </p:sp>
      <p:sp>
        <p:nvSpPr>
          <p:cNvPr id="20" name="TextBox 19"/>
          <p:cNvSpPr txBox="1"/>
          <p:nvPr/>
        </p:nvSpPr>
        <p:spPr>
          <a:xfrm>
            <a:off x="1920240" y="4901184"/>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 back by hand, three rounds</a:t>
            </a:r>
          </a:p>
        </p:txBody>
      </p:sp>
      <p:sp>
        <p:nvSpPr>
          <p:cNvPr id="21" name="Rectangle 20"/>
          <p:cNvSpPr/>
          <p:nvPr/>
        </p:nvSpPr>
        <p:spPr>
          <a:xfrm>
            <a:off x="566928" y="5175504"/>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2" name="TextBox 21"/>
          <p:cNvSpPr txBox="1"/>
          <p:nvPr/>
        </p:nvSpPr>
        <p:spPr>
          <a:xfrm>
            <a:off x="694944" y="5239512"/>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Titles naming no clinical occupation: advisor 3,307, expert 5,198, business consultant, it consultant, lawyer, personal trainer.</a:t>
            </a:r>
          </a:p>
        </p:txBody>
      </p:sp>
      <p:sp>
        <p:nvSpPr>
          <p:cNvPr id="23" name="TextBox 22"/>
          <p:cNvSpPr txBox="1"/>
          <p:nvPr/>
        </p:nvSpPr>
        <p:spPr>
          <a:xfrm>
            <a:off x="694944" y="5696712"/>
            <a:ext cx="1097280" cy="201168"/>
          </a:xfrm>
          <a:prstGeom prst="rect">
            <a:avLst/>
          </a:prstGeom>
          <a:noFill/>
        </p:spPr>
        <p:txBody>
          <a:bodyPr wrap="square" anchor="t" lIns="0" rIns="0" tIns="0" bIns="0">
            <a:spAutoFit/>
          </a:bodyPr>
          <a:lstStyle/>
          <a:p>
            <a:pPr algn="l"/>
            <a:r>
              <a:rPr sz="1000" b="1">
                <a:solidFill>
                  <a:srgbClr val="1C1F23"/>
                </a:solidFill>
                <a:latin typeface="Consolas"/>
              </a:rPr>
              <a:t>~28,000</a:t>
            </a:r>
          </a:p>
        </p:txBody>
      </p:sp>
      <p:sp>
        <p:nvSpPr>
          <p:cNvPr id="24" name="TextBox 23"/>
          <p:cNvSpPr txBox="1"/>
          <p:nvPr/>
        </p:nvSpPr>
        <p:spPr>
          <a:xfrm>
            <a:off x="1920240" y="5696712"/>
            <a:ext cx="5120640" cy="201168"/>
          </a:xfrm>
          <a:prstGeom prst="rect">
            <a:avLst/>
          </a:prstGeom>
          <a:noFill/>
        </p:spPr>
        <p:txBody>
          <a:bodyPr wrap="square" anchor="t" lIns="0" rIns="0" tIns="0" bIns="0">
            <a:spAutoFit/>
          </a:bodyPr>
          <a:lstStyle/>
          <a:p>
            <a:pPr algn="l"/>
            <a:r>
              <a:rPr sz="1000" b="0">
                <a:solidFill>
                  <a:srgbClr val="8A3D5E"/>
                </a:solidFill>
                <a:latin typeface="Consolas"/>
              </a:rPr>
              <a:t>-&gt; Rejected or moved</a:t>
            </a:r>
          </a:p>
        </p:txBody>
      </p:sp>
      <p:sp>
        <p:nvSpPr>
          <p:cNvPr id="25" name="Rectangle 24"/>
          <p:cNvSpPr/>
          <p:nvPr/>
        </p:nvSpPr>
        <p:spPr>
          <a:xfrm>
            <a:off x="7424927" y="3584448"/>
            <a:ext cx="4206240" cy="2350008"/>
          </a:xfrm>
          <a:prstGeom prst="rect">
            <a:avLst/>
          </a:prstGeom>
          <a:solidFill>
            <a:srgbClr val="FFFFFF"/>
          </a:solidFill>
          <a:ln w="15875">
            <a:solidFill>
              <a:srgbClr val="9B3B2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Rectangle 25"/>
          <p:cNvSpPr/>
          <p:nvPr/>
        </p:nvSpPr>
        <p:spPr>
          <a:xfrm>
            <a:off x="7424927" y="3584448"/>
            <a:ext cx="4206240" cy="41148"/>
          </a:xfrm>
          <a:prstGeom prst="rect">
            <a:avLst/>
          </a:prstGeom>
          <a:solidFill>
            <a:srgbClr val="9B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3730752"/>
            <a:ext cx="3877056" cy="402336"/>
          </a:xfrm>
          <a:prstGeom prst="rect">
            <a:avLst/>
          </a:prstGeom>
          <a:noFill/>
        </p:spPr>
        <p:txBody>
          <a:bodyPr wrap="square" anchor="t" lIns="0" rIns="0" tIns="0" bIns="0">
            <a:spAutoFit/>
          </a:bodyPr>
          <a:lstStyle/>
          <a:p>
            <a:pPr algn="l">
              <a:lnSpc>
                <a:spcPct val="114000"/>
              </a:lnSpc>
            </a:pPr>
            <a:r>
              <a:rPr sz="1150" b="1">
                <a:solidFill>
                  <a:srgbClr val="9B3B2F"/>
                </a:solidFill>
                <a:latin typeface="Calibri"/>
              </a:rPr>
              <a:t>The one we chose not to fix</a:t>
            </a:r>
          </a:p>
        </p:txBody>
      </p:sp>
      <p:sp>
        <p:nvSpPr>
          <p:cNvPr id="28" name="TextBox 27"/>
          <p:cNvSpPr txBox="1"/>
          <p:nvPr/>
        </p:nvSpPr>
        <p:spPr>
          <a:xfrm>
            <a:off x="7607808" y="4187952"/>
            <a:ext cx="3877056" cy="1682496"/>
          </a:xfrm>
          <a:prstGeom prst="rect">
            <a:avLst/>
          </a:prstGeom>
          <a:noFill/>
        </p:spPr>
        <p:txBody>
          <a:bodyPr wrap="square" anchor="t" lIns="0" rIns="0" tIns="0" bIns="0">
            <a:spAutoFit/>
          </a:bodyPr>
          <a:lstStyle/>
          <a:p>
            <a:pPr algn="l">
              <a:lnSpc>
                <a:spcPct val="122000"/>
              </a:lnSpc>
            </a:pPr>
            <a:r>
              <a:rPr sz="1000" b="0">
                <a:solidFill>
                  <a:srgbClr val="464B52"/>
                </a:solidFill>
                <a:latin typeface="Calibri"/>
              </a:rPr>
              <a:t>consultant carries 253,841 records. In Britain it is a hospital specialist; everywhere else a business adviser - and the wrong ones score HIGHER (business consultant 0.843 vs consultant paediatrician 0.699), so no threshold separates them.
We measured the leak instead. Confirming on a title alone needs an exact match AND a resolved organisation = exactly 0.60, so business consultant cannot get in arithmetically. Only ~1,008 people are in on a title alone.</a:t>
            </a:r>
          </a:p>
        </p:txBody>
      </p:sp>
      <p:sp>
        <p:nvSpPr>
          <p:cNvPr id="29" name="Rectangle 28"/>
          <p:cNvSpPr/>
          <p:nvPr/>
        </p:nvSpPr>
        <p:spPr>
          <a:xfrm>
            <a:off x="56692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0" name="TextBox 29"/>
          <p:cNvSpPr txBox="1"/>
          <p:nvPr/>
        </p:nvSpPr>
        <p:spPr>
          <a:xfrm>
            <a:off x="69494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41% → 34%</a:t>
            </a:r>
          </a:p>
        </p:txBody>
      </p:sp>
      <p:sp>
        <p:nvSpPr>
          <p:cNvPr id="31" name="TextBox 30"/>
          <p:cNvSpPr txBox="1"/>
          <p:nvPr/>
        </p:nvSpPr>
        <p:spPr>
          <a:xfrm>
            <a:off x="69494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unsure, over October</a:t>
            </a:r>
          </a:p>
        </p:txBody>
      </p:sp>
      <p:sp>
        <p:nvSpPr>
          <p:cNvPr id="32" name="Rectangle 31"/>
          <p:cNvSpPr/>
          <p:nvPr/>
        </p:nvSpPr>
        <p:spPr>
          <a:xfrm>
            <a:off x="335584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3" name="TextBox 32"/>
          <p:cNvSpPr txBox="1"/>
          <p:nvPr/>
        </p:nvSpPr>
        <p:spPr>
          <a:xfrm>
            <a:off x="3483864" y="6007608"/>
            <a:ext cx="2468879" cy="301752"/>
          </a:xfrm>
          <a:prstGeom prst="rect">
            <a:avLst/>
          </a:prstGeom>
          <a:noFill/>
        </p:spPr>
        <p:txBody>
          <a:bodyPr wrap="square" anchor="t" lIns="0" rIns="0" tIns="0" bIns="0">
            <a:spAutoFit/>
          </a:bodyPr>
          <a:lstStyle/>
          <a:p>
            <a:pPr algn="l"/>
            <a:r>
              <a:rPr sz="1900" b="1">
                <a:solidFill>
                  <a:srgbClr val="9B3B2F"/>
                </a:solidFill>
                <a:latin typeface="Consolas"/>
              </a:rPr>
              <a:t>~38%</a:t>
            </a:r>
          </a:p>
        </p:txBody>
      </p:sp>
      <p:sp>
        <p:nvSpPr>
          <p:cNvPr id="34" name="TextBox 33"/>
          <p:cNvSpPr txBox="1"/>
          <p:nvPr/>
        </p:nvSpPr>
        <p:spPr>
          <a:xfrm>
            <a:off x="348386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of records read - the lowest</a:t>
            </a:r>
          </a:p>
        </p:txBody>
      </p:sp>
      <p:sp>
        <p:nvSpPr>
          <p:cNvPr id="35" name="Rectangle 34"/>
          <p:cNvSpPr/>
          <p:nvPr/>
        </p:nvSpPr>
        <p:spPr>
          <a:xfrm>
            <a:off x="614476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272783" y="6007608"/>
            <a:ext cx="2468879" cy="301752"/>
          </a:xfrm>
          <a:prstGeom prst="rect">
            <a:avLst/>
          </a:prstGeom>
          <a:noFill/>
        </p:spPr>
        <p:txBody>
          <a:bodyPr wrap="square" anchor="t" lIns="0" rIns="0" tIns="0" bIns="0">
            <a:spAutoFit/>
          </a:bodyPr>
          <a:lstStyle/>
          <a:p>
            <a:pPr algn="l"/>
            <a:r>
              <a:rPr sz="1900" b="1">
                <a:solidFill>
                  <a:srgbClr val="8A3D5E"/>
                </a:solidFill>
                <a:latin typeface="Consolas"/>
              </a:rPr>
              <a:t>+204,930</a:t>
            </a:r>
          </a:p>
        </p:txBody>
      </p:sp>
      <p:sp>
        <p:nvSpPr>
          <p:cNvPr id="37" name="TextBox 36"/>
          <p:cNvSpPr txBox="1"/>
          <p:nvPr/>
        </p:nvSpPr>
        <p:spPr>
          <a:xfrm>
            <a:off x="627278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net records, from new anchors</a:t>
            </a:r>
          </a:p>
        </p:txBody>
      </p:sp>
      <p:sp>
        <p:nvSpPr>
          <p:cNvPr id="38" name="Rectangle 37"/>
          <p:cNvSpPr/>
          <p:nvPr/>
        </p:nvSpPr>
        <p:spPr>
          <a:xfrm>
            <a:off x="8933687"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9" name="TextBox 38"/>
          <p:cNvSpPr txBox="1"/>
          <p:nvPr/>
        </p:nvSpPr>
        <p:spPr>
          <a:xfrm>
            <a:off x="9061703" y="6007608"/>
            <a:ext cx="2468879" cy="301752"/>
          </a:xfrm>
          <a:prstGeom prst="rect">
            <a:avLst/>
          </a:prstGeom>
          <a:noFill/>
        </p:spPr>
        <p:txBody>
          <a:bodyPr wrap="square" anchor="t" lIns="0" rIns="0" tIns="0" bIns="0">
            <a:spAutoFit/>
          </a:bodyPr>
          <a:lstStyle/>
          <a:p>
            <a:pPr algn="l"/>
            <a:r>
              <a:rPr sz="1900" b="1">
                <a:solidFill>
                  <a:srgbClr val="1C1F23"/>
                </a:solidFill>
                <a:latin typeface="Consolas"/>
              </a:rPr>
              <a:t>60,937</a:t>
            </a:r>
          </a:p>
        </p:txBody>
      </p:sp>
      <p:sp>
        <p:nvSpPr>
          <p:cNvPr id="40" name="TextBox 39"/>
          <p:cNvSpPr txBox="1"/>
          <p:nvPr/>
        </p:nvSpPr>
        <p:spPr>
          <a:xfrm>
            <a:off x="906170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Practitioner audience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8A3D5E"/>
                </a:solidFill>
                <a:latin typeface="Consolas"/>
              </a:rPr>
              <a:t>profession  /  trainee_clinical</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Clinical trainee</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Doctors in training. Eight anchors - the fewest anywhere - and two of them are ordinary English words.</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11064240" cy="365760"/>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13232" y="2039112"/>
            <a:ext cx="914400" cy="219456"/>
          </a:xfrm>
          <a:prstGeom prst="rect">
            <a:avLst/>
          </a:prstGeom>
          <a:noFill/>
        </p:spPr>
        <p:txBody>
          <a:bodyPr wrap="square" anchor="t" lIns="0" rIns="0" tIns="0" bIns="0">
            <a:spAutoFit/>
          </a:bodyPr>
          <a:lstStyle/>
          <a:p>
            <a:pPr algn="l"/>
            <a:r>
              <a:rPr sz="900" b="1">
                <a:solidFill>
                  <a:srgbClr val="6F757E"/>
                </a:solidFill>
                <a:latin typeface="Consolas"/>
              </a:rPr>
              <a:t>FEEDS</a:t>
            </a:r>
          </a:p>
        </p:txBody>
      </p:sp>
      <p:sp>
        <p:nvSpPr>
          <p:cNvPr id="9" name="TextBox 8"/>
          <p:cNvSpPr txBox="1"/>
          <p:nvPr/>
        </p:nvSpPr>
        <p:spPr>
          <a:xfrm>
            <a:off x="1609344" y="2029968"/>
            <a:ext cx="9875520" cy="237744"/>
          </a:xfrm>
          <a:prstGeom prst="rect">
            <a:avLst/>
          </a:prstGeom>
          <a:noFill/>
        </p:spPr>
        <p:txBody>
          <a:bodyPr wrap="square" anchor="t" lIns="0" rIns="0" tIns="0" bIns="0">
            <a:spAutoFit/>
          </a:bodyPr>
          <a:lstStyle/>
          <a:p>
            <a:pPr algn="l"/>
            <a:r>
              <a:rPr sz="1050" b="0">
                <a:solidFill>
                  <a:srgbClr val="1C1F23"/>
                </a:solidFill>
                <a:latin typeface="Consolas"/>
              </a:rPr>
              <a:t>hcp_broad      hcp_practitioner        (the same two as Practitioner, so moving a title between them changes no audience)</a:t>
            </a:r>
          </a:p>
        </p:txBody>
      </p:sp>
      <p:sp>
        <p:nvSpPr>
          <p:cNvPr id="10" name="TextBox 9"/>
          <p:cNvSpPr txBox="1"/>
          <p:nvPr/>
        </p:nvSpPr>
        <p:spPr>
          <a:xfrm>
            <a:off x="566928" y="2432304"/>
            <a:ext cx="5486400" cy="182880"/>
          </a:xfrm>
          <a:prstGeom prst="rect">
            <a:avLst/>
          </a:prstGeom>
          <a:noFill/>
        </p:spPr>
        <p:txBody>
          <a:bodyPr wrap="square" anchor="t" lIns="0" rIns="0" tIns="0" bIns="0">
            <a:spAutoFit/>
          </a:bodyPr>
          <a:lstStyle/>
          <a:p>
            <a:pPr algn="l"/>
            <a:r>
              <a:rPr sz="900" b="1">
                <a:solidFill>
                  <a:srgbClr val="6F757E"/>
                </a:solidFill>
                <a:latin typeface="Consolas"/>
              </a:rPr>
              <a:t>ANCHORS</a:t>
            </a:r>
          </a:p>
        </p:txBody>
      </p:sp>
      <p:sp>
        <p:nvSpPr>
          <p:cNvPr id="11" name="Rectangle 10"/>
          <p:cNvSpPr/>
          <p:nvPr/>
        </p:nvSpPr>
        <p:spPr>
          <a:xfrm>
            <a:off x="566928" y="2633472"/>
            <a:ext cx="11064240" cy="60350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32000"/>
              </a:lnSpc>
            </a:pPr>
            <a:r>
              <a:rPr sz="1000" b="0">
                <a:solidFill>
                  <a:srgbClr val="464B52"/>
                </a:solidFill>
                <a:latin typeface="Consolas"/>
              </a:rPr>
              <a:t>resident · resident physician · senior resident · specialist registrar · clinical fellow · intern · house officer · medical resident</a:t>
            </a:r>
          </a:p>
        </p:txBody>
      </p:sp>
      <p:sp>
        <p:nvSpPr>
          <p:cNvPr id="12" name="TextBox 11"/>
          <p:cNvSpPr txBox="1"/>
          <p:nvPr/>
        </p:nvSpPr>
        <p:spPr>
          <a:xfrm>
            <a:off x="566928" y="3364992"/>
            <a:ext cx="6675120" cy="182880"/>
          </a:xfrm>
          <a:prstGeom prst="rect">
            <a:avLst/>
          </a:prstGeom>
          <a:noFill/>
        </p:spPr>
        <p:txBody>
          <a:bodyPr wrap="square" anchor="t" lIns="0" rIns="0" tIns="0" bIns="0">
            <a:spAutoFit/>
          </a:bodyPr>
          <a:lstStyle/>
          <a:p>
            <a:pPr algn="l"/>
            <a:r>
              <a:rPr sz="900" b="1">
                <a:solidFill>
                  <a:srgbClr val="6F757E"/>
                </a:solidFill>
                <a:latin typeface="Consolas"/>
              </a:rPr>
              <a:t>WHAT WENT WRONG</a:t>
            </a:r>
          </a:p>
        </p:txBody>
      </p:sp>
      <p:sp>
        <p:nvSpPr>
          <p:cNvPr id="13" name="Rectangle 12"/>
          <p:cNvSpPr/>
          <p:nvPr/>
        </p:nvSpPr>
        <p:spPr>
          <a:xfrm>
            <a:off x="566928" y="3584448"/>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TextBox 13"/>
          <p:cNvSpPr txBox="1"/>
          <p:nvPr/>
        </p:nvSpPr>
        <p:spPr>
          <a:xfrm>
            <a:off x="694944" y="3648456"/>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Training positions with no clinical content. internship 19,557 - a word naming no profession at all - trainee 15,298, estagiário, stagiaire, praktikant.</a:t>
            </a:r>
          </a:p>
        </p:txBody>
      </p:sp>
      <p:sp>
        <p:nvSpPr>
          <p:cNvPr id="15" name="TextBox 14"/>
          <p:cNvSpPr txBox="1"/>
          <p:nvPr/>
        </p:nvSpPr>
        <p:spPr>
          <a:xfrm>
            <a:off x="694944" y="4105656"/>
            <a:ext cx="1097280" cy="201168"/>
          </a:xfrm>
          <a:prstGeom prst="rect">
            <a:avLst/>
          </a:prstGeom>
          <a:noFill/>
        </p:spPr>
        <p:txBody>
          <a:bodyPr wrap="square" anchor="t" lIns="0" rIns="0" tIns="0" bIns="0">
            <a:spAutoFit/>
          </a:bodyPr>
          <a:lstStyle/>
          <a:p>
            <a:pPr algn="l"/>
            <a:r>
              <a:rPr sz="1000" b="1">
                <a:solidFill>
                  <a:srgbClr val="1C1F23"/>
                </a:solidFill>
                <a:latin typeface="Consolas"/>
              </a:rPr>
              <a:t>52,570</a:t>
            </a:r>
          </a:p>
        </p:txBody>
      </p:sp>
      <p:sp>
        <p:nvSpPr>
          <p:cNvPr id="16" name="TextBox 15"/>
          <p:cNvSpPr txBox="1"/>
          <p:nvPr/>
        </p:nvSpPr>
        <p:spPr>
          <a:xfrm>
            <a:off x="1920240" y="4105656"/>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 to student</a:t>
            </a:r>
          </a:p>
        </p:txBody>
      </p:sp>
      <p:sp>
        <p:nvSpPr>
          <p:cNvPr id="17" name="Rectangle 16"/>
          <p:cNvSpPr/>
          <p:nvPr/>
        </p:nvSpPr>
        <p:spPr>
          <a:xfrm>
            <a:off x="566928" y="4379976"/>
            <a:ext cx="6675120" cy="749808"/>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8" name="TextBox 17"/>
          <p:cNvSpPr txBox="1"/>
          <p:nvPr/>
        </p:nvSpPr>
        <p:spPr>
          <a:xfrm>
            <a:off x="694944" y="4443984"/>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Industry internships: engineering, data science and machine learning interns, volunteer 2,010, visitor 1,594, observer 672.</a:t>
            </a:r>
          </a:p>
        </p:txBody>
      </p:sp>
      <p:sp>
        <p:nvSpPr>
          <p:cNvPr id="19" name="TextBox 18"/>
          <p:cNvSpPr txBox="1"/>
          <p:nvPr/>
        </p:nvSpPr>
        <p:spPr>
          <a:xfrm>
            <a:off x="694944" y="4901184"/>
            <a:ext cx="1097280" cy="201168"/>
          </a:xfrm>
          <a:prstGeom prst="rect">
            <a:avLst/>
          </a:prstGeom>
          <a:noFill/>
        </p:spPr>
        <p:txBody>
          <a:bodyPr wrap="square" anchor="t" lIns="0" rIns="0" tIns="0" bIns="0">
            <a:spAutoFit/>
          </a:bodyPr>
          <a:lstStyle/>
          <a:p>
            <a:pPr algn="l"/>
            <a:r>
              <a:rPr sz="1000" b="1">
                <a:solidFill>
                  <a:srgbClr val="1C1F23"/>
                </a:solidFill>
                <a:latin typeface="Consolas"/>
              </a:rPr>
              <a:t>12,312</a:t>
            </a:r>
          </a:p>
        </p:txBody>
      </p:sp>
      <p:sp>
        <p:nvSpPr>
          <p:cNvPr id="20" name="TextBox 19"/>
          <p:cNvSpPr txBox="1"/>
          <p:nvPr/>
        </p:nvSpPr>
        <p:spPr>
          <a:xfrm>
            <a:off x="1920240" y="4901184"/>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 to support</a:t>
            </a:r>
          </a:p>
        </p:txBody>
      </p:sp>
      <p:sp>
        <p:nvSpPr>
          <p:cNvPr id="21" name="Rectangle 20"/>
          <p:cNvSpPr/>
          <p:nvPr/>
        </p:nvSpPr>
        <p:spPr>
          <a:xfrm>
            <a:off x="566928" y="5175504"/>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2" name="TextBox 21"/>
          <p:cNvSpPr txBox="1"/>
          <p:nvPr/>
        </p:nvSpPr>
        <p:spPr>
          <a:xfrm>
            <a:off x="694944" y="5239512"/>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SEVEN FULLY QUALIFIED CLINICIANS were in the trainee group. internist 1,286 reached intern on its first six letters. Also clinician 1,597, 副主任医师 594, senior staff specialist 675.</a:t>
            </a:r>
          </a:p>
        </p:txBody>
      </p:sp>
      <p:sp>
        <p:nvSpPr>
          <p:cNvPr id="23" name="TextBox 22"/>
          <p:cNvSpPr txBox="1"/>
          <p:nvPr/>
        </p:nvSpPr>
        <p:spPr>
          <a:xfrm>
            <a:off x="694944" y="5696712"/>
            <a:ext cx="1097280" cy="201168"/>
          </a:xfrm>
          <a:prstGeom prst="rect">
            <a:avLst/>
          </a:prstGeom>
          <a:noFill/>
        </p:spPr>
        <p:txBody>
          <a:bodyPr wrap="square" anchor="t" lIns="0" rIns="0" tIns="0" bIns="0">
            <a:spAutoFit/>
          </a:bodyPr>
          <a:lstStyle/>
          <a:p>
            <a:pPr algn="l"/>
            <a:r>
              <a:rPr sz="1000" b="1">
                <a:solidFill>
                  <a:srgbClr val="1C1F23"/>
                </a:solidFill>
                <a:latin typeface="Consolas"/>
              </a:rPr>
              <a:t>6,104</a:t>
            </a:r>
          </a:p>
        </p:txBody>
      </p:sp>
      <p:sp>
        <p:nvSpPr>
          <p:cNvPr id="24" name="TextBox 23"/>
          <p:cNvSpPr txBox="1"/>
          <p:nvPr/>
        </p:nvSpPr>
        <p:spPr>
          <a:xfrm>
            <a:off x="1920240" y="5696712"/>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 to practitioner</a:t>
            </a:r>
          </a:p>
        </p:txBody>
      </p:sp>
      <p:sp>
        <p:nvSpPr>
          <p:cNvPr id="25" name="Rectangle 24"/>
          <p:cNvSpPr/>
          <p:nvPr/>
        </p:nvSpPr>
        <p:spPr>
          <a:xfrm>
            <a:off x="7424927" y="3584448"/>
            <a:ext cx="4206240" cy="2350008"/>
          </a:xfrm>
          <a:prstGeom prst="rect">
            <a:avLst/>
          </a:prstGeom>
          <a:solidFill>
            <a:srgbClr val="FFFFFF"/>
          </a:solidFill>
          <a:ln w="15875">
            <a:solidFill>
              <a:srgbClr val="1F6F6A"/>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Rectangle 25"/>
          <p:cNvSpPr/>
          <p:nvPr/>
        </p:nvSpPr>
        <p:spPr>
          <a:xfrm>
            <a:off x="7424927" y="3584448"/>
            <a:ext cx="4206240" cy="41148"/>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3730752"/>
            <a:ext cx="3877056" cy="402336"/>
          </a:xfrm>
          <a:prstGeom prst="rect">
            <a:avLst/>
          </a:prstGeom>
          <a:noFill/>
        </p:spPr>
        <p:txBody>
          <a:bodyPr wrap="square" anchor="t" lIns="0" rIns="0" tIns="0" bIns="0">
            <a:spAutoFit/>
          </a:bodyPr>
          <a:lstStyle/>
          <a:p>
            <a:pPr algn="l">
              <a:lnSpc>
                <a:spcPct val="114000"/>
              </a:lnSpc>
            </a:pPr>
            <a:r>
              <a:rPr sz="1150" b="1">
                <a:solidFill>
                  <a:srgbClr val="1F6F6A"/>
                </a:solidFill>
                <a:latin typeface="Calibri"/>
              </a:rPr>
              <a:t>What decides whether an anchor leaks</a:t>
            </a:r>
          </a:p>
        </p:txBody>
      </p:sp>
      <p:sp>
        <p:nvSpPr>
          <p:cNvPr id="28" name="TextBox 27"/>
          <p:cNvSpPr txBox="1"/>
          <p:nvPr/>
        </p:nvSpPr>
        <p:spPr>
          <a:xfrm>
            <a:off x="7607808" y="4187952"/>
            <a:ext cx="3877056" cy="1682496"/>
          </a:xfrm>
          <a:prstGeom prst="rect">
            <a:avLst/>
          </a:prstGeom>
          <a:noFill/>
        </p:spPr>
        <p:txBody>
          <a:bodyPr wrap="square" anchor="t" lIns="0" rIns="0" tIns="0" bIns="0">
            <a:spAutoFit/>
          </a:bodyPr>
          <a:lstStyle/>
          <a:p>
            <a:pPr algn="l">
              <a:lnSpc>
                <a:spcPct val="122000"/>
              </a:lnSpc>
            </a:pPr>
            <a:r>
              <a:rPr sz="1000" b="0">
                <a:solidFill>
                  <a:srgbClr val="464B52"/>
                </a:solidFill>
                <a:latin typeface="Calibri"/>
              </a:rPr>
              <a:t>intern and resident are both short, ordinary-looking English words. intern carries 3,925 different titles. resident carries 490, for 164,130 records - almost perfectly clean.
So it is not how ambiguous the word looks in English. It is whether people in OTHER professions type it into an ORCID job-title field. Recorded as limitation 2.4h after six of our eight predictions turned out wrong.</a:t>
            </a:r>
          </a:p>
        </p:txBody>
      </p:sp>
      <p:sp>
        <p:nvSpPr>
          <p:cNvPr id="29" name="Rectangle 28"/>
          <p:cNvSpPr/>
          <p:nvPr/>
        </p:nvSpPr>
        <p:spPr>
          <a:xfrm>
            <a:off x="56692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0" name="TextBox 29"/>
          <p:cNvSpPr txBox="1"/>
          <p:nvPr/>
        </p:nvSpPr>
        <p:spPr>
          <a:xfrm>
            <a:off x="69494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20% → 16%</a:t>
            </a:r>
          </a:p>
        </p:txBody>
      </p:sp>
      <p:sp>
        <p:nvSpPr>
          <p:cNvPr id="31" name="TextBox 30"/>
          <p:cNvSpPr txBox="1"/>
          <p:nvPr/>
        </p:nvSpPr>
        <p:spPr>
          <a:xfrm>
            <a:off x="69494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unsure</a:t>
            </a:r>
          </a:p>
        </p:txBody>
      </p:sp>
      <p:sp>
        <p:nvSpPr>
          <p:cNvPr id="32" name="Rectangle 31"/>
          <p:cNvSpPr/>
          <p:nvPr/>
        </p:nvSpPr>
        <p:spPr>
          <a:xfrm>
            <a:off x="335584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3" name="TextBox 32"/>
          <p:cNvSpPr txBox="1"/>
          <p:nvPr/>
        </p:nvSpPr>
        <p:spPr>
          <a:xfrm>
            <a:off x="348386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~68%</a:t>
            </a:r>
          </a:p>
        </p:txBody>
      </p:sp>
      <p:sp>
        <p:nvSpPr>
          <p:cNvPr id="34" name="TextBox 33"/>
          <p:cNvSpPr txBox="1"/>
          <p:nvPr/>
        </p:nvSpPr>
        <p:spPr>
          <a:xfrm>
            <a:off x="348386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of records read, both halves</a:t>
            </a:r>
          </a:p>
        </p:txBody>
      </p:sp>
      <p:sp>
        <p:nvSpPr>
          <p:cNvPr id="35" name="Rectangle 34"/>
          <p:cNvSpPr/>
          <p:nvPr/>
        </p:nvSpPr>
        <p:spPr>
          <a:xfrm>
            <a:off x="614476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272783"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−108,823</a:t>
            </a:r>
          </a:p>
        </p:txBody>
      </p:sp>
      <p:sp>
        <p:nvSpPr>
          <p:cNvPr id="37" name="TextBox 36"/>
          <p:cNvSpPr txBox="1"/>
          <p:nvPr/>
        </p:nvSpPr>
        <p:spPr>
          <a:xfrm>
            <a:off x="627278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net records</a:t>
            </a:r>
          </a:p>
        </p:txBody>
      </p:sp>
      <p:sp>
        <p:nvSpPr>
          <p:cNvPr id="38" name="Rectangle 37"/>
          <p:cNvSpPr/>
          <p:nvPr/>
        </p:nvSpPr>
        <p:spPr>
          <a:xfrm>
            <a:off x="8933687"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9" name="TextBox 38"/>
          <p:cNvSpPr txBox="1"/>
          <p:nvPr/>
        </p:nvSpPr>
        <p:spPr>
          <a:xfrm>
            <a:off x="9061703" y="6007608"/>
            <a:ext cx="2468879" cy="301752"/>
          </a:xfrm>
          <a:prstGeom prst="rect">
            <a:avLst/>
          </a:prstGeom>
          <a:noFill/>
        </p:spPr>
        <p:txBody>
          <a:bodyPr wrap="square" anchor="t" lIns="0" rIns="0" tIns="0" bIns="0">
            <a:spAutoFit/>
          </a:bodyPr>
          <a:lstStyle/>
          <a:p>
            <a:pPr algn="l"/>
            <a:r>
              <a:rPr sz="1900" b="1">
                <a:solidFill>
                  <a:srgbClr val="1C1F23"/>
                </a:solidFill>
                <a:latin typeface="Consolas"/>
              </a:rPr>
              <a:t>8</a:t>
            </a:r>
          </a:p>
        </p:txBody>
      </p:sp>
      <p:sp>
        <p:nvSpPr>
          <p:cNvPr id="40" name="TextBox 39"/>
          <p:cNvSpPr txBox="1"/>
          <p:nvPr/>
        </p:nvSpPr>
        <p:spPr>
          <a:xfrm>
            <a:off x="906170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anchors - the fewest anywhere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8A6410"/>
                </a:solidFill>
                <a:latin typeface="Consolas"/>
              </a:rPr>
              <a:t>profession  /  teaching_academic</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Teaching academic</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12 million records - the largest group - and the one with the least protection against a wrong title.</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11064240" cy="365760"/>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13232" y="2039112"/>
            <a:ext cx="914400" cy="219456"/>
          </a:xfrm>
          <a:prstGeom prst="rect">
            <a:avLst/>
          </a:prstGeom>
          <a:noFill/>
        </p:spPr>
        <p:txBody>
          <a:bodyPr wrap="square" anchor="t" lIns="0" rIns="0" tIns="0" bIns="0">
            <a:spAutoFit/>
          </a:bodyPr>
          <a:lstStyle/>
          <a:p>
            <a:pPr algn="l"/>
            <a:r>
              <a:rPr sz="900" b="1">
                <a:solidFill>
                  <a:srgbClr val="6F757E"/>
                </a:solidFill>
                <a:latin typeface="Consolas"/>
              </a:rPr>
              <a:t>FEEDS</a:t>
            </a:r>
          </a:p>
        </p:txBody>
      </p:sp>
      <p:sp>
        <p:nvSpPr>
          <p:cNvPr id="9" name="TextBox 8"/>
          <p:cNvSpPr txBox="1"/>
          <p:nvPr/>
        </p:nvSpPr>
        <p:spPr>
          <a:xfrm>
            <a:off x="1609344" y="2029968"/>
            <a:ext cx="9875520" cy="237744"/>
          </a:xfrm>
          <a:prstGeom prst="rect">
            <a:avLst/>
          </a:prstGeom>
          <a:noFill/>
        </p:spPr>
        <p:txBody>
          <a:bodyPr wrap="square" anchor="t" lIns="0" rIns="0" tIns="0" bIns="0">
            <a:spAutoFit/>
          </a:bodyPr>
          <a:lstStyle/>
          <a:p>
            <a:pPr algn="l"/>
            <a:r>
              <a:rPr sz="1050" b="0">
                <a:solidFill>
                  <a:srgbClr val="1C1F23"/>
                </a:solidFill>
                <a:latin typeface="Consolas"/>
              </a:rPr>
              <a:t>lecturer  (title required, 0.75 / 0.25 / 0.00, confirm 0.60)       DEPARTMENT WEIGHT IS ZERO</a:t>
            </a:r>
          </a:p>
        </p:txBody>
      </p:sp>
      <p:sp>
        <p:nvSpPr>
          <p:cNvPr id="10" name="TextBox 9"/>
          <p:cNvSpPr txBox="1"/>
          <p:nvPr/>
        </p:nvSpPr>
        <p:spPr>
          <a:xfrm>
            <a:off x="566928" y="2432304"/>
            <a:ext cx="5486400" cy="182880"/>
          </a:xfrm>
          <a:prstGeom prst="rect">
            <a:avLst/>
          </a:prstGeom>
          <a:noFill/>
        </p:spPr>
        <p:txBody>
          <a:bodyPr wrap="square" anchor="t" lIns="0" rIns="0" tIns="0" bIns="0">
            <a:spAutoFit/>
          </a:bodyPr>
          <a:lstStyle/>
          <a:p>
            <a:pPr algn="l"/>
            <a:r>
              <a:rPr sz="900" b="1">
                <a:solidFill>
                  <a:srgbClr val="6F757E"/>
                </a:solidFill>
                <a:latin typeface="Consolas"/>
              </a:rPr>
              <a:t>ANCHORS</a:t>
            </a:r>
          </a:p>
        </p:txBody>
      </p:sp>
      <p:sp>
        <p:nvSpPr>
          <p:cNvPr id="11" name="Rectangle 10"/>
          <p:cNvSpPr/>
          <p:nvPr/>
        </p:nvSpPr>
        <p:spPr>
          <a:xfrm>
            <a:off x="566928" y="2633472"/>
            <a:ext cx="11064240" cy="60350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32000"/>
              </a:lnSpc>
            </a:pPr>
            <a:r>
              <a:rPr sz="1000" b="0">
                <a:solidFill>
                  <a:srgbClr val="464B52"/>
                </a:solidFill>
                <a:latin typeface="Consolas"/>
              </a:rPr>
              <a:t>professor · assistant professor · associate professor · full professor · adjunct professor · visiting professor · lecturer · senior lecturer · assistant lecturer · instructor · teacher · docente · dozent · faculty member · reader</a:t>
            </a:r>
          </a:p>
        </p:txBody>
      </p:sp>
      <p:sp>
        <p:nvSpPr>
          <p:cNvPr id="12" name="TextBox 11"/>
          <p:cNvSpPr txBox="1"/>
          <p:nvPr/>
        </p:nvSpPr>
        <p:spPr>
          <a:xfrm>
            <a:off x="566928" y="3364992"/>
            <a:ext cx="6675120" cy="182880"/>
          </a:xfrm>
          <a:prstGeom prst="rect">
            <a:avLst/>
          </a:prstGeom>
          <a:noFill/>
        </p:spPr>
        <p:txBody>
          <a:bodyPr wrap="square" anchor="t" lIns="0" rIns="0" tIns="0" bIns="0">
            <a:spAutoFit/>
          </a:bodyPr>
          <a:lstStyle/>
          <a:p>
            <a:pPr algn="l"/>
            <a:r>
              <a:rPr sz="900" b="1">
                <a:solidFill>
                  <a:srgbClr val="6F757E"/>
                </a:solidFill>
                <a:latin typeface="Consolas"/>
              </a:rPr>
              <a:t>WHAT WENT WRONG</a:t>
            </a:r>
          </a:p>
        </p:txBody>
      </p:sp>
      <p:sp>
        <p:nvSpPr>
          <p:cNvPr id="13" name="Rectangle 12"/>
          <p:cNvSpPr/>
          <p:nvPr/>
        </p:nvSpPr>
        <p:spPr>
          <a:xfrm>
            <a:off x="566928" y="3584448"/>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TextBox 13"/>
          <p:cNvSpPr txBox="1"/>
          <p:nvPr/>
        </p:nvSpPr>
        <p:spPr>
          <a:xfrm>
            <a:off x="694944" y="3648456"/>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visiting scientist reached visiting professor on the word visiting. A scientist does not teach. The largest single misassignment in the group.</a:t>
            </a:r>
          </a:p>
        </p:txBody>
      </p:sp>
      <p:sp>
        <p:nvSpPr>
          <p:cNvPr id="15" name="TextBox 14"/>
          <p:cNvSpPr txBox="1"/>
          <p:nvPr/>
        </p:nvSpPr>
        <p:spPr>
          <a:xfrm>
            <a:off x="694944" y="4105656"/>
            <a:ext cx="1097280" cy="201168"/>
          </a:xfrm>
          <a:prstGeom prst="rect">
            <a:avLst/>
          </a:prstGeom>
          <a:noFill/>
        </p:spPr>
        <p:txBody>
          <a:bodyPr wrap="square" anchor="t" lIns="0" rIns="0" tIns="0" bIns="0">
            <a:spAutoFit/>
          </a:bodyPr>
          <a:lstStyle/>
          <a:p>
            <a:pPr algn="l"/>
            <a:r>
              <a:rPr sz="1000" b="1">
                <a:solidFill>
                  <a:srgbClr val="1C1F23"/>
                </a:solidFill>
                <a:latin typeface="Consolas"/>
              </a:rPr>
              <a:t>32,662</a:t>
            </a:r>
          </a:p>
        </p:txBody>
      </p:sp>
      <p:sp>
        <p:nvSpPr>
          <p:cNvPr id="16" name="TextBox 15"/>
          <p:cNvSpPr txBox="1"/>
          <p:nvPr/>
        </p:nvSpPr>
        <p:spPr>
          <a:xfrm>
            <a:off x="1920240" y="4105656"/>
            <a:ext cx="5120640" cy="201168"/>
          </a:xfrm>
          <a:prstGeom prst="rect">
            <a:avLst/>
          </a:prstGeom>
          <a:noFill/>
        </p:spPr>
        <p:txBody>
          <a:bodyPr wrap="square" anchor="t" lIns="0" rIns="0" tIns="0" bIns="0">
            <a:spAutoFit/>
          </a:bodyPr>
          <a:lstStyle/>
          <a:p>
            <a:pPr algn="l"/>
            <a:r>
              <a:rPr sz="1000" b="0">
                <a:solidFill>
                  <a:srgbClr val="8A6410"/>
                </a:solidFill>
                <a:latin typeface="Consolas"/>
              </a:rPr>
              <a:t>-&gt; Moved to research</a:t>
            </a:r>
          </a:p>
        </p:txBody>
      </p:sp>
      <p:sp>
        <p:nvSpPr>
          <p:cNvPr id="17" name="Rectangle 16"/>
          <p:cNvSpPr/>
          <p:nvPr/>
        </p:nvSpPr>
        <p:spPr>
          <a:xfrm>
            <a:off x="566928" y="4379976"/>
            <a:ext cx="6675120" cy="749808"/>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8" name="TextBox 17"/>
          <p:cNvSpPr txBox="1"/>
          <p:nvPr/>
        </p:nvSpPr>
        <p:spPr>
          <a:xfrm>
            <a:off x="694944" y="4443984"/>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dozent sits in a nearly empty part of the space, so it attracted anything beginning do-: doutoranda 923, uzm dr 338, and four misspellings of doctor. Also zitna 25 - A STREET ADDRESS IN PRAGUE - at 0.655.</a:t>
            </a:r>
          </a:p>
        </p:txBody>
      </p:sp>
      <p:sp>
        <p:nvSpPr>
          <p:cNvPr id="19" name="TextBox 18"/>
          <p:cNvSpPr txBox="1"/>
          <p:nvPr/>
        </p:nvSpPr>
        <p:spPr>
          <a:xfrm>
            <a:off x="694944" y="4901184"/>
            <a:ext cx="1097280" cy="201168"/>
          </a:xfrm>
          <a:prstGeom prst="rect">
            <a:avLst/>
          </a:prstGeom>
          <a:noFill/>
        </p:spPr>
        <p:txBody>
          <a:bodyPr wrap="square" anchor="t" lIns="0" rIns="0" tIns="0" bIns="0">
            <a:spAutoFit/>
          </a:bodyPr>
          <a:lstStyle/>
          <a:p>
            <a:pPr algn="l"/>
            <a:r>
              <a:rPr sz="1000" b="1">
                <a:solidFill>
                  <a:srgbClr val="1C1F23"/>
                </a:solidFill>
                <a:latin typeface="Consolas"/>
              </a:rPr>
              <a:t>~1,760</a:t>
            </a:r>
          </a:p>
        </p:txBody>
      </p:sp>
      <p:sp>
        <p:nvSpPr>
          <p:cNvPr id="20" name="TextBox 19"/>
          <p:cNvSpPr txBox="1"/>
          <p:nvPr/>
        </p:nvSpPr>
        <p:spPr>
          <a:xfrm>
            <a:off x="1920240" y="4901184"/>
            <a:ext cx="5120640" cy="201168"/>
          </a:xfrm>
          <a:prstGeom prst="rect">
            <a:avLst/>
          </a:prstGeom>
          <a:noFill/>
        </p:spPr>
        <p:txBody>
          <a:bodyPr wrap="square" anchor="t" lIns="0" rIns="0" tIns="0" bIns="0">
            <a:spAutoFit/>
          </a:bodyPr>
          <a:lstStyle/>
          <a:p>
            <a:pPr algn="l"/>
            <a:r>
              <a:rPr sz="1000" b="0">
                <a:solidFill>
                  <a:srgbClr val="8A6410"/>
                </a:solidFill>
                <a:latin typeface="Consolas"/>
              </a:rPr>
              <a:t>-&gt; Moved or rejected</a:t>
            </a:r>
          </a:p>
        </p:txBody>
      </p:sp>
      <p:sp>
        <p:nvSpPr>
          <p:cNvPr id="21" name="Rectangle 20"/>
          <p:cNvSpPr/>
          <p:nvPr/>
        </p:nvSpPr>
        <p:spPr>
          <a:xfrm>
            <a:off x="566928" y="5175504"/>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2" name="TextBox 21"/>
          <p:cNvSpPr txBox="1"/>
          <p:nvPr/>
        </p:nvSpPr>
        <p:spPr>
          <a:xfrm>
            <a:off x="694944" y="5239512"/>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dst inspire faculty and its two spellings. India's DST INSPIRE scheme is a research fellowship, not a teaching post.</a:t>
            </a:r>
          </a:p>
        </p:txBody>
      </p:sp>
      <p:sp>
        <p:nvSpPr>
          <p:cNvPr id="23" name="TextBox 22"/>
          <p:cNvSpPr txBox="1"/>
          <p:nvPr/>
        </p:nvSpPr>
        <p:spPr>
          <a:xfrm>
            <a:off x="694944" y="5696712"/>
            <a:ext cx="1097280" cy="201168"/>
          </a:xfrm>
          <a:prstGeom prst="rect">
            <a:avLst/>
          </a:prstGeom>
          <a:noFill/>
        </p:spPr>
        <p:txBody>
          <a:bodyPr wrap="square" anchor="t" lIns="0" rIns="0" tIns="0" bIns="0">
            <a:spAutoFit/>
          </a:bodyPr>
          <a:lstStyle/>
          <a:p>
            <a:pPr algn="l"/>
            <a:r>
              <a:rPr sz="1000" b="1">
                <a:solidFill>
                  <a:srgbClr val="1C1F23"/>
                </a:solidFill>
                <a:latin typeface="Consolas"/>
              </a:rPr>
              <a:t>3,178</a:t>
            </a:r>
          </a:p>
        </p:txBody>
      </p:sp>
      <p:sp>
        <p:nvSpPr>
          <p:cNvPr id="24" name="TextBox 23"/>
          <p:cNvSpPr txBox="1"/>
          <p:nvPr/>
        </p:nvSpPr>
        <p:spPr>
          <a:xfrm>
            <a:off x="1920240" y="5696712"/>
            <a:ext cx="5120640" cy="201168"/>
          </a:xfrm>
          <a:prstGeom prst="rect">
            <a:avLst/>
          </a:prstGeom>
          <a:noFill/>
        </p:spPr>
        <p:txBody>
          <a:bodyPr wrap="square" anchor="t" lIns="0" rIns="0" tIns="0" bIns="0">
            <a:spAutoFit/>
          </a:bodyPr>
          <a:lstStyle/>
          <a:p>
            <a:pPr algn="l"/>
            <a:r>
              <a:rPr sz="1000" b="0">
                <a:solidFill>
                  <a:srgbClr val="8A6410"/>
                </a:solidFill>
                <a:latin typeface="Consolas"/>
              </a:rPr>
              <a:t>-&gt; Moved to research</a:t>
            </a:r>
          </a:p>
        </p:txBody>
      </p:sp>
      <p:sp>
        <p:nvSpPr>
          <p:cNvPr id="25" name="Rectangle 24"/>
          <p:cNvSpPr/>
          <p:nvPr/>
        </p:nvSpPr>
        <p:spPr>
          <a:xfrm>
            <a:off x="7424927" y="3584448"/>
            <a:ext cx="4206240" cy="2350008"/>
          </a:xfrm>
          <a:prstGeom prst="rect">
            <a:avLst/>
          </a:prstGeom>
          <a:solidFill>
            <a:srgbClr val="FFFFFF"/>
          </a:solidFill>
          <a:ln w="15875">
            <a:solidFill>
              <a:srgbClr val="9B3B2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Rectangle 25"/>
          <p:cNvSpPr/>
          <p:nvPr/>
        </p:nvSpPr>
        <p:spPr>
          <a:xfrm>
            <a:off x="7424927" y="3584448"/>
            <a:ext cx="4206240" cy="41148"/>
          </a:xfrm>
          <a:prstGeom prst="rect">
            <a:avLst/>
          </a:prstGeom>
          <a:solidFill>
            <a:srgbClr val="9B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3730752"/>
            <a:ext cx="3877056" cy="402336"/>
          </a:xfrm>
          <a:prstGeom prst="rect">
            <a:avLst/>
          </a:prstGeom>
          <a:noFill/>
        </p:spPr>
        <p:txBody>
          <a:bodyPr wrap="square" anchor="t" lIns="0" rIns="0" tIns="0" bIns="0">
            <a:spAutoFit/>
          </a:bodyPr>
          <a:lstStyle/>
          <a:p>
            <a:pPr algn="l">
              <a:lnSpc>
                <a:spcPct val="114000"/>
              </a:lnSpc>
            </a:pPr>
            <a:r>
              <a:rPr sz="1150" b="1">
                <a:solidFill>
                  <a:srgbClr val="9B3B2F"/>
                </a:solidFill>
                <a:latin typeface="Calibri"/>
              </a:rPr>
              <a:t>Why a mistake costs more here than anywhere else</a:t>
            </a:r>
          </a:p>
        </p:txBody>
      </p:sp>
      <p:sp>
        <p:nvSpPr>
          <p:cNvPr id="28" name="TextBox 27"/>
          <p:cNvSpPr txBox="1"/>
          <p:nvPr/>
        </p:nvSpPr>
        <p:spPr>
          <a:xfrm>
            <a:off x="7607808" y="4187952"/>
            <a:ext cx="3877056" cy="1682496"/>
          </a:xfrm>
          <a:prstGeom prst="rect">
            <a:avLst/>
          </a:prstGeom>
          <a:noFill/>
        </p:spPr>
        <p:txBody>
          <a:bodyPr wrap="square" anchor="t" lIns="0" rIns="0" tIns="0" bIns="0">
            <a:spAutoFit/>
          </a:bodyPr>
          <a:lstStyle/>
          <a:p>
            <a:pPr algn="l">
              <a:lnSpc>
                <a:spcPct val="122000"/>
              </a:lnSpc>
            </a:pPr>
            <a:r>
              <a:rPr sz="1000" b="0">
                <a:solidFill>
                  <a:srgbClr val="464B52"/>
                </a:solidFill>
                <a:latin typeface="Calibri"/>
              </a:rPr>
              <a:t>lecturer has a department weight of ZERO. The weakest possible assignment (0.75 x 0.70 = 0.525) plus a resolved organisation (0.25) gives 0.775 - confirmed. There is no second axis to catch anything.
And one anchor is doing extraordinary work: docente carries 499,135 records across 9,350 titles, serving Spanish, Portuguese, Italian AND Turkish academic ranks. Almost all correct, and not touched.</a:t>
            </a:r>
          </a:p>
        </p:txBody>
      </p:sp>
      <p:sp>
        <p:nvSpPr>
          <p:cNvPr id="29" name="Rectangle 28"/>
          <p:cNvSpPr/>
          <p:nvPr/>
        </p:nvSpPr>
        <p:spPr>
          <a:xfrm>
            <a:off x="56692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0" name="TextBox 29"/>
          <p:cNvSpPr txBox="1"/>
          <p:nvPr/>
        </p:nvSpPr>
        <p:spPr>
          <a:xfrm>
            <a:off x="69494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6.7%</a:t>
            </a:r>
          </a:p>
        </p:txBody>
      </p:sp>
      <p:sp>
        <p:nvSpPr>
          <p:cNvPr id="31" name="TextBox 30"/>
          <p:cNvSpPr txBox="1"/>
          <p:nvPr/>
        </p:nvSpPr>
        <p:spPr>
          <a:xfrm>
            <a:off x="69494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unsure - the LOWEST of any group</a:t>
            </a:r>
          </a:p>
        </p:txBody>
      </p:sp>
      <p:sp>
        <p:nvSpPr>
          <p:cNvPr id="32" name="Rectangle 31"/>
          <p:cNvSpPr/>
          <p:nvPr/>
        </p:nvSpPr>
        <p:spPr>
          <a:xfrm>
            <a:off x="335584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3" name="TextBox 32"/>
          <p:cNvSpPr txBox="1"/>
          <p:nvPr/>
        </p:nvSpPr>
        <p:spPr>
          <a:xfrm>
            <a:off x="348386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~69%</a:t>
            </a:r>
          </a:p>
        </p:txBody>
      </p:sp>
      <p:sp>
        <p:nvSpPr>
          <p:cNvPr id="34" name="TextBox 33"/>
          <p:cNvSpPr txBox="1"/>
          <p:nvPr/>
        </p:nvSpPr>
        <p:spPr>
          <a:xfrm>
            <a:off x="348386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of records read</a:t>
            </a:r>
          </a:p>
        </p:txBody>
      </p:sp>
      <p:sp>
        <p:nvSpPr>
          <p:cNvPr id="35" name="Rectangle 34"/>
          <p:cNvSpPr/>
          <p:nvPr/>
        </p:nvSpPr>
        <p:spPr>
          <a:xfrm>
            <a:off x="614476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272783" y="6007608"/>
            <a:ext cx="2468879" cy="301752"/>
          </a:xfrm>
          <a:prstGeom prst="rect">
            <a:avLst/>
          </a:prstGeom>
          <a:noFill/>
        </p:spPr>
        <p:txBody>
          <a:bodyPr wrap="square" anchor="t" lIns="0" rIns="0" tIns="0" bIns="0">
            <a:spAutoFit/>
          </a:bodyPr>
          <a:lstStyle/>
          <a:p>
            <a:pPr algn="l"/>
            <a:r>
              <a:rPr sz="1900" b="1">
                <a:solidFill>
                  <a:srgbClr val="9B3B2F"/>
                </a:solidFill>
                <a:latin typeface="Consolas"/>
              </a:rPr>
              <a:t>810,767</a:t>
            </a:r>
          </a:p>
        </p:txBody>
      </p:sp>
      <p:sp>
        <p:nvSpPr>
          <p:cNvPr id="37" name="TextBox 36"/>
          <p:cNvSpPr txBox="1"/>
          <p:nvPr/>
        </p:nvSpPr>
        <p:spPr>
          <a:xfrm>
            <a:off x="627278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low-confidence records - the MOST</a:t>
            </a:r>
          </a:p>
        </p:txBody>
      </p:sp>
      <p:sp>
        <p:nvSpPr>
          <p:cNvPr id="38" name="Rectangle 37"/>
          <p:cNvSpPr/>
          <p:nvPr/>
        </p:nvSpPr>
        <p:spPr>
          <a:xfrm>
            <a:off x="8933687"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9" name="TextBox 38"/>
          <p:cNvSpPr txBox="1"/>
          <p:nvPr/>
        </p:nvSpPr>
        <p:spPr>
          <a:xfrm>
            <a:off x="9061703" y="6007608"/>
            <a:ext cx="2468879" cy="301752"/>
          </a:xfrm>
          <a:prstGeom prst="rect">
            <a:avLst/>
          </a:prstGeom>
          <a:noFill/>
        </p:spPr>
        <p:txBody>
          <a:bodyPr wrap="square" anchor="t" lIns="0" rIns="0" tIns="0" bIns="0">
            <a:spAutoFit/>
          </a:bodyPr>
          <a:lstStyle/>
          <a:p>
            <a:pPr algn="l"/>
            <a:r>
              <a:rPr sz="1900" b="1">
                <a:solidFill>
                  <a:srgbClr val="1C1F23"/>
                </a:solidFill>
                <a:latin typeface="Consolas"/>
              </a:rPr>
              <a:t>399,884</a:t>
            </a:r>
          </a:p>
        </p:txBody>
      </p:sp>
      <p:sp>
        <p:nvSpPr>
          <p:cNvPr id="40" name="TextBox 39"/>
          <p:cNvSpPr txBox="1"/>
          <p:nvPr/>
        </p:nvSpPr>
        <p:spPr>
          <a:xfrm>
            <a:off x="906170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Lecturer audience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1F6F6A"/>
                </a:solidFill>
                <a:latin typeface="Consolas"/>
              </a:rPr>
              <a:t>profession  /  researcher_early</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Researcher, early career</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The cleanest group in the project - and the one where every prediction we made beforehand was wrong.</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11064240" cy="365760"/>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13232" y="2039112"/>
            <a:ext cx="914400" cy="219456"/>
          </a:xfrm>
          <a:prstGeom prst="rect">
            <a:avLst/>
          </a:prstGeom>
          <a:noFill/>
        </p:spPr>
        <p:txBody>
          <a:bodyPr wrap="square" anchor="t" lIns="0" rIns="0" tIns="0" bIns="0">
            <a:spAutoFit/>
          </a:bodyPr>
          <a:lstStyle/>
          <a:p>
            <a:pPr algn="l"/>
            <a:r>
              <a:rPr sz="900" b="1">
                <a:solidFill>
                  <a:srgbClr val="6F757E"/>
                </a:solidFill>
                <a:latin typeface="Consolas"/>
              </a:rPr>
              <a:t>FEEDS</a:t>
            </a:r>
          </a:p>
        </p:txBody>
      </p:sp>
      <p:sp>
        <p:nvSpPr>
          <p:cNvPr id="9" name="TextBox 8"/>
          <p:cNvSpPr txBox="1"/>
          <p:nvPr/>
        </p:nvSpPr>
        <p:spPr>
          <a:xfrm>
            <a:off x="1609344" y="2029968"/>
            <a:ext cx="9875520" cy="237744"/>
          </a:xfrm>
          <a:prstGeom prst="rect">
            <a:avLst/>
          </a:prstGeom>
          <a:noFill/>
        </p:spPr>
        <p:txBody>
          <a:bodyPr wrap="square" anchor="t" lIns="0" rIns="0" tIns="0" bIns="0">
            <a:spAutoFit/>
          </a:bodyPr>
          <a:lstStyle/>
          <a:p>
            <a:pPr algn="l"/>
            <a:r>
              <a:rPr sz="1050" b="0">
                <a:solidFill>
                  <a:srgbClr val="1C1F23"/>
                </a:solidFill>
                <a:latin typeface="Consolas"/>
              </a:rPr>
              <a:t>researcher  (title required, 0.75/0.25/0.00)      hcp_researcher  (title and field, 0.40/0.20/0.40)</a:t>
            </a:r>
          </a:p>
        </p:txBody>
      </p:sp>
      <p:sp>
        <p:nvSpPr>
          <p:cNvPr id="10" name="TextBox 9"/>
          <p:cNvSpPr txBox="1"/>
          <p:nvPr/>
        </p:nvSpPr>
        <p:spPr>
          <a:xfrm>
            <a:off x="566928" y="2432304"/>
            <a:ext cx="5486400" cy="182880"/>
          </a:xfrm>
          <a:prstGeom prst="rect">
            <a:avLst/>
          </a:prstGeom>
          <a:noFill/>
        </p:spPr>
        <p:txBody>
          <a:bodyPr wrap="square" anchor="t" lIns="0" rIns="0" tIns="0" bIns="0">
            <a:spAutoFit/>
          </a:bodyPr>
          <a:lstStyle/>
          <a:p>
            <a:pPr algn="l"/>
            <a:r>
              <a:rPr sz="900" b="1">
                <a:solidFill>
                  <a:srgbClr val="6F757E"/>
                </a:solidFill>
                <a:latin typeface="Consolas"/>
              </a:rPr>
              <a:t>ANCHORS</a:t>
            </a:r>
          </a:p>
        </p:txBody>
      </p:sp>
      <p:sp>
        <p:nvSpPr>
          <p:cNvPr id="11" name="Rectangle 10"/>
          <p:cNvSpPr/>
          <p:nvPr/>
        </p:nvSpPr>
        <p:spPr>
          <a:xfrm>
            <a:off x="566928" y="2633472"/>
            <a:ext cx="11064240" cy="60350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32000"/>
              </a:lnSpc>
            </a:pPr>
            <a:r>
              <a:rPr sz="1000" b="0">
                <a:solidFill>
                  <a:srgbClr val="464B52"/>
                </a:solidFill>
                <a:latin typeface="Consolas"/>
              </a:rPr>
              <a:t>postdoctoral researcher · postdoc · postdoctoral fellow · post doctor · research fellow · research assistant · research associate · researcher · wissenschaftlicher mitarbeiter · assegnisti · borsisti · collaboratori</a:t>
            </a:r>
          </a:p>
        </p:txBody>
      </p:sp>
      <p:sp>
        <p:nvSpPr>
          <p:cNvPr id="12" name="TextBox 11"/>
          <p:cNvSpPr txBox="1"/>
          <p:nvPr/>
        </p:nvSpPr>
        <p:spPr>
          <a:xfrm>
            <a:off x="566928" y="3364992"/>
            <a:ext cx="6675120" cy="182880"/>
          </a:xfrm>
          <a:prstGeom prst="rect">
            <a:avLst/>
          </a:prstGeom>
          <a:noFill/>
        </p:spPr>
        <p:txBody>
          <a:bodyPr wrap="square" anchor="t" lIns="0" rIns="0" tIns="0" bIns="0">
            <a:spAutoFit/>
          </a:bodyPr>
          <a:lstStyle/>
          <a:p>
            <a:pPr algn="l"/>
            <a:r>
              <a:rPr sz="900" b="1">
                <a:solidFill>
                  <a:srgbClr val="6F757E"/>
                </a:solidFill>
                <a:latin typeface="Consolas"/>
              </a:rPr>
              <a:t>WHAT WENT WRONG</a:t>
            </a:r>
          </a:p>
        </p:txBody>
      </p:sp>
      <p:sp>
        <p:nvSpPr>
          <p:cNvPr id="13" name="Rectangle 12"/>
          <p:cNvSpPr/>
          <p:nvPr/>
        </p:nvSpPr>
        <p:spPr>
          <a:xfrm>
            <a:off x="566928" y="3584448"/>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TextBox 13"/>
          <p:cNvSpPr txBox="1"/>
          <p:nvPr/>
        </p:nvSpPr>
        <p:spPr>
          <a:xfrm>
            <a:off x="694944" y="3648456"/>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PREDICTED DIRTY: collaboratori, at 54.6% below 0.75 - by far the worst-looking anchor in the group.</a:t>
            </a:r>
          </a:p>
        </p:txBody>
      </p:sp>
      <p:sp>
        <p:nvSpPr>
          <p:cNvPr id="15" name="TextBox 14"/>
          <p:cNvSpPr txBox="1"/>
          <p:nvPr/>
        </p:nvSpPr>
        <p:spPr>
          <a:xfrm>
            <a:off x="694944" y="4105656"/>
            <a:ext cx="1097280" cy="201168"/>
          </a:xfrm>
          <a:prstGeom prst="rect">
            <a:avLst/>
          </a:prstGeom>
          <a:noFill/>
        </p:spPr>
        <p:txBody>
          <a:bodyPr wrap="square" anchor="t" lIns="0" rIns="0" tIns="0" bIns="0">
            <a:spAutoFit/>
          </a:bodyPr>
          <a:lstStyle/>
          <a:p>
            <a:pPr algn="l"/>
            <a:r>
              <a:rPr sz="1000" b="1">
                <a:solidFill>
                  <a:srgbClr val="1C1F23"/>
                </a:solidFill>
                <a:latin typeface="Consolas"/>
              </a:rPr>
              <a:t>47,810</a:t>
            </a:r>
          </a:p>
        </p:txBody>
      </p:sp>
      <p:sp>
        <p:nvSpPr>
          <p:cNvPr id="16" name="TextBox 15"/>
          <p:cNvSpPr txBox="1"/>
          <p:nvPr/>
        </p:nvSpPr>
        <p:spPr>
          <a:xfrm>
            <a:off x="1920240" y="4105656"/>
            <a:ext cx="5120640" cy="201168"/>
          </a:xfrm>
          <a:prstGeom prst="rect">
            <a:avLst/>
          </a:prstGeom>
          <a:noFill/>
        </p:spPr>
        <p:txBody>
          <a:bodyPr wrap="square" anchor="t" lIns="0" rIns="0" tIns="0" bIns="0">
            <a:spAutoFit/>
          </a:bodyPr>
          <a:lstStyle/>
          <a:p>
            <a:pPr algn="l"/>
            <a:r>
              <a:rPr sz="1000" b="0">
                <a:solidFill>
                  <a:srgbClr val="1F6F6A"/>
                </a:solidFill>
                <a:latin typeface="Consolas"/>
              </a:rPr>
              <a:t>-&gt; 83% was ONE correct title: dottorandi (doctoral students)</a:t>
            </a:r>
          </a:p>
        </p:txBody>
      </p:sp>
      <p:sp>
        <p:nvSpPr>
          <p:cNvPr id="17" name="Rectangle 16"/>
          <p:cNvSpPr/>
          <p:nvPr/>
        </p:nvSpPr>
        <p:spPr>
          <a:xfrm>
            <a:off x="566928" y="4379976"/>
            <a:ext cx="6675120" cy="749808"/>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8" name="TextBox 17"/>
          <p:cNvSpPr txBox="1"/>
          <p:nvPr/>
        </p:nvSpPr>
        <p:spPr>
          <a:xfrm>
            <a:off x="694944" y="4443984"/>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PREDICTED DIRTY: research fellow at 16.1%, and post doctor at 21.1% - which could reach plain doctor.</a:t>
            </a:r>
          </a:p>
        </p:txBody>
      </p:sp>
      <p:sp>
        <p:nvSpPr>
          <p:cNvPr id="19" name="TextBox 18"/>
          <p:cNvSpPr txBox="1"/>
          <p:nvPr/>
        </p:nvSpPr>
        <p:spPr>
          <a:xfrm>
            <a:off x="694944" y="4901184"/>
            <a:ext cx="1097280" cy="201168"/>
          </a:xfrm>
          <a:prstGeom prst="rect">
            <a:avLst/>
          </a:prstGeom>
          <a:noFill/>
        </p:spPr>
        <p:txBody>
          <a:bodyPr wrap="square" anchor="t" lIns="0" rIns="0" tIns="0" bIns="0">
            <a:spAutoFit/>
          </a:bodyPr>
          <a:lstStyle/>
          <a:p>
            <a:pPr algn="l"/>
            <a:r>
              <a:rPr sz="1000" b="1">
                <a:solidFill>
                  <a:srgbClr val="1C1F23"/>
                </a:solidFill>
                <a:latin typeface="Consolas"/>
              </a:rPr>
              <a:t>~21,000</a:t>
            </a:r>
          </a:p>
        </p:txBody>
      </p:sp>
      <p:sp>
        <p:nvSpPr>
          <p:cNvPr id="20" name="TextBox 19"/>
          <p:cNvSpPr txBox="1"/>
          <p:nvPr/>
        </p:nvSpPr>
        <p:spPr>
          <a:xfrm>
            <a:off x="1920240" y="4901184"/>
            <a:ext cx="5120640" cy="201168"/>
          </a:xfrm>
          <a:prstGeom prst="rect">
            <a:avLst/>
          </a:prstGeom>
          <a:noFill/>
        </p:spPr>
        <p:txBody>
          <a:bodyPr wrap="square" anchor="t" lIns="0" rIns="0" tIns="0" bIns="0">
            <a:spAutoFit/>
          </a:bodyPr>
          <a:lstStyle/>
          <a:p>
            <a:pPr algn="l"/>
            <a:r>
              <a:rPr sz="1000" b="0">
                <a:solidFill>
                  <a:srgbClr val="1F6F6A"/>
                </a:solidFill>
                <a:latin typeface="Consolas"/>
              </a:rPr>
              <a:t>-&gt; Named fellowships and misspellings of postdoc. All correct</a:t>
            </a:r>
          </a:p>
        </p:txBody>
      </p:sp>
      <p:sp>
        <p:nvSpPr>
          <p:cNvPr id="21" name="Rectangle 20"/>
          <p:cNvSpPr/>
          <p:nvPr/>
        </p:nvSpPr>
        <p:spPr>
          <a:xfrm>
            <a:off x="566928" y="5175504"/>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2" name="TextBox 21"/>
          <p:cNvSpPr txBox="1"/>
          <p:nvPr/>
        </p:nvSpPr>
        <p:spPr>
          <a:xfrm>
            <a:off x="694944" y="5239512"/>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PREDICTED DIRTY: researcher, the most generic occupational word we use.</a:t>
            </a:r>
          </a:p>
        </p:txBody>
      </p:sp>
      <p:sp>
        <p:nvSpPr>
          <p:cNvPr id="23" name="TextBox 22"/>
          <p:cNvSpPr txBox="1"/>
          <p:nvPr/>
        </p:nvSpPr>
        <p:spPr>
          <a:xfrm>
            <a:off x="694944" y="5696712"/>
            <a:ext cx="1097280" cy="201168"/>
          </a:xfrm>
          <a:prstGeom prst="rect">
            <a:avLst/>
          </a:prstGeom>
          <a:noFill/>
        </p:spPr>
        <p:txBody>
          <a:bodyPr wrap="square" anchor="t" lIns="0" rIns="0" tIns="0" bIns="0">
            <a:spAutoFit/>
          </a:bodyPr>
          <a:lstStyle/>
          <a:p>
            <a:pPr algn="l"/>
            <a:r>
              <a:rPr sz="1000" b="1">
                <a:solidFill>
                  <a:srgbClr val="1C1F23"/>
                </a:solidFill>
                <a:latin typeface="Consolas"/>
              </a:rPr>
              <a:t>—</a:t>
            </a:r>
          </a:p>
        </p:txBody>
      </p:sp>
      <p:sp>
        <p:nvSpPr>
          <p:cNvPr id="24" name="TextBox 23"/>
          <p:cNvSpPr txBox="1"/>
          <p:nvPr/>
        </p:nvSpPr>
        <p:spPr>
          <a:xfrm>
            <a:off x="1920240" y="5696712"/>
            <a:ext cx="5120640" cy="201168"/>
          </a:xfrm>
          <a:prstGeom prst="rect">
            <a:avLst/>
          </a:prstGeom>
          <a:noFill/>
        </p:spPr>
        <p:txBody>
          <a:bodyPr wrap="square" anchor="t" lIns="0" rIns="0" tIns="0" bIns="0">
            <a:spAutoFit/>
          </a:bodyPr>
          <a:lstStyle/>
          <a:p>
            <a:pPr algn="l"/>
            <a:r>
              <a:rPr sz="1000" b="0">
                <a:solidFill>
                  <a:srgbClr val="1F6F6A"/>
                </a:solidFill>
                <a:latin typeface="Consolas"/>
              </a:rPr>
              <a:t>-&gt; Measured 8.1% below 0.75. Clean</a:t>
            </a:r>
          </a:p>
        </p:txBody>
      </p:sp>
      <p:sp>
        <p:nvSpPr>
          <p:cNvPr id="25" name="Rectangle 24"/>
          <p:cNvSpPr/>
          <p:nvPr/>
        </p:nvSpPr>
        <p:spPr>
          <a:xfrm>
            <a:off x="7424927" y="3584448"/>
            <a:ext cx="4206240" cy="2350008"/>
          </a:xfrm>
          <a:prstGeom prst="rect">
            <a:avLst/>
          </a:prstGeom>
          <a:solidFill>
            <a:srgbClr val="FFFFFF"/>
          </a:solidFill>
          <a:ln w="15875">
            <a:solidFill>
              <a:srgbClr val="1F6F6A"/>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Rectangle 25"/>
          <p:cNvSpPr/>
          <p:nvPr/>
        </p:nvSpPr>
        <p:spPr>
          <a:xfrm>
            <a:off x="7424927" y="3584448"/>
            <a:ext cx="4206240" cy="41148"/>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3730752"/>
            <a:ext cx="3877056" cy="402336"/>
          </a:xfrm>
          <a:prstGeom prst="rect">
            <a:avLst/>
          </a:prstGeom>
          <a:noFill/>
        </p:spPr>
        <p:txBody>
          <a:bodyPr wrap="square" anchor="t" lIns="0" rIns="0" tIns="0" bIns="0">
            <a:spAutoFit/>
          </a:bodyPr>
          <a:lstStyle/>
          <a:p>
            <a:pPr algn="l">
              <a:lnSpc>
                <a:spcPct val="114000"/>
              </a:lnSpc>
            </a:pPr>
            <a:r>
              <a:rPr sz="1150" b="1">
                <a:solidFill>
                  <a:srgbClr val="1F6F6A"/>
                </a:solidFill>
                <a:latin typeface="Calibri"/>
              </a:rPr>
              <a:t>A group that needed no fixes at all</a:t>
            </a:r>
          </a:p>
        </p:txBody>
      </p:sp>
      <p:sp>
        <p:nvSpPr>
          <p:cNvPr id="28" name="TextBox 27"/>
          <p:cNvSpPr txBox="1"/>
          <p:nvPr/>
        </p:nvSpPr>
        <p:spPr>
          <a:xfrm>
            <a:off x="7607808" y="4187952"/>
            <a:ext cx="3877056" cy="1682496"/>
          </a:xfrm>
          <a:prstGeom prst="rect">
            <a:avLst/>
          </a:prstGeom>
          <a:noFill/>
        </p:spPr>
        <p:txBody>
          <a:bodyPr wrap="square" anchor="t" lIns="0" rIns="0" tIns="0" bIns="0">
            <a:spAutoFit/>
          </a:bodyPr>
          <a:lstStyle/>
          <a:p>
            <a:pPr algn="l">
              <a:lnSpc>
                <a:spcPct val="122000"/>
              </a:lnSpc>
            </a:pPr>
            <a:r>
              <a:rPr sz="1000" b="0">
                <a:solidFill>
                  <a:srgbClr val="464B52"/>
                </a:solidFill>
                <a:latin typeface="Calibri"/>
              </a:rPr>
              <a:t>It came back at 6.9% unsure with ZERO corrections on the first read - the only group where that happened.
Being generic did not make it dirty, because the region around researcher is densely packed with real research vocabulary. Density decides, not ambiguity.
Note also: researcher_early and researcher_established feed the SAME two audiences. The seniority split is computed, stored, and then ignored.</a:t>
            </a:r>
          </a:p>
        </p:txBody>
      </p:sp>
      <p:sp>
        <p:nvSpPr>
          <p:cNvPr id="29" name="Rectangle 28"/>
          <p:cNvSpPr/>
          <p:nvPr/>
        </p:nvSpPr>
        <p:spPr>
          <a:xfrm>
            <a:off x="56692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0" name="TextBox 29"/>
          <p:cNvSpPr txBox="1"/>
          <p:nvPr/>
        </p:nvSpPr>
        <p:spPr>
          <a:xfrm>
            <a:off x="69494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6.9%</a:t>
            </a:r>
          </a:p>
        </p:txBody>
      </p:sp>
      <p:sp>
        <p:nvSpPr>
          <p:cNvPr id="31" name="TextBox 30"/>
          <p:cNvSpPr txBox="1"/>
          <p:nvPr/>
        </p:nvSpPr>
        <p:spPr>
          <a:xfrm>
            <a:off x="69494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unsure</a:t>
            </a:r>
          </a:p>
        </p:txBody>
      </p:sp>
      <p:sp>
        <p:nvSpPr>
          <p:cNvPr id="32" name="Rectangle 31"/>
          <p:cNvSpPr/>
          <p:nvPr/>
        </p:nvSpPr>
        <p:spPr>
          <a:xfrm>
            <a:off x="335584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3" name="TextBox 32"/>
          <p:cNvSpPr txBox="1"/>
          <p:nvPr/>
        </p:nvSpPr>
        <p:spPr>
          <a:xfrm>
            <a:off x="348386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~75%</a:t>
            </a:r>
          </a:p>
        </p:txBody>
      </p:sp>
      <p:sp>
        <p:nvSpPr>
          <p:cNvPr id="34" name="TextBox 33"/>
          <p:cNvSpPr txBox="1"/>
          <p:nvPr/>
        </p:nvSpPr>
        <p:spPr>
          <a:xfrm>
            <a:off x="348386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of records read - the best</a:t>
            </a:r>
          </a:p>
        </p:txBody>
      </p:sp>
      <p:sp>
        <p:nvSpPr>
          <p:cNvPr id="35" name="Rectangle 34"/>
          <p:cNvSpPr/>
          <p:nvPr/>
        </p:nvSpPr>
        <p:spPr>
          <a:xfrm>
            <a:off x="614476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272783"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0</a:t>
            </a:r>
          </a:p>
        </p:txBody>
      </p:sp>
      <p:sp>
        <p:nvSpPr>
          <p:cNvPr id="37" name="TextBox 36"/>
          <p:cNvSpPr txBox="1"/>
          <p:nvPr/>
        </p:nvSpPr>
        <p:spPr>
          <a:xfrm>
            <a:off x="627278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fixes needed on the first read</a:t>
            </a:r>
          </a:p>
        </p:txBody>
      </p:sp>
      <p:sp>
        <p:nvSpPr>
          <p:cNvPr id="38" name="Rectangle 37"/>
          <p:cNvSpPr/>
          <p:nvPr/>
        </p:nvSpPr>
        <p:spPr>
          <a:xfrm>
            <a:off x="8933687"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9" name="TextBox 38"/>
          <p:cNvSpPr txBox="1"/>
          <p:nvPr/>
        </p:nvSpPr>
        <p:spPr>
          <a:xfrm>
            <a:off x="9061703" y="6007608"/>
            <a:ext cx="2468879" cy="301752"/>
          </a:xfrm>
          <a:prstGeom prst="rect">
            <a:avLst/>
          </a:prstGeom>
          <a:noFill/>
        </p:spPr>
        <p:txBody>
          <a:bodyPr wrap="square" anchor="t" lIns="0" rIns="0" tIns="0" bIns="0">
            <a:spAutoFit/>
          </a:bodyPr>
          <a:lstStyle/>
          <a:p>
            <a:pPr algn="l"/>
            <a:r>
              <a:rPr sz="1900" b="1">
                <a:solidFill>
                  <a:srgbClr val="1C1F23"/>
                </a:solidFill>
                <a:latin typeface="Consolas"/>
              </a:rPr>
              <a:t>321,824</a:t>
            </a:r>
          </a:p>
        </p:txBody>
      </p:sp>
      <p:sp>
        <p:nvSpPr>
          <p:cNvPr id="40" name="TextBox 39"/>
          <p:cNvSpPr txBox="1"/>
          <p:nvPr/>
        </p:nvSpPr>
        <p:spPr>
          <a:xfrm>
            <a:off x="906170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Researcher audience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8A3D5E"/>
                </a:solidFill>
                <a:latin typeface="Consolas"/>
              </a:rPr>
              <a:t>profession  /  researcher_established</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Researcher, established</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48 human decisions - the most of any group - and the home of the largest single error in the project.</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11064240" cy="365760"/>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13232" y="2039112"/>
            <a:ext cx="914400" cy="219456"/>
          </a:xfrm>
          <a:prstGeom prst="rect">
            <a:avLst/>
          </a:prstGeom>
          <a:noFill/>
        </p:spPr>
        <p:txBody>
          <a:bodyPr wrap="square" anchor="t" lIns="0" rIns="0" tIns="0" bIns="0">
            <a:spAutoFit/>
          </a:bodyPr>
          <a:lstStyle/>
          <a:p>
            <a:pPr algn="l"/>
            <a:r>
              <a:rPr sz="900" b="1">
                <a:solidFill>
                  <a:srgbClr val="6F757E"/>
                </a:solidFill>
                <a:latin typeface="Consolas"/>
              </a:rPr>
              <a:t>FEEDS</a:t>
            </a:r>
          </a:p>
        </p:txBody>
      </p:sp>
      <p:sp>
        <p:nvSpPr>
          <p:cNvPr id="9" name="TextBox 8"/>
          <p:cNvSpPr txBox="1"/>
          <p:nvPr/>
        </p:nvSpPr>
        <p:spPr>
          <a:xfrm>
            <a:off x="1609344" y="2029968"/>
            <a:ext cx="9875520" cy="237744"/>
          </a:xfrm>
          <a:prstGeom prst="rect">
            <a:avLst/>
          </a:prstGeom>
          <a:noFill/>
        </p:spPr>
        <p:txBody>
          <a:bodyPr wrap="square" anchor="t" lIns="0" rIns="0" tIns="0" bIns="0">
            <a:spAutoFit/>
          </a:bodyPr>
          <a:lstStyle/>
          <a:p>
            <a:pPr algn="l"/>
            <a:r>
              <a:rPr sz="1050" b="0">
                <a:solidFill>
                  <a:srgbClr val="1C1F23"/>
                </a:solidFill>
                <a:latin typeface="Consolas"/>
              </a:rPr>
              <a:t>researcher      hcp_researcher        (the same two as early career)</a:t>
            </a:r>
          </a:p>
        </p:txBody>
      </p:sp>
      <p:sp>
        <p:nvSpPr>
          <p:cNvPr id="10" name="TextBox 9"/>
          <p:cNvSpPr txBox="1"/>
          <p:nvPr/>
        </p:nvSpPr>
        <p:spPr>
          <a:xfrm>
            <a:off x="566928" y="2432304"/>
            <a:ext cx="5486400" cy="182880"/>
          </a:xfrm>
          <a:prstGeom prst="rect">
            <a:avLst/>
          </a:prstGeom>
          <a:noFill/>
        </p:spPr>
        <p:txBody>
          <a:bodyPr wrap="square" anchor="t" lIns="0" rIns="0" tIns="0" bIns="0">
            <a:spAutoFit/>
          </a:bodyPr>
          <a:lstStyle/>
          <a:p>
            <a:pPr algn="l"/>
            <a:r>
              <a:rPr sz="900" b="1">
                <a:solidFill>
                  <a:srgbClr val="6F757E"/>
                </a:solidFill>
                <a:latin typeface="Consolas"/>
              </a:rPr>
              <a:t>ANCHORS</a:t>
            </a:r>
          </a:p>
        </p:txBody>
      </p:sp>
      <p:sp>
        <p:nvSpPr>
          <p:cNvPr id="11" name="Rectangle 10"/>
          <p:cNvSpPr/>
          <p:nvPr/>
        </p:nvSpPr>
        <p:spPr>
          <a:xfrm>
            <a:off x="566928" y="2633472"/>
            <a:ext cx="11064240" cy="60350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32000"/>
              </a:lnSpc>
            </a:pPr>
            <a:r>
              <a:rPr sz="1000" b="0">
                <a:solidFill>
                  <a:srgbClr val="464B52"/>
                </a:solidFill>
                <a:latin typeface="Consolas"/>
              </a:rPr>
              <a:t>senior researcher · senior scientist · research scientist · principal investigator · group leader · staff scientist · scientist · head of laboratory · scientific director</a:t>
            </a:r>
          </a:p>
        </p:txBody>
      </p:sp>
      <p:sp>
        <p:nvSpPr>
          <p:cNvPr id="12" name="TextBox 11"/>
          <p:cNvSpPr txBox="1"/>
          <p:nvPr/>
        </p:nvSpPr>
        <p:spPr>
          <a:xfrm>
            <a:off x="566928" y="3364992"/>
            <a:ext cx="6675120" cy="182880"/>
          </a:xfrm>
          <a:prstGeom prst="rect">
            <a:avLst/>
          </a:prstGeom>
          <a:noFill/>
        </p:spPr>
        <p:txBody>
          <a:bodyPr wrap="square" anchor="t" lIns="0" rIns="0" tIns="0" bIns="0">
            <a:spAutoFit/>
          </a:bodyPr>
          <a:lstStyle/>
          <a:p>
            <a:pPr algn="l"/>
            <a:r>
              <a:rPr sz="900" b="1">
                <a:solidFill>
                  <a:srgbClr val="6F757E"/>
                </a:solidFill>
                <a:latin typeface="Consolas"/>
              </a:rPr>
              <a:t>WHAT WENT WRONG</a:t>
            </a:r>
          </a:p>
        </p:txBody>
      </p:sp>
      <p:sp>
        <p:nvSpPr>
          <p:cNvPr id="13" name="Rectangle 12"/>
          <p:cNvSpPr/>
          <p:nvPr/>
        </p:nvSpPr>
        <p:spPr>
          <a:xfrm>
            <a:off x="566928" y="3584448"/>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TextBox 13"/>
          <p:cNvSpPr txBox="1"/>
          <p:nvPr/>
        </p:nvSpPr>
        <p:spPr>
          <a:xfrm>
            <a:off x="694944" y="3648456"/>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junior researcher sat in the SENIOR group for the project's entire life. It scored 0.870, and every review query filtered below 0.75 - so the method was blind to it.</a:t>
            </a:r>
          </a:p>
        </p:txBody>
      </p:sp>
      <p:sp>
        <p:nvSpPr>
          <p:cNvPr id="15" name="TextBox 14"/>
          <p:cNvSpPr txBox="1"/>
          <p:nvPr/>
        </p:nvSpPr>
        <p:spPr>
          <a:xfrm>
            <a:off x="694944" y="4105656"/>
            <a:ext cx="1097280" cy="201168"/>
          </a:xfrm>
          <a:prstGeom prst="rect">
            <a:avLst/>
          </a:prstGeom>
          <a:noFill/>
        </p:spPr>
        <p:txBody>
          <a:bodyPr wrap="square" anchor="t" lIns="0" rIns="0" tIns="0" bIns="0">
            <a:spAutoFit/>
          </a:bodyPr>
          <a:lstStyle/>
          <a:p>
            <a:pPr algn="l"/>
            <a:r>
              <a:rPr sz="1000" b="1">
                <a:solidFill>
                  <a:srgbClr val="1C1F23"/>
                </a:solidFill>
                <a:latin typeface="Consolas"/>
              </a:rPr>
              <a:t>52,279</a:t>
            </a:r>
          </a:p>
        </p:txBody>
      </p:sp>
      <p:sp>
        <p:nvSpPr>
          <p:cNvPr id="16" name="TextBox 15"/>
          <p:cNvSpPr txBox="1"/>
          <p:nvPr/>
        </p:nvSpPr>
        <p:spPr>
          <a:xfrm>
            <a:off x="1920240" y="4105656"/>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 to researcher_early</a:t>
            </a:r>
          </a:p>
        </p:txBody>
      </p:sp>
      <p:sp>
        <p:nvSpPr>
          <p:cNvPr id="17" name="Rectangle 16"/>
          <p:cNvSpPr/>
          <p:nvPr/>
        </p:nvSpPr>
        <p:spPr>
          <a:xfrm>
            <a:off x="566928" y="4379976"/>
            <a:ext cx="6675120" cy="749808"/>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8" name="TextBox 17"/>
          <p:cNvSpPr txBox="1"/>
          <p:nvPr/>
        </p:nvSpPr>
        <p:spPr>
          <a:xfrm>
            <a:off x="694944" y="4443984"/>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senior scientist and senior researcher attracted every 'senior X': senior manager 2,772, senior technical officer 1,158, senior software developer 810.</a:t>
            </a:r>
          </a:p>
        </p:txBody>
      </p:sp>
      <p:sp>
        <p:nvSpPr>
          <p:cNvPr id="19" name="TextBox 18"/>
          <p:cNvSpPr txBox="1"/>
          <p:nvPr/>
        </p:nvSpPr>
        <p:spPr>
          <a:xfrm>
            <a:off x="694944" y="4901184"/>
            <a:ext cx="1097280" cy="201168"/>
          </a:xfrm>
          <a:prstGeom prst="rect">
            <a:avLst/>
          </a:prstGeom>
          <a:noFill/>
        </p:spPr>
        <p:txBody>
          <a:bodyPr wrap="square" anchor="t" lIns="0" rIns="0" tIns="0" bIns="0">
            <a:spAutoFit/>
          </a:bodyPr>
          <a:lstStyle/>
          <a:p>
            <a:pPr algn="l"/>
            <a:r>
              <a:rPr sz="1000" b="1">
                <a:solidFill>
                  <a:srgbClr val="1C1F23"/>
                </a:solidFill>
                <a:latin typeface="Consolas"/>
              </a:rPr>
              <a:t>10,073</a:t>
            </a:r>
          </a:p>
        </p:txBody>
      </p:sp>
      <p:sp>
        <p:nvSpPr>
          <p:cNvPr id="20" name="TextBox 19"/>
          <p:cNvSpPr txBox="1"/>
          <p:nvPr/>
        </p:nvSpPr>
        <p:spPr>
          <a:xfrm>
            <a:off x="1920240" y="4901184"/>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 one title at a time</a:t>
            </a:r>
          </a:p>
        </p:txBody>
      </p:sp>
      <p:sp>
        <p:nvSpPr>
          <p:cNvPr id="21" name="Rectangle 20"/>
          <p:cNvSpPr/>
          <p:nvPr/>
        </p:nvSpPr>
        <p:spPr>
          <a:xfrm>
            <a:off x="566928" y="5175504"/>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2" name="TextBox 21"/>
          <p:cNvSpPr txBox="1"/>
          <p:nvPr/>
        </p:nvSpPr>
        <p:spPr>
          <a:xfrm>
            <a:off x="694944" y="5239512"/>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Writing, software and directing roles: author 704, scientific editor 544, scientific programmer 735, head of innovation 253, vice president r&amp;d 157.</a:t>
            </a:r>
          </a:p>
        </p:txBody>
      </p:sp>
      <p:sp>
        <p:nvSpPr>
          <p:cNvPr id="23" name="TextBox 22"/>
          <p:cNvSpPr txBox="1"/>
          <p:nvPr/>
        </p:nvSpPr>
        <p:spPr>
          <a:xfrm>
            <a:off x="694944" y="5696712"/>
            <a:ext cx="1097280" cy="201168"/>
          </a:xfrm>
          <a:prstGeom prst="rect">
            <a:avLst/>
          </a:prstGeom>
          <a:noFill/>
        </p:spPr>
        <p:txBody>
          <a:bodyPr wrap="square" anchor="t" lIns="0" rIns="0" tIns="0" bIns="0">
            <a:spAutoFit/>
          </a:bodyPr>
          <a:lstStyle/>
          <a:p>
            <a:pPr algn="l"/>
            <a:r>
              <a:rPr sz="1000" b="1">
                <a:solidFill>
                  <a:srgbClr val="1C1F23"/>
                </a:solidFill>
                <a:latin typeface="Consolas"/>
              </a:rPr>
              <a:t>8,033</a:t>
            </a:r>
          </a:p>
        </p:txBody>
      </p:sp>
      <p:sp>
        <p:nvSpPr>
          <p:cNvPr id="24" name="TextBox 23"/>
          <p:cNvSpPr txBox="1"/>
          <p:nvPr/>
        </p:nvSpPr>
        <p:spPr>
          <a:xfrm>
            <a:off x="1920240" y="5696712"/>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 to support and leadership</a:t>
            </a:r>
          </a:p>
        </p:txBody>
      </p:sp>
      <p:sp>
        <p:nvSpPr>
          <p:cNvPr id="25" name="Rectangle 24"/>
          <p:cNvSpPr/>
          <p:nvPr/>
        </p:nvSpPr>
        <p:spPr>
          <a:xfrm>
            <a:off x="7424927" y="3584448"/>
            <a:ext cx="4206240" cy="2350008"/>
          </a:xfrm>
          <a:prstGeom prst="rect">
            <a:avLst/>
          </a:prstGeom>
          <a:solidFill>
            <a:srgbClr val="FFFFFF"/>
          </a:solidFill>
          <a:ln w="15875">
            <a:solidFill>
              <a:srgbClr val="9B3B2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Rectangle 25"/>
          <p:cNvSpPr/>
          <p:nvPr/>
        </p:nvSpPr>
        <p:spPr>
          <a:xfrm>
            <a:off x="7424927" y="3584448"/>
            <a:ext cx="4206240" cy="41148"/>
          </a:xfrm>
          <a:prstGeom prst="rect">
            <a:avLst/>
          </a:prstGeom>
          <a:solidFill>
            <a:srgbClr val="9B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3730752"/>
            <a:ext cx="3877056" cy="402336"/>
          </a:xfrm>
          <a:prstGeom prst="rect">
            <a:avLst/>
          </a:prstGeom>
          <a:noFill/>
        </p:spPr>
        <p:txBody>
          <a:bodyPr wrap="square" anchor="t" lIns="0" rIns="0" tIns="0" bIns="0">
            <a:spAutoFit/>
          </a:bodyPr>
          <a:lstStyle/>
          <a:p>
            <a:pPr algn="l">
              <a:lnSpc>
                <a:spcPct val="114000"/>
              </a:lnSpc>
            </a:pPr>
            <a:r>
              <a:rPr sz="1150" b="1">
                <a:solidFill>
                  <a:srgbClr val="9B3B2F"/>
                </a:solidFill>
                <a:latin typeface="Calibri"/>
              </a:rPr>
              <a:t>And then we made the model's mistake in reverse</a:t>
            </a:r>
          </a:p>
        </p:txBody>
      </p:sp>
      <p:sp>
        <p:nvSpPr>
          <p:cNvPr id="28" name="TextBox 27"/>
          <p:cNvSpPr txBox="1"/>
          <p:nvPr/>
        </p:nvSpPr>
        <p:spPr>
          <a:xfrm>
            <a:off x="7607808" y="4187952"/>
            <a:ext cx="3877056" cy="1682496"/>
          </a:xfrm>
          <a:prstGeom prst="rect">
            <a:avLst/>
          </a:prstGeom>
          <a:noFill/>
        </p:spPr>
        <p:txBody>
          <a:bodyPr wrap="square" anchor="t" lIns="0" rIns="0" tIns="0" bIns="0">
            <a:spAutoFit/>
          </a:bodyPr>
          <a:lstStyle/>
          <a:p>
            <a:pPr algn="l">
              <a:lnSpc>
                <a:spcPct val="122000"/>
              </a:lnSpc>
            </a:pPr>
            <a:r>
              <a:rPr sz="1000" b="0">
                <a:solidFill>
                  <a:srgbClr val="464B52"/>
                </a:solidFill>
                <a:latin typeface="Calibri"/>
              </a:rPr>
              <a:t>We moved junior group leader (5,943 records) out of this group, then withdrew the override. A German Nachwuchsgruppenleiter runs their own group on their own funding and IS an independent researcher. We read the word 'junior' and reacted - which is exactly what the embedding did.
The anchors could not simply be deleted either: senior researcher alone carries 447,319 records at a clean 5.9%. Removing it would destroy the seniority split. So the leakage was handled title by title.</a:t>
            </a:r>
          </a:p>
        </p:txBody>
      </p:sp>
      <p:sp>
        <p:nvSpPr>
          <p:cNvPr id="29" name="Rectangle 28"/>
          <p:cNvSpPr/>
          <p:nvPr/>
        </p:nvSpPr>
        <p:spPr>
          <a:xfrm>
            <a:off x="56692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0" name="TextBox 29"/>
          <p:cNvSpPr txBox="1"/>
          <p:nvPr/>
        </p:nvSpPr>
        <p:spPr>
          <a:xfrm>
            <a:off x="694944" y="6007608"/>
            <a:ext cx="2468879" cy="301752"/>
          </a:xfrm>
          <a:prstGeom prst="rect">
            <a:avLst/>
          </a:prstGeom>
          <a:noFill/>
        </p:spPr>
        <p:txBody>
          <a:bodyPr wrap="square" anchor="t" lIns="0" rIns="0" tIns="0" bIns="0">
            <a:spAutoFit/>
          </a:bodyPr>
          <a:lstStyle/>
          <a:p>
            <a:pPr algn="l"/>
            <a:r>
              <a:rPr sz="1900" b="1">
                <a:solidFill>
                  <a:srgbClr val="9B3B2F"/>
                </a:solidFill>
                <a:latin typeface="Consolas"/>
              </a:rPr>
              <a:t>16% → 16%</a:t>
            </a:r>
          </a:p>
        </p:txBody>
      </p:sp>
      <p:sp>
        <p:nvSpPr>
          <p:cNvPr id="31" name="TextBox 30"/>
          <p:cNvSpPr txBox="1"/>
          <p:nvPr/>
        </p:nvSpPr>
        <p:spPr>
          <a:xfrm>
            <a:off x="69494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unsure - see the next-to-last slide</a:t>
            </a:r>
          </a:p>
        </p:txBody>
      </p:sp>
      <p:sp>
        <p:nvSpPr>
          <p:cNvPr id="32" name="Rectangle 31"/>
          <p:cNvSpPr/>
          <p:nvPr/>
        </p:nvSpPr>
        <p:spPr>
          <a:xfrm>
            <a:off x="335584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3" name="TextBox 32"/>
          <p:cNvSpPr txBox="1"/>
          <p:nvPr/>
        </p:nvSpPr>
        <p:spPr>
          <a:xfrm>
            <a:off x="348386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~62%</a:t>
            </a:r>
          </a:p>
        </p:txBody>
      </p:sp>
      <p:sp>
        <p:nvSpPr>
          <p:cNvPr id="34" name="TextBox 33"/>
          <p:cNvSpPr txBox="1"/>
          <p:nvPr/>
        </p:nvSpPr>
        <p:spPr>
          <a:xfrm>
            <a:off x="348386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of records read</a:t>
            </a:r>
          </a:p>
        </p:txBody>
      </p:sp>
      <p:sp>
        <p:nvSpPr>
          <p:cNvPr id="35" name="Rectangle 34"/>
          <p:cNvSpPr/>
          <p:nvPr/>
        </p:nvSpPr>
        <p:spPr>
          <a:xfrm>
            <a:off x="614476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272783"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−51,275</a:t>
            </a:r>
          </a:p>
        </p:txBody>
      </p:sp>
      <p:sp>
        <p:nvSpPr>
          <p:cNvPr id="37" name="TextBox 36"/>
          <p:cNvSpPr txBox="1"/>
          <p:nvPr/>
        </p:nvSpPr>
        <p:spPr>
          <a:xfrm>
            <a:off x="627278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net records</a:t>
            </a:r>
          </a:p>
        </p:txBody>
      </p:sp>
      <p:sp>
        <p:nvSpPr>
          <p:cNvPr id="38" name="Rectangle 37"/>
          <p:cNvSpPr/>
          <p:nvPr/>
        </p:nvSpPr>
        <p:spPr>
          <a:xfrm>
            <a:off x="8933687"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9" name="TextBox 38"/>
          <p:cNvSpPr txBox="1"/>
          <p:nvPr/>
        </p:nvSpPr>
        <p:spPr>
          <a:xfrm>
            <a:off x="9061703" y="6007608"/>
            <a:ext cx="2468879" cy="301752"/>
          </a:xfrm>
          <a:prstGeom prst="rect">
            <a:avLst/>
          </a:prstGeom>
          <a:noFill/>
        </p:spPr>
        <p:txBody>
          <a:bodyPr wrap="square" anchor="t" lIns="0" rIns="0" tIns="0" bIns="0">
            <a:spAutoFit/>
          </a:bodyPr>
          <a:lstStyle/>
          <a:p>
            <a:pPr algn="l"/>
            <a:r>
              <a:rPr sz="1900" b="1">
                <a:solidFill>
                  <a:srgbClr val="8A3D5E"/>
                </a:solidFill>
                <a:latin typeface="Consolas"/>
              </a:rPr>
              <a:t>48</a:t>
            </a:r>
          </a:p>
        </p:txBody>
      </p:sp>
      <p:sp>
        <p:nvSpPr>
          <p:cNvPr id="40" name="TextBox 39"/>
          <p:cNvSpPr txBox="1"/>
          <p:nvPr/>
        </p:nvSpPr>
        <p:spPr>
          <a:xfrm>
            <a:off x="906170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human decisions - the most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8A6410"/>
                </a:solidFill>
                <a:latin typeface="Consolas"/>
              </a:rPr>
              <a:t>profession  /  leadership</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Leadership</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The only group where the title alone is deliberately not enough. That is the design, not a weakness.</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11064240" cy="365760"/>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13232" y="2039112"/>
            <a:ext cx="914400" cy="219456"/>
          </a:xfrm>
          <a:prstGeom prst="rect">
            <a:avLst/>
          </a:prstGeom>
          <a:noFill/>
        </p:spPr>
        <p:txBody>
          <a:bodyPr wrap="square" anchor="t" lIns="0" rIns="0" tIns="0" bIns="0">
            <a:spAutoFit/>
          </a:bodyPr>
          <a:lstStyle/>
          <a:p>
            <a:pPr algn="l"/>
            <a:r>
              <a:rPr sz="900" b="1">
                <a:solidFill>
                  <a:srgbClr val="6F757E"/>
                </a:solidFill>
                <a:latin typeface="Consolas"/>
              </a:rPr>
              <a:t>FEEDS</a:t>
            </a:r>
          </a:p>
        </p:txBody>
      </p:sp>
      <p:sp>
        <p:nvSpPr>
          <p:cNvPr id="9" name="TextBox 8"/>
          <p:cNvSpPr txBox="1"/>
          <p:nvPr/>
        </p:nvSpPr>
        <p:spPr>
          <a:xfrm>
            <a:off x="1609344" y="2029968"/>
            <a:ext cx="9875520" cy="237744"/>
          </a:xfrm>
          <a:prstGeom prst="rect">
            <a:avLst/>
          </a:prstGeom>
          <a:noFill/>
        </p:spPr>
        <p:txBody>
          <a:bodyPr wrap="square" anchor="t" lIns="0" rIns="0" tIns="0" bIns="0">
            <a:spAutoFit/>
          </a:bodyPr>
          <a:lstStyle/>
          <a:p>
            <a:pPr algn="l"/>
            <a:r>
              <a:rPr sz="1050" b="0">
                <a:solidFill>
                  <a:srgbClr val="1C1F23"/>
                </a:solidFill>
                <a:latin typeface="Consolas"/>
              </a:rPr>
              <a:t>faculty_head  (0.60/0.40/0.00, CURRENT POST ONLY)      hcp_administrator  (title and field, 0.35/0.25/0.40)</a:t>
            </a:r>
          </a:p>
        </p:txBody>
      </p:sp>
      <p:sp>
        <p:nvSpPr>
          <p:cNvPr id="10" name="TextBox 9"/>
          <p:cNvSpPr txBox="1"/>
          <p:nvPr/>
        </p:nvSpPr>
        <p:spPr>
          <a:xfrm>
            <a:off x="566928" y="2432304"/>
            <a:ext cx="5486400" cy="182880"/>
          </a:xfrm>
          <a:prstGeom prst="rect">
            <a:avLst/>
          </a:prstGeom>
          <a:noFill/>
        </p:spPr>
        <p:txBody>
          <a:bodyPr wrap="square" anchor="t" lIns="0" rIns="0" tIns="0" bIns="0">
            <a:spAutoFit/>
          </a:bodyPr>
          <a:lstStyle/>
          <a:p>
            <a:pPr algn="l"/>
            <a:r>
              <a:rPr sz="900" b="1">
                <a:solidFill>
                  <a:srgbClr val="6F757E"/>
                </a:solidFill>
                <a:latin typeface="Consolas"/>
              </a:rPr>
              <a:t>ANCHORS</a:t>
            </a:r>
          </a:p>
        </p:txBody>
      </p:sp>
      <p:sp>
        <p:nvSpPr>
          <p:cNvPr id="11" name="Rectangle 10"/>
          <p:cNvSpPr/>
          <p:nvPr/>
        </p:nvSpPr>
        <p:spPr>
          <a:xfrm>
            <a:off x="566928" y="2633472"/>
            <a:ext cx="11064240" cy="60350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32000"/>
              </a:lnSpc>
            </a:pPr>
            <a:r>
              <a:rPr sz="1000" b="0">
                <a:solidFill>
                  <a:srgbClr val="464B52"/>
                </a:solidFill>
                <a:latin typeface="Consolas"/>
              </a:rPr>
              <a:t>dean · vice dean · head of department · department head · department chair · director · deputy director · chief · chair · chairman · vice chancellor · provost · rector</a:t>
            </a:r>
          </a:p>
        </p:txBody>
      </p:sp>
      <p:sp>
        <p:nvSpPr>
          <p:cNvPr id="12" name="TextBox 11"/>
          <p:cNvSpPr txBox="1"/>
          <p:nvPr/>
        </p:nvSpPr>
        <p:spPr>
          <a:xfrm>
            <a:off x="566928" y="3364992"/>
            <a:ext cx="6675120" cy="182880"/>
          </a:xfrm>
          <a:prstGeom prst="rect">
            <a:avLst/>
          </a:prstGeom>
          <a:noFill/>
        </p:spPr>
        <p:txBody>
          <a:bodyPr wrap="square" anchor="t" lIns="0" rIns="0" tIns="0" bIns="0">
            <a:spAutoFit/>
          </a:bodyPr>
          <a:lstStyle/>
          <a:p>
            <a:pPr algn="l"/>
            <a:r>
              <a:rPr sz="900" b="1">
                <a:solidFill>
                  <a:srgbClr val="6F757E"/>
                </a:solidFill>
                <a:latin typeface="Consolas"/>
              </a:rPr>
              <a:t>WHAT WENT WRONG</a:t>
            </a:r>
          </a:p>
        </p:txBody>
      </p:sp>
      <p:sp>
        <p:nvSpPr>
          <p:cNvPr id="13" name="Rectangle 12"/>
          <p:cNvSpPr/>
          <p:nvPr/>
        </p:nvSpPr>
        <p:spPr>
          <a:xfrm>
            <a:off x="566928" y="3584448"/>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TextBox 13"/>
          <p:cNvSpPr txBox="1"/>
          <p:nvPr/>
        </p:nvSpPr>
        <p:spPr>
          <a:xfrm>
            <a:off x="694944" y="3648456"/>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editor-in-chief and its unhyphenated spelling reached chief and read as institutional leadership. For a publisher, worth getting right.</a:t>
            </a:r>
          </a:p>
        </p:txBody>
      </p:sp>
      <p:sp>
        <p:nvSpPr>
          <p:cNvPr id="15" name="TextBox 14"/>
          <p:cNvSpPr txBox="1"/>
          <p:nvPr/>
        </p:nvSpPr>
        <p:spPr>
          <a:xfrm>
            <a:off x="694944" y="4105656"/>
            <a:ext cx="1097280" cy="201168"/>
          </a:xfrm>
          <a:prstGeom prst="rect">
            <a:avLst/>
          </a:prstGeom>
          <a:noFill/>
        </p:spPr>
        <p:txBody>
          <a:bodyPr wrap="square" anchor="t" lIns="0" rIns="0" tIns="0" bIns="0">
            <a:spAutoFit/>
          </a:bodyPr>
          <a:lstStyle/>
          <a:p>
            <a:pPr algn="l"/>
            <a:r>
              <a:rPr sz="1000" b="1">
                <a:solidFill>
                  <a:srgbClr val="1C1F23"/>
                </a:solidFill>
                <a:latin typeface="Consolas"/>
              </a:rPr>
              <a:t>5,172</a:t>
            </a:r>
          </a:p>
        </p:txBody>
      </p:sp>
      <p:sp>
        <p:nvSpPr>
          <p:cNvPr id="16" name="TextBox 15"/>
          <p:cNvSpPr txBox="1"/>
          <p:nvPr/>
        </p:nvSpPr>
        <p:spPr>
          <a:xfrm>
            <a:off x="1920240" y="4105656"/>
            <a:ext cx="5120640" cy="201168"/>
          </a:xfrm>
          <a:prstGeom prst="rect">
            <a:avLst/>
          </a:prstGeom>
          <a:noFill/>
        </p:spPr>
        <p:txBody>
          <a:bodyPr wrap="square" anchor="t" lIns="0" rIns="0" tIns="0" bIns="0">
            <a:spAutoFit/>
          </a:bodyPr>
          <a:lstStyle/>
          <a:p>
            <a:pPr algn="l"/>
            <a:r>
              <a:rPr sz="1000" b="0">
                <a:solidFill>
                  <a:srgbClr val="8A6410"/>
                </a:solidFill>
                <a:latin typeface="Consolas"/>
              </a:rPr>
              <a:t>-&gt; Moved to support</a:t>
            </a:r>
          </a:p>
        </p:txBody>
      </p:sp>
      <p:sp>
        <p:nvSpPr>
          <p:cNvPr id="17" name="Rectangle 16"/>
          <p:cNvSpPr/>
          <p:nvPr/>
        </p:nvSpPr>
        <p:spPr>
          <a:xfrm>
            <a:off x="566928" y="4379976"/>
            <a:ext cx="6675120" cy="749808"/>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8" name="TextBox 17"/>
          <p:cNvSpPr txBox="1"/>
          <p:nvPr/>
        </p:nvSpPr>
        <p:spPr>
          <a:xfrm>
            <a:off x="694944" y="4443984"/>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personal chair is a full professorship in UK usage, not chairing anything. vice professor, prefessor and univ -prof are all professors.</a:t>
            </a:r>
          </a:p>
        </p:txBody>
      </p:sp>
      <p:sp>
        <p:nvSpPr>
          <p:cNvPr id="19" name="TextBox 18"/>
          <p:cNvSpPr txBox="1"/>
          <p:nvPr/>
        </p:nvSpPr>
        <p:spPr>
          <a:xfrm>
            <a:off x="694944" y="4901184"/>
            <a:ext cx="1097280" cy="201168"/>
          </a:xfrm>
          <a:prstGeom prst="rect">
            <a:avLst/>
          </a:prstGeom>
          <a:noFill/>
        </p:spPr>
        <p:txBody>
          <a:bodyPr wrap="square" anchor="t" lIns="0" rIns="0" tIns="0" bIns="0">
            <a:spAutoFit/>
          </a:bodyPr>
          <a:lstStyle/>
          <a:p>
            <a:pPr algn="l"/>
            <a:r>
              <a:rPr sz="1000" b="1">
                <a:solidFill>
                  <a:srgbClr val="1C1F23"/>
                </a:solidFill>
                <a:latin typeface="Consolas"/>
              </a:rPr>
              <a:t>2,933</a:t>
            </a:r>
          </a:p>
        </p:txBody>
      </p:sp>
      <p:sp>
        <p:nvSpPr>
          <p:cNvPr id="20" name="TextBox 19"/>
          <p:cNvSpPr txBox="1"/>
          <p:nvPr/>
        </p:nvSpPr>
        <p:spPr>
          <a:xfrm>
            <a:off x="1920240" y="4901184"/>
            <a:ext cx="5120640" cy="201168"/>
          </a:xfrm>
          <a:prstGeom prst="rect">
            <a:avLst/>
          </a:prstGeom>
          <a:noFill/>
        </p:spPr>
        <p:txBody>
          <a:bodyPr wrap="square" anchor="t" lIns="0" rIns="0" tIns="0" bIns="0">
            <a:spAutoFit/>
          </a:bodyPr>
          <a:lstStyle/>
          <a:p>
            <a:pPr algn="l"/>
            <a:r>
              <a:rPr sz="1000" b="0">
                <a:solidFill>
                  <a:srgbClr val="8A6410"/>
                </a:solidFill>
                <a:latin typeface="Consolas"/>
              </a:rPr>
              <a:t>-&gt; Moved to teaching</a:t>
            </a:r>
          </a:p>
        </p:txBody>
      </p:sp>
      <p:sp>
        <p:nvSpPr>
          <p:cNvPr id="21" name="Rectangle 20"/>
          <p:cNvSpPr/>
          <p:nvPr/>
        </p:nvSpPr>
        <p:spPr>
          <a:xfrm>
            <a:off x="566928" y="5175504"/>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2" name="TextBox 21"/>
          <p:cNvSpPr txBox="1"/>
          <p:nvPr/>
        </p:nvSpPr>
        <p:spPr>
          <a:xfrm>
            <a:off x="694944" y="5239512"/>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chancellor s fellow is an early-career fellowship that reached vice chancellor on one word. lieutenant reached chief - a military rank.</a:t>
            </a:r>
          </a:p>
        </p:txBody>
      </p:sp>
      <p:sp>
        <p:nvSpPr>
          <p:cNvPr id="23" name="TextBox 22"/>
          <p:cNvSpPr txBox="1"/>
          <p:nvPr/>
        </p:nvSpPr>
        <p:spPr>
          <a:xfrm>
            <a:off x="694944" y="5696712"/>
            <a:ext cx="1097280" cy="201168"/>
          </a:xfrm>
          <a:prstGeom prst="rect">
            <a:avLst/>
          </a:prstGeom>
          <a:noFill/>
        </p:spPr>
        <p:txBody>
          <a:bodyPr wrap="square" anchor="t" lIns="0" rIns="0" tIns="0" bIns="0">
            <a:spAutoFit/>
          </a:bodyPr>
          <a:lstStyle/>
          <a:p>
            <a:pPr algn="l"/>
            <a:r>
              <a:rPr sz="1000" b="1">
                <a:solidFill>
                  <a:srgbClr val="1C1F23"/>
                </a:solidFill>
                <a:latin typeface="Consolas"/>
              </a:rPr>
              <a:t>1,363</a:t>
            </a:r>
          </a:p>
        </p:txBody>
      </p:sp>
      <p:sp>
        <p:nvSpPr>
          <p:cNvPr id="24" name="TextBox 23"/>
          <p:cNvSpPr txBox="1"/>
          <p:nvPr/>
        </p:nvSpPr>
        <p:spPr>
          <a:xfrm>
            <a:off x="1920240" y="5696712"/>
            <a:ext cx="5120640" cy="201168"/>
          </a:xfrm>
          <a:prstGeom prst="rect">
            <a:avLst/>
          </a:prstGeom>
          <a:noFill/>
        </p:spPr>
        <p:txBody>
          <a:bodyPr wrap="square" anchor="t" lIns="0" rIns="0" tIns="0" bIns="0">
            <a:spAutoFit/>
          </a:bodyPr>
          <a:lstStyle/>
          <a:p>
            <a:pPr algn="l"/>
            <a:r>
              <a:rPr sz="1000" b="0">
                <a:solidFill>
                  <a:srgbClr val="8A6410"/>
                </a:solidFill>
                <a:latin typeface="Consolas"/>
              </a:rPr>
              <a:t>-&gt; Moved to research and support</a:t>
            </a:r>
          </a:p>
        </p:txBody>
      </p:sp>
      <p:sp>
        <p:nvSpPr>
          <p:cNvPr id="25" name="Rectangle 24"/>
          <p:cNvSpPr/>
          <p:nvPr/>
        </p:nvSpPr>
        <p:spPr>
          <a:xfrm>
            <a:off x="7424927" y="3584448"/>
            <a:ext cx="4206240" cy="2350008"/>
          </a:xfrm>
          <a:prstGeom prst="rect">
            <a:avLst/>
          </a:prstGeom>
          <a:solidFill>
            <a:srgbClr val="FFFFFF"/>
          </a:solidFill>
          <a:ln w="15875">
            <a:solidFill>
              <a:srgbClr val="1F6F6A"/>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Rectangle 25"/>
          <p:cNvSpPr/>
          <p:nvPr/>
        </p:nvSpPr>
        <p:spPr>
          <a:xfrm>
            <a:off x="7424927" y="3584448"/>
            <a:ext cx="4206240" cy="41148"/>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3730752"/>
            <a:ext cx="3877056" cy="402336"/>
          </a:xfrm>
          <a:prstGeom prst="rect">
            <a:avLst/>
          </a:prstGeom>
          <a:noFill/>
        </p:spPr>
        <p:txBody>
          <a:bodyPr wrap="square" anchor="t" lIns="0" rIns="0" tIns="0" bIns="0">
            <a:spAutoFit/>
          </a:bodyPr>
          <a:lstStyle/>
          <a:p>
            <a:pPr algn="l">
              <a:lnSpc>
                <a:spcPct val="114000"/>
              </a:lnSpc>
            </a:pPr>
            <a:r>
              <a:rPr sz="1150" b="1">
                <a:solidFill>
                  <a:srgbClr val="1F6F6A"/>
                </a:solidFill>
                <a:latin typeface="Calibri"/>
              </a:rPr>
              <a:t>The conditional design, and the measured proof it works</a:t>
            </a:r>
          </a:p>
        </p:txBody>
      </p:sp>
      <p:sp>
        <p:nvSpPr>
          <p:cNvPr id="28" name="TextBox 27"/>
          <p:cNvSpPr txBox="1"/>
          <p:nvPr/>
        </p:nvSpPr>
        <p:spPr>
          <a:xfrm>
            <a:off x="7607808" y="4187952"/>
            <a:ext cx="3877056" cy="1682496"/>
          </a:xfrm>
          <a:prstGeom prst="rect">
            <a:avLst/>
          </a:prstGeom>
          <a:noFill/>
        </p:spPr>
        <p:txBody>
          <a:bodyPr wrap="square" anchor="t" lIns="0" rIns="0" tIns="0" bIns="0">
            <a:spAutoFit/>
          </a:bodyPr>
          <a:lstStyle/>
          <a:p>
            <a:pPr algn="l">
              <a:lnSpc>
                <a:spcPct val="122000"/>
              </a:lnSpc>
            </a:pPr>
            <a:r>
              <a:rPr sz="1000" b="0">
                <a:solidFill>
                  <a:srgbClr val="464B52"/>
                </a:solidFill>
                <a:latin typeface="Calibri"/>
              </a:rPr>
              <a:t>A leadership title says nothing about whether the person is academic. The organisation decides: faculty_head scores a Company at 0.00 and an unresolved organisation at 0.00, so a corporate title cannot confirm there at all.
ceo produces 879 people of whom 55 are confirmed. founder: 31 of 411. owner: 2 of 188. The same word lands correctly in different places - clinic director becomes a clinical administrator, chief technology officer becomes nothing.</a:t>
            </a:r>
          </a:p>
        </p:txBody>
      </p:sp>
      <p:sp>
        <p:nvSpPr>
          <p:cNvPr id="29" name="Rectangle 28"/>
          <p:cNvSpPr/>
          <p:nvPr/>
        </p:nvSpPr>
        <p:spPr>
          <a:xfrm>
            <a:off x="56692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0" name="TextBox 29"/>
          <p:cNvSpPr txBox="1"/>
          <p:nvPr/>
        </p:nvSpPr>
        <p:spPr>
          <a:xfrm>
            <a:off x="694944" y="6007608"/>
            <a:ext cx="2468879" cy="301752"/>
          </a:xfrm>
          <a:prstGeom prst="rect">
            <a:avLst/>
          </a:prstGeom>
          <a:noFill/>
        </p:spPr>
        <p:txBody>
          <a:bodyPr wrap="square" anchor="t" lIns="0" rIns="0" tIns="0" bIns="0">
            <a:spAutoFit/>
          </a:bodyPr>
          <a:lstStyle/>
          <a:p>
            <a:pPr algn="l"/>
            <a:r>
              <a:rPr sz="1900" b="1">
                <a:solidFill>
                  <a:srgbClr val="8A6410"/>
                </a:solidFill>
                <a:latin typeface="Consolas"/>
              </a:rPr>
              <a:t>26% → 27%</a:t>
            </a:r>
          </a:p>
        </p:txBody>
      </p:sp>
      <p:sp>
        <p:nvSpPr>
          <p:cNvPr id="31" name="TextBox 30"/>
          <p:cNvSpPr txBox="1"/>
          <p:nvPr/>
        </p:nvSpPr>
        <p:spPr>
          <a:xfrm>
            <a:off x="69494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unsure - it RECEIVED titles</a:t>
            </a:r>
          </a:p>
        </p:txBody>
      </p:sp>
      <p:sp>
        <p:nvSpPr>
          <p:cNvPr id="32" name="Rectangle 31"/>
          <p:cNvSpPr/>
          <p:nvPr/>
        </p:nvSpPr>
        <p:spPr>
          <a:xfrm>
            <a:off x="335584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3" name="TextBox 32"/>
          <p:cNvSpPr txBox="1"/>
          <p:nvPr/>
        </p:nvSpPr>
        <p:spPr>
          <a:xfrm>
            <a:off x="348386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~62%</a:t>
            </a:r>
          </a:p>
        </p:txBody>
      </p:sp>
      <p:sp>
        <p:nvSpPr>
          <p:cNvPr id="34" name="TextBox 33"/>
          <p:cNvSpPr txBox="1"/>
          <p:nvPr/>
        </p:nvSpPr>
        <p:spPr>
          <a:xfrm>
            <a:off x="348386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of records read</a:t>
            </a:r>
          </a:p>
        </p:txBody>
      </p:sp>
      <p:sp>
        <p:nvSpPr>
          <p:cNvPr id="35" name="Rectangle 34"/>
          <p:cNvSpPr/>
          <p:nvPr/>
        </p:nvSpPr>
        <p:spPr>
          <a:xfrm>
            <a:off x="614476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272783" y="6007608"/>
            <a:ext cx="2468879" cy="301752"/>
          </a:xfrm>
          <a:prstGeom prst="rect">
            <a:avLst/>
          </a:prstGeom>
          <a:noFill/>
        </p:spPr>
        <p:txBody>
          <a:bodyPr wrap="square" anchor="t" lIns="0" rIns="0" tIns="0" bIns="0">
            <a:spAutoFit/>
          </a:bodyPr>
          <a:lstStyle/>
          <a:p>
            <a:pPr algn="l"/>
            <a:r>
              <a:rPr sz="1900" b="1">
                <a:solidFill>
                  <a:srgbClr val="1C1F23"/>
                </a:solidFill>
                <a:latin typeface="Consolas"/>
              </a:rPr>
              <a:t>144,252</a:t>
            </a:r>
          </a:p>
        </p:txBody>
      </p:sp>
      <p:sp>
        <p:nvSpPr>
          <p:cNvPr id="37" name="TextBox 36"/>
          <p:cNvSpPr txBox="1"/>
          <p:nvPr/>
        </p:nvSpPr>
        <p:spPr>
          <a:xfrm>
            <a:off x="627278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records on director alone</a:t>
            </a:r>
          </a:p>
        </p:txBody>
      </p:sp>
      <p:sp>
        <p:nvSpPr>
          <p:cNvPr id="38" name="Rectangle 37"/>
          <p:cNvSpPr/>
          <p:nvPr/>
        </p:nvSpPr>
        <p:spPr>
          <a:xfrm>
            <a:off x="8933687"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9" name="TextBox 38"/>
          <p:cNvSpPr txBox="1"/>
          <p:nvPr/>
        </p:nvSpPr>
        <p:spPr>
          <a:xfrm>
            <a:off x="9061703" y="6007608"/>
            <a:ext cx="2468879" cy="301752"/>
          </a:xfrm>
          <a:prstGeom prst="rect">
            <a:avLst/>
          </a:prstGeom>
          <a:noFill/>
        </p:spPr>
        <p:txBody>
          <a:bodyPr wrap="square" anchor="t" lIns="0" rIns="0" tIns="0" bIns="0">
            <a:spAutoFit/>
          </a:bodyPr>
          <a:lstStyle/>
          <a:p>
            <a:pPr algn="l"/>
            <a:r>
              <a:rPr sz="1900" b="1">
                <a:solidFill>
                  <a:srgbClr val="1C1F23"/>
                </a:solidFill>
                <a:latin typeface="Consolas"/>
              </a:rPr>
              <a:t>20,347</a:t>
            </a:r>
          </a:p>
        </p:txBody>
      </p:sp>
      <p:sp>
        <p:nvSpPr>
          <p:cNvPr id="40" name="TextBox 39"/>
          <p:cNvSpPr txBox="1"/>
          <p:nvPr/>
        </p:nvSpPr>
        <p:spPr>
          <a:xfrm>
            <a:off x="906170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Head of faculty audience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8A3D5E"/>
                </a:solidFill>
                <a:latin typeface="Consolas"/>
              </a:rPr>
              <a:t>profession  /  pharmacist</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Pharmacist</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Proportionally the dirtiest group in the project - 21% of its records were wrong - and French did it.</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11064240" cy="365760"/>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13232" y="2039112"/>
            <a:ext cx="914400" cy="219456"/>
          </a:xfrm>
          <a:prstGeom prst="rect">
            <a:avLst/>
          </a:prstGeom>
          <a:noFill/>
        </p:spPr>
        <p:txBody>
          <a:bodyPr wrap="square" anchor="t" lIns="0" rIns="0" tIns="0" bIns="0">
            <a:spAutoFit/>
          </a:bodyPr>
          <a:lstStyle/>
          <a:p>
            <a:pPr algn="l"/>
            <a:r>
              <a:rPr sz="900" b="1">
                <a:solidFill>
                  <a:srgbClr val="6F757E"/>
                </a:solidFill>
                <a:latin typeface="Consolas"/>
              </a:rPr>
              <a:t>FEEDS</a:t>
            </a:r>
          </a:p>
        </p:txBody>
      </p:sp>
      <p:sp>
        <p:nvSpPr>
          <p:cNvPr id="9" name="TextBox 8"/>
          <p:cNvSpPr txBox="1"/>
          <p:nvPr/>
        </p:nvSpPr>
        <p:spPr>
          <a:xfrm>
            <a:off x="1609344" y="2029968"/>
            <a:ext cx="9875520" cy="237744"/>
          </a:xfrm>
          <a:prstGeom prst="rect">
            <a:avLst/>
          </a:prstGeom>
          <a:noFill/>
        </p:spPr>
        <p:txBody>
          <a:bodyPr wrap="square" anchor="t" lIns="0" rIns="0" tIns="0" bIns="0">
            <a:spAutoFit/>
          </a:bodyPr>
          <a:lstStyle/>
          <a:p>
            <a:pPr algn="l"/>
            <a:r>
              <a:rPr sz="1050" b="0">
                <a:solidFill>
                  <a:srgbClr val="1C1F23"/>
                </a:solidFill>
                <a:latin typeface="Consolas"/>
              </a:rPr>
              <a:t>pharmacist  (title required, 0.55 / 0.15 / 0.30, confirm 0.60)       rolls up into hcp_broad</a:t>
            </a:r>
          </a:p>
        </p:txBody>
      </p:sp>
      <p:sp>
        <p:nvSpPr>
          <p:cNvPr id="10" name="TextBox 9"/>
          <p:cNvSpPr txBox="1"/>
          <p:nvPr/>
        </p:nvSpPr>
        <p:spPr>
          <a:xfrm>
            <a:off x="566928" y="2432304"/>
            <a:ext cx="5486400" cy="182880"/>
          </a:xfrm>
          <a:prstGeom prst="rect">
            <a:avLst/>
          </a:prstGeom>
          <a:noFill/>
        </p:spPr>
        <p:txBody>
          <a:bodyPr wrap="square" anchor="t" lIns="0" rIns="0" tIns="0" bIns="0">
            <a:spAutoFit/>
          </a:bodyPr>
          <a:lstStyle/>
          <a:p>
            <a:pPr algn="l"/>
            <a:r>
              <a:rPr sz="900" b="1">
                <a:solidFill>
                  <a:srgbClr val="6F757E"/>
                </a:solidFill>
                <a:latin typeface="Consolas"/>
              </a:rPr>
              <a:t>ANCHORS</a:t>
            </a:r>
          </a:p>
        </p:txBody>
      </p:sp>
      <p:sp>
        <p:nvSpPr>
          <p:cNvPr id="11" name="Rectangle 10"/>
          <p:cNvSpPr/>
          <p:nvPr/>
        </p:nvSpPr>
        <p:spPr>
          <a:xfrm>
            <a:off x="566928" y="2633472"/>
            <a:ext cx="11064240" cy="60350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32000"/>
              </a:lnSpc>
            </a:pPr>
            <a:r>
              <a:rPr sz="1000" b="0">
                <a:solidFill>
                  <a:srgbClr val="464B52"/>
                </a:solidFill>
                <a:latin typeface="Consolas"/>
              </a:rPr>
              <a:t>pharmacist · hospital pharmacist · clinical pharmacist · community pharmacist · chief pharmacist · head of pharmacy · dispensing pharmacist · | the five foreign anchors caused almost everything below: apotheker · pharmacien · farmaceutico · eczaci</a:t>
            </a:r>
          </a:p>
        </p:txBody>
      </p:sp>
      <p:sp>
        <p:nvSpPr>
          <p:cNvPr id="12" name="TextBox 11"/>
          <p:cNvSpPr txBox="1"/>
          <p:nvPr/>
        </p:nvSpPr>
        <p:spPr>
          <a:xfrm>
            <a:off x="566928" y="3364992"/>
            <a:ext cx="6675120" cy="182880"/>
          </a:xfrm>
          <a:prstGeom prst="rect">
            <a:avLst/>
          </a:prstGeom>
          <a:noFill/>
        </p:spPr>
        <p:txBody>
          <a:bodyPr wrap="square" anchor="t" lIns="0" rIns="0" tIns="0" bIns="0">
            <a:spAutoFit/>
          </a:bodyPr>
          <a:lstStyle/>
          <a:p>
            <a:pPr algn="l"/>
            <a:r>
              <a:rPr sz="900" b="1">
                <a:solidFill>
                  <a:srgbClr val="6F757E"/>
                </a:solidFill>
                <a:latin typeface="Consolas"/>
              </a:rPr>
              <a:t>WHAT WENT WRONG</a:t>
            </a:r>
          </a:p>
        </p:txBody>
      </p:sp>
      <p:sp>
        <p:nvSpPr>
          <p:cNvPr id="13" name="Rectangle 12"/>
          <p:cNvSpPr/>
          <p:nvPr/>
        </p:nvSpPr>
        <p:spPr>
          <a:xfrm>
            <a:off x="566928" y="3584448"/>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TextBox 13"/>
          <p:cNvSpPr txBox="1"/>
          <p:nvPr/>
        </p:nvSpPr>
        <p:spPr>
          <a:xfrm>
            <a:off x="694944" y="3648456"/>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pharmacien, 54% unsure, attracted PRATICIEN - French for practitioner, three letters away. praticien hospitalier 1,359 and six more, plus infirmière and pielęgniarka, both nurses.</a:t>
            </a:r>
          </a:p>
        </p:txBody>
      </p:sp>
      <p:sp>
        <p:nvSpPr>
          <p:cNvPr id="15" name="TextBox 14"/>
          <p:cNvSpPr txBox="1"/>
          <p:nvPr/>
        </p:nvSpPr>
        <p:spPr>
          <a:xfrm>
            <a:off x="694944" y="4105656"/>
            <a:ext cx="1097280" cy="201168"/>
          </a:xfrm>
          <a:prstGeom prst="rect">
            <a:avLst/>
          </a:prstGeom>
          <a:noFill/>
        </p:spPr>
        <p:txBody>
          <a:bodyPr wrap="square" anchor="t" lIns="0" rIns="0" tIns="0" bIns="0">
            <a:spAutoFit/>
          </a:bodyPr>
          <a:lstStyle/>
          <a:p>
            <a:pPr algn="l"/>
            <a:r>
              <a:rPr sz="1000" b="1">
                <a:solidFill>
                  <a:srgbClr val="1C1F23"/>
                </a:solidFill>
                <a:latin typeface="Consolas"/>
              </a:rPr>
              <a:t>~2,800</a:t>
            </a:r>
          </a:p>
        </p:txBody>
      </p:sp>
      <p:sp>
        <p:nvSpPr>
          <p:cNvPr id="16" name="TextBox 15"/>
          <p:cNvSpPr txBox="1"/>
          <p:nvPr/>
        </p:nvSpPr>
        <p:spPr>
          <a:xfrm>
            <a:off x="1920240" y="4105656"/>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 to practitioner</a:t>
            </a:r>
          </a:p>
        </p:txBody>
      </p:sp>
      <p:sp>
        <p:nvSpPr>
          <p:cNvPr id="17" name="Rectangle 16"/>
          <p:cNvSpPr/>
          <p:nvPr/>
        </p:nvSpPr>
        <p:spPr>
          <a:xfrm>
            <a:off x="566928" y="4379976"/>
            <a:ext cx="6675120" cy="749808"/>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8" name="TextBox 17"/>
          <p:cNvSpPr txBox="1"/>
          <p:nvPr/>
        </p:nvSpPr>
        <p:spPr>
          <a:xfrm>
            <a:off x="694944" y="4443984"/>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apotheker (91% unsure) attracted German and Nordic DOCTOR words: arzt, oberarztin, at-läkare. farmaceutico (72%) attracted any Romance word ending -ico: facultativo, químico, bioquímica.</a:t>
            </a:r>
          </a:p>
        </p:txBody>
      </p:sp>
      <p:sp>
        <p:nvSpPr>
          <p:cNvPr id="19" name="TextBox 18"/>
          <p:cNvSpPr txBox="1"/>
          <p:nvPr/>
        </p:nvSpPr>
        <p:spPr>
          <a:xfrm>
            <a:off x="694944" y="4901184"/>
            <a:ext cx="1097280" cy="201168"/>
          </a:xfrm>
          <a:prstGeom prst="rect">
            <a:avLst/>
          </a:prstGeom>
          <a:noFill/>
        </p:spPr>
        <p:txBody>
          <a:bodyPr wrap="square" anchor="t" lIns="0" rIns="0" tIns="0" bIns="0">
            <a:spAutoFit/>
          </a:bodyPr>
          <a:lstStyle/>
          <a:p>
            <a:pPr algn="l"/>
            <a:r>
              <a:rPr sz="1000" b="1">
                <a:solidFill>
                  <a:srgbClr val="1C1F23"/>
                </a:solidFill>
                <a:latin typeface="Consolas"/>
              </a:rPr>
              <a:t>~2,100</a:t>
            </a:r>
          </a:p>
        </p:txBody>
      </p:sp>
      <p:sp>
        <p:nvSpPr>
          <p:cNvPr id="20" name="TextBox 19"/>
          <p:cNvSpPr txBox="1"/>
          <p:nvPr/>
        </p:nvSpPr>
        <p:spPr>
          <a:xfrm>
            <a:off x="1920240" y="4901184"/>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a:t>
            </a:r>
          </a:p>
        </p:txBody>
      </p:sp>
      <p:sp>
        <p:nvSpPr>
          <p:cNvPr id="21" name="Rectangle 20"/>
          <p:cNvSpPr/>
          <p:nvPr/>
        </p:nvSpPr>
        <p:spPr>
          <a:xfrm>
            <a:off x="566928" y="5175504"/>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2" name="TextBox 21"/>
          <p:cNvSpPr txBox="1"/>
          <p:nvPr/>
        </p:nvSpPr>
        <p:spPr>
          <a:xfrm>
            <a:off x="694944" y="5239512"/>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chemist and its family. In British English a chemist is a pharmacy; as an ORCID job title it is a chemistry researcher.</a:t>
            </a:r>
          </a:p>
        </p:txBody>
      </p:sp>
      <p:sp>
        <p:nvSpPr>
          <p:cNvPr id="23" name="TextBox 22"/>
          <p:cNvSpPr txBox="1"/>
          <p:nvPr/>
        </p:nvSpPr>
        <p:spPr>
          <a:xfrm>
            <a:off x="694944" y="5696712"/>
            <a:ext cx="1097280" cy="201168"/>
          </a:xfrm>
          <a:prstGeom prst="rect">
            <a:avLst/>
          </a:prstGeom>
          <a:noFill/>
        </p:spPr>
        <p:txBody>
          <a:bodyPr wrap="square" anchor="t" lIns="0" rIns="0" tIns="0" bIns="0">
            <a:spAutoFit/>
          </a:bodyPr>
          <a:lstStyle/>
          <a:p>
            <a:pPr algn="l"/>
            <a:r>
              <a:rPr sz="1000" b="1">
                <a:solidFill>
                  <a:srgbClr val="1C1F23"/>
                </a:solidFill>
                <a:latin typeface="Consolas"/>
              </a:rPr>
              <a:t>6,923</a:t>
            </a:r>
          </a:p>
        </p:txBody>
      </p:sp>
      <p:sp>
        <p:nvSpPr>
          <p:cNvPr id="24" name="TextBox 23"/>
          <p:cNvSpPr txBox="1"/>
          <p:nvPr/>
        </p:nvSpPr>
        <p:spPr>
          <a:xfrm>
            <a:off x="1920240" y="5696712"/>
            <a:ext cx="5120640" cy="201168"/>
          </a:xfrm>
          <a:prstGeom prst="rect">
            <a:avLst/>
          </a:prstGeom>
          <a:noFill/>
        </p:spPr>
        <p:txBody>
          <a:bodyPr wrap="square" anchor="t" lIns="0" rIns="0" tIns="0" bIns="0">
            <a:spAutoFit/>
          </a:bodyPr>
          <a:lstStyle/>
          <a:p>
            <a:pPr algn="l"/>
            <a:r>
              <a:rPr sz="1000" b="0">
                <a:solidFill>
                  <a:srgbClr val="8A3D5E"/>
                </a:solidFill>
                <a:latin typeface="Consolas"/>
              </a:rPr>
              <a:t>-&gt; Moved to researcher_established</a:t>
            </a:r>
          </a:p>
        </p:txBody>
      </p:sp>
      <p:sp>
        <p:nvSpPr>
          <p:cNvPr id="25" name="Rectangle 24"/>
          <p:cNvSpPr/>
          <p:nvPr/>
        </p:nvSpPr>
        <p:spPr>
          <a:xfrm>
            <a:off x="7424927" y="3584448"/>
            <a:ext cx="4206240" cy="2350008"/>
          </a:xfrm>
          <a:prstGeom prst="rect">
            <a:avLst/>
          </a:prstGeom>
          <a:solidFill>
            <a:srgbClr val="FFFFFF"/>
          </a:solidFill>
          <a:ln w="15875">
            <a:solidFill>
              <a:srgbClr val="1F6F6A"/>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Rectangle 25"/>
          <p:cNvSpPr/>
          <p:nvPr/>
        </p:nvSpPr>
        <p:spPr>
          <a:xfrm>
            <a:off x="7424927" y="3584448"/>
            <a:ext cx="4206240" cy="41148"/>
          </a:xfrm>
          <a:prstGeom prst="rect">
            <a:avLst/>
          </a:prstGeom>
          <a:solidFill>
            <a:srgbClr val="1F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3730752"/>
            <a:ext cx="3877056" cy="402336"/>
          </a:xfrm>
          <a:prstGeom prst="rect">
            <a:avLst/>
          </a:prstGeom>
          <a:noFill/>
        </p:spPr>
        <p:txBody>
          <a:bodyPr wrap="square" anchor="t" lIns="0" rIns="0" tIns="0" bIns="0">
            <a:spAutoFit/>
          </a:bodyPr>
          <a:lstStyle/>
          <a:p>
            <a:pPr algn="l">
              <a:lnSpc>
                <a:spcPct val="114000"/>
              </a:lnSpc>
            </a:pPr>
            <a:r>
              <a:rPr sz="1150" b="1">
                <a:solidFill>
                  <a:srgbClr val="1F6F6A"/>
                </a:solidFill>
                <a:latin typeface="Calibri"/>
              </a:rPr>
              <a:t>Why 21% of the group being wrong cost the audience 91 people</a:t>
            </a:r>
          </a:p>
        </p:txBody>
      </p:sp>
      <p:sp>
        <p:nvSpPr>
          <p:cNvPr id="28" name="TextBox 27"/>
          <p:cNvSpPr txBox="1"/>
          <p:nvPr/>
        </p:nvSpPr>
        <p:spPr>
          <a:xfrm>
            <a:off x="7607808" y="4187952"/>
            <a:ext cx="3877056" cy="1682496"/>
          </a:xfrm>
          <a:prstGeom prst="rect">
            <a:avLst/>
          </a:prstGeom>
          <a:noFill/>
        </p:spPr>
        <p:txBody>
          <a:bodyPr wrap="square" anchor="t" lIns="0" rIns="0" tIns="0" bIns="0">
            <a:spAutoFit/>
          </a:bodyPr>
          <a:lstStyle/>
          <a:p>
            <a:pPr algn="l">
              <a:lnSpc>
                <a:spcPct val="122000"/>
              </a:lnSpc>
            </a:pPr>
            <a:r>
              <a:rPr sz="1000" b="0">
                <a:solidFill>
                  <a:srgbClr val="464B52"/>
                </a:solidFill>
                <a:latin typeface="Calibri"/>
              </a:rPr>
              <a:t>Weights 0.55 / 0.15 / 0.30 against a 0.60 threshold mean the weakest assignment plus a FULLY resolved organisation reaches only 0.535. A pharmacy department is required.
So a chemist without a pharmacy department was never confirmed in the first place. The dictionary was badly wrong and the audience barely moved: 2,336 people became 2,245.
This is the clearest example in the project of those being two different things.</a:t>
            </a:r>
          </a:p>
        </p:txBody>
      </p:sp>
      <p:sp>
        <p:nvSpPr>
          <p:cNvPr id="29" name="Rectangle 28"/>
          <p:cNvSpPr/>
          <p:nvPr/>
        </p:nvSpPr>
        <p:spPr>
          <a:xfrm>
            <a:off x="56692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0" name="TextBox 29"/>
          <p:cNvSpPr txBox="1"/>
          <p:nvPr/>
        </p:nvSpPr>
        <p:spPr>
          <a:xfrm>
            <a:off x="694944"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35% → 29%</a:t>
            </a:r>
          </a:p>
        </p:txBody>
      </p:sp>
      <p:sp>
        <p:nvSpPr>
          <p:cNvPr id="31" name="TextBox 30"/>
          <p:cNvSpPr txBox="1"/>
          <p:nvPr/>
        </p:nvSpPr>
        <p:spPr>
          <a:xfrm>
            <a:off x="69494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unsure</a:t>
            </a:r>
          </a:p>
        </p:txBody>
      </p:sp>
      <p:sp>
        <p:nvSpPr>
          <p:cNvPr id="32" name="Rectangle 31"/>
          <p:cNvSpPr/>
          <p:nvPr/>
        </p:nvSpPr>
        <p:spPr>
          <a:xfrm>
            <a:off x="335584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3" name="TextBox 32"/>
          <p:cNvSpPr txBox="1"/>
          <p:nvPr/>
        </p:nvSpPr>
        <p:spPr>
          <a:xfrm>
            <a:off x="3483864" y="6007608"/>
            <a:ext cx="2468879" cy="301752"/>
          </a:xfrm>
          <a:prstGeom prst="rect">
            <a:avLst/>
          </a:prstGeom>
          <a:noFill/>
        </p:spPr>
        <p:txBody>
          <a:bodyPr wrap="square" anchor="t" lIns="0" rIns="0" tIns="0" bIns="0">
            <a:spAutoFit/>
          </a:bodyPr>
          <a:lstStyle/>
          <a:p>
            <a:pPr algn="l"/>
            <a:r>
              <a:rPr sz="1900" b="1">
                <a:solidFill>
                  <a:srgbClr val="8A6410"/>
                </a:solidFill>
                <a:latin typeface="Consolas"/>
              </a:rPr>
              <a:t>~51%</a:t>
            </a:r>
          </a:p>
        </p:txBody>
      </p:sp>
      <p:sp>
        <p:nvSpPr>
          <p:cNvPr id="34" name="TextBox 33"/>
          <p:cNvSpPr txBox="1"/>
          <p:nvPr/>
        </p:nvSpPr>
        <p:spPr>
          <a:xfrm>
            <a:off x="348386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of records read</a:t>
            </a:r>
          </a:p>
        </p:txBody>
      </p:sp>
      <p:sp>
        <p:nvSpPr>
          <p:cNvPr id="35" name="Rectangle 34"/>
          <p:cNvSpPr/>
          <p:nvPr/>
        </p:nvSpPr>
        <p:spPr>
          <a:xfrm>
            <a:off x="614476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272783"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−27,459</a:t>
            </a:r>
          </a:p>
        </p:txBody>
      </p:sp>
      <p:sp>
        <p:nvSpPr>
          <p:cNvPr id="37" name="TextBox 36"/>
          <p:cNvSpPr txBox="1"/>
          <p:nvPr/>
        </p:nvSpPr>
        <p:spPr>
          <a:xfrm>
            <a:off x="627278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net records</a:t>
            </a:r>
          </a:p>
        </p:txBody>
      </p:sp>
      <p:sp>
        <p:nvSpPr>
          <p:cNvPr id="38" name="Rectangle 37"/>
          <p:cNvSpPr/>
          <p:nvPr/>
        </p:nvSpPr>
        <p:spPr>
          <a:xfrm>
            <a:off x="8933687"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9" name="TextBox 38"/>
          <p:cNvSpPr txBox="1"/>
          <p:nvPr/>
        </p:nvSpPr>
        <p:spPr>
          <a:xfrm>
            <a:off x="9061703" y="6007608"/>
            <a:ext cx="2468879" cy="301752"/>
          </a:xfrm>
          <a:prstGeom prst="rect">
            <a:avLst/>
          </a:prstGeom>
          <a:noFill/>
        </p:spPr>
        <p:txBody>
          <a:bodyPr wrap="square" anchor="t" lIns="0" rIns="0" tIns="0" bIns="0">
            <a:spAutoFit/>
          </a:bodyPr>
          <a:lstStyle/>
          <a:p>
            <a:pPr algn="l"/>
            <a:r>
              <a:rPr sz="1900" b="1">
                <a:solidFill>
                  <a:srgbClr val="1C1F23"/>
                </a:solidFill>
                <a:latin typeface="Consolas"/>
              </a:rPr>
              <a:t>2,245</a:t>
            </a:r>
          </a:p>
        </p:txBody>
      </p:sp>
      <p:sp>
        <p:nvSpPr>
          <p:cNvPr id="40" name="TextBox 39"/>
          <p:cNvSpPr txBox="1"/>
          <p:nvPr/>
        </p:nvSpPr>
        <p:spPr>
          <a:xfrm>
            <a:off x="906170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Pharmacist audience, from 2,336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19456"/>
          </a:xfrm>
          <a:prstGeom prst="rect">
            <a:avLst/>
          </a:prstGeom>
          <a:noFill/>
        </p:spPr>
        <p:txBody>
          <a:bodyPr wrap="square" anchor="t" lIns="0" rIns="0" tIns="0" bIns="0">
            <a:spAutoFit/>
          </a:bodyPr>
          <a:lstStyle/>
          <a:p>
            <a:pPr algn="l"/>
            <a:r>
              <a:rPr sz="1050" b="1" cap="all">
                <a:solidFill>
                  <a:srgbClr val="8A6410"/>
                </a:solidFill>
                <a:latin typeface="Consolas"/>
              </a:rPr>
              <a:t>profession  /  librarian</a:t>
            </a:r>
          </a:p>
        </p:txBody>
      </p:sp>
      <p:sp>
        <p:nvSpPr>
          <p:cNvPr id="4" name="TextBox 3"/>
          <p:cNvSpPr txBox="1"/>
          <p:nvPr/>
        </p:nvSpPr>
        <p:spPr>
          <a:xfrm>
            <a:off x="566928" y="621792"/>
            <a:ext cx="10881360" cy="566928"/>
          </a:xfrm>
          <a:prstGeom prst="rect">
            <a:avLst/>
          </a:prstGeom>
          <a:noFill/>
        </p:spPr>
        <p:txBody>
          <a:bodyPr wrap="square" anchor="t" lIns="0" rIns="0" tIns="0" bIns="0">
            <a:spAutoFit/>
          </a:bodyPr>
          <a:lstStyle/>
          <a:p>
            <a:pPr algn="l"/>
            <a:r>
              <a:rPr sz="2900" b="1">
                <a:solidFill>
                  <a:srgbClr val="1C1F23"/>
                </a:solidFill>
                <a:latin typeface="Cambria"/>
              </a:rPr>
              <a:t>Librarian</a:t>
            </a:r>
          </a:p>
        </p:txBody>
      </p:sp>
      <p:sp>
        <p:nvSpPr>
          <p:cNvPr id="5" name="TextBox 4"/>
          <p:cNvSpPr txBox="1"/>
          <p:nvPr/>
        </p:nvSpPr>
        <p:spPr>
          <a:xfrm>
            <a:off x="566928" y="1225296"/>
            <a:ext cx="10241280" cy="457200"/>
          </a:xfrm>
          <a:prstGeom prst="rect">
            <a:avLst/>
          </a:prstGeom>
          <a:noFill/>
        </p:spPr>
        <p:txBody>
          <a:bodyPr wrap="square" anchor="t" lIns="0" rIns="0" tIns="0" bIns="0">
            <a:spAutoFit/>
          </a:bodyPr>
          <a:lstStyle/>
          <a:p>
            <a:pPr algn="l">
              <a:lnSpc>
                <a:spcPct val="125000"/>
              </a:lnSpc>
            </a:pPr>
            <a:r>
              <a:rPr sz="1350" b="0">
                <a:solidFill>
                  <a:srgbClr val="464B52"/>
                </a:solidFill>
                <a:latin typeface="Calibri"/>
              </a:rPr>
              <a:t>The one group decided by the word rather than the model. Zero anchors, eleven patterns, every score exactly 1.000.</a:t>
            </a:r>
          </a:p>
        </p:txBody>
      </p:sp>
      <p:sp>
        <p:nvSpPr>
          <p:cNvPr id="6" name="Rectangle 5"/>
          <p:cNvSpPr/>
          <p:nvPr/>
        </p:nvSpPr>
        <p:spPr>
          <a:xfrm>
            <a:off x="566928" y="1737360"/>
            <a:ext cx="11064240" cy="10972"/>
          </a:xfrm>
          <a:prstGeom prst="rect">
            <a:avLst/>
          </a:prstGeom>
          <a:solidFill>
            <a:srgbClr val="D9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56816"/>
            <a:ext cx="11064240" cy="365760"/>
          </a:xfrm>
          <a:prstGeom prst="rect">
            <a:avLst/>
          </a:prstGeom>
          <a:solidFill>
            <a:srgbClr val="EC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8" name="TextBox 7"/>
          <p:cNvSpPr txBox="1"/>
          <p:nvPr/>
        </p:nvSpPr>
        <p:spPr>
          <a:xfrm>
            <a:off x="713232" y="2039112"/>
            <a:ext cx="914400" cy="219456"/>
          </a:xfrm>
          <a:prstGeom prst="rect">
            <a:avLst/>
          </a:prstGeom>
          <a:noFill/>
        </p:spPr>
        <p:txBody>
          <a:bodyPr wrap="square" anchor="t" lIns="0" rIns="0" tIns="0" bIns="0">
            <a:spAutoFit/>
          </a:bodyPr>
          <a:lstStyle/>
          <a:p>
            <a:pPr algn="l"/>
            <a:r>
              <a:rPr sz="900" b="1">
                <a:solidFill>
                  <a:srgbClr val="6F757E"/>
                </a:solidFill>
                <a:latin typeface="Consolas"/>
              </a:rPr>
              <a:t>FEEDS</a:t>
            </a:r>
          </a:p>
        </p:txBody>
      </p:sp>
      <p:sp>
        <p:nvSpPr>
          <p:cNvPr id="9" name="TextBox 8"/>
          <p:cNvSpPr txBox="1"/>
          <p:nvPr/>
        </p:nvSpPr>
        <p:spPr>
          <a:xfrm>
            <a:off x="1609344" y="2029968"/>
            <a:ext cx="9875520" cy="237744"/>
          </a:xfrm>
          <a:prstGeom prst="rect">
            <a:avLst/>
          </a:prstGeom>
          <a:noFill/>
        </p:spPr>
        <p:txBody>
          <a:bodyPr wrap="square" anchor="t" lIns="0" rIns="0" tIns="0" bIns="0">
            <a:spAutoFit/>
          </a:bodyPr>
          <a:lstStyle/>
          <a:p>
            <a:pPr algn="l"/>
            <a:r>
              <a:rPr sz="1050" b="0">
                <a:solidFill>
                  <a:srgbClr val="1C1F23"/>
                </a:solidFill>
                <a:latin typeface="Consolas"/>
              </a:rPr>
              <a:t>librarian  (title required, 1.00 / 0.00 / 0.00, CURRENT POST ONLY)</a:t>
            </a:r>
          </a:p>
        </p:txBody>
      </p:sp>
      <p:sp>
        <p:nvSpPr>
          <p:cNvPr id="10" name="TextBox 9"/>
          <p:cNvSpPr txBox="1"/>
          <p:nvPr/>
        </p:nvSpPr>
        <p:spPr>
          <a:xfrm>
            <a:off x="566928" y="2432304"/>
            <a:ext cx="5486400" cy="182880"/>
          </a:xfrm>
          <a:prstGeom prst="rect">
            <a:avLst/>
          </a:prstGeom>
          <a:noFill/>
        </p:spPr>
        <p:txBody>
          <a:bodyPr wrap="square" anchor="t" lIns="0" rIns="0" tIns="0" bIns="0">
            <a:spAutoFit/>
          </a:bodyPr>
          <a:lstStyle/>
          <a:p>
            <a:pPr algn="l"/>
            <a:r>
              <a:rPr sz="900" b="1">
                <a:solidFill>
                  <a:srgbClr val="6F757E"/>
                </a:solidFill>
                <a:latin typeface="Consolas"/>
              </a:rPr>
              <a:t>ANCHORS</a:t>
            </a:r>
          </a:p>
        </p:txBody>
      </p:sp>
      <p:sp>
        <p:nvSpPr>
          <p:cNvPr id="11" name="Rectangle 10"/>
          <p:cNvSpPr/>
          <p:nvPr/>
        </p:nvSpPr>
        <p:spPr>
          <a:xfrm>
            <a:off x="566928" y="2633472"/>
            <a:ext cx="11064240" cy="60350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32000"/>
              </a:lnSpc>
            </a:pPr>
            <a:r>
              <a:rPr sz="1000" b="0">
                <a:solidFill>
                  <a:srgbClr val="464B52"/>
                </a:solidFill>
                <a:latin typeface="Consolas"/>
              </a:rPr>
              <a:t>librar · bibliotec · bibliotek · bibliothek · bibliothé · bibliothè · библиотек · бібліотек · kütüphane · 図書館 · 图书馆</a:t>
            </a:r>
          </a:p>
        </p:txBody>
      </p:sp>
      <p:sp>
        <p:nvSpPr>
          <p:cNvPr id="12" name="TextBox 11"/>
          <p:cNvSpPr txBox="1"/>
          <p:nvPr/>
        </p:nvSpPr>
        <p:spPr>
          <a:xfrm>
            <a:off x="566928" y="3364992"/>
            <a:ext cx="6675120" cy="182880"/>
          </a:xfrm>
          <a:prstGeom prst="rect">
            <a:avLst/>
          </a:prstGeom>
          <a:noFill/>
        </p:spPr>
        <p:txBody>
          <a:bodyPr wrap="square" anchor="t" lIns="0" rIns="0" tIns="0" bIns="0">
            <a:spAutoFit/>
          </a:bodyPr>
          <a:lstStyle/>
          <a:p>
            <a:pPr algn="l"/>
            <a:r>
              <a:rPr sz="900" b="1">
                <a:solidFill>
                  <a:srgbClr val="6F757E"/>
                </a:solidFill>
                <a:latin typeface="Consolas"/>
              </a:rPr>
              <a:t>WHAT WENT WRONG</a:t>
            </a:r>
          </a:p>
        </p:txBody>
      </p:sp>
      <p:sp>
        <p:nvSpPr>
          <p:cNvPr id="13" name="Rectangle 12"/>
          <p:cNvSpPr/>
          <p:nvPr/>
        </p:nvSpPr>
        <p:spPr>
          <a:xfrm>
            <a:off x="566928" y="3584448"/>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4" name="TextBox 13"/>
          <p:cNvSpPr txBox="1"/>
          <p:nvPr/>
        </p:nvSpPr>
        <p:spPr>
          <a:xfrm>
            <a:off x="694944" y="3648456"/>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ATTEMPT 1 - 25 anchors, 11 of them translations. bibliotecario matched on SPELLING: biólogo, catedrática, nutricionista. catedrática is a full professor and we called it a librarian.</a:t>
            </a:r>
          </a:p>
        </p:txBody>
      </p:sp>
      <p:sp>
        <p:nvSpPr>
          <p:cNvPr id="15" name="TextBox 14"/>
          <p:cNvSpPr txBox="1"/>
          <p:nvPr/>
        </p:nvSpPr>
        <p:spPr>
          <a:xfrm>
            <a:off x="694944" y="4105656"/>
            <a:ext cx="1097280" cy="201168"/>
          </a:xfrm>
          <a:prstGeom prst="rect">
            <a:avLst/>
          </a:prstGeom>
          <a:noFill/>
        </p:spPr>
        <p:txBody>
          <a:bodyPr wrap="square" anchor="t" lIns="0" rIns="0" tIns="0" bIns="0">
            <a:spAutoFit/>
          </a:bodyPr>
          <a:lstStyle/>
          <a:p>
            <a:pPr algn="l"/>
            <a:r>
              <a:rPr sz="1000" b="1">
                <a:solidFill>
                  <a:srgbClr val="1C1F23"/>
                </a:solidFill>
                <a:latin typeface="Consolas"/>
              </a:rPr>
              <a:t>69% wrong</a:t>
            </a:r>
          </a:p>
        </p:txBody>
      </p:sp>
      <p:sp>
        <p:nvSpPr>
          <p:cNvPr id="16" name="TextBox 15"/>
          <p:cNvSpPr txBox="1"/>
          <p:nvPr/>
        </p:nvSpPr>
        <p:spPr>
          <a:xfrm>
            <a:off x="1920240" y="4105656"/>
            <a:ext cx="5120640" cy="201168"/>
          </a:xfrm>
          <a:prstGeom prst="rect">
            <a:avLst/>
          </a:prstGeom>
          <a:noFill/>
        </p:spPr>
        <p:txBody>
          <a:bodyPr wrap="square" anchor="t" lIns="0" rIns="0" tIns="0" bIns="0">
            <a:spAutoFit/>
          </a:bodyPr>
          <a:lstStyle/>
          <a:p>
            <a:pPr algn="l"/>
            <a:r>
              <a:rPr sz="1000" b="0">
                <a:solidFill>
                  <a:srgbClr val="8A6410"/>
                </a:solidFill>
                <a:latin typeface="Consolas"/>
              </a:rPr>
              <a:t>-&gt; Rejected</a:t>
            </a:r>
          </a:p>
        </p:txBody>
      </p:sp>
      <p:sp>
        <p:nvSpPr>
          <p:cNvPr id="17" name="Rectangle 16"/>
          <p:cNvSpPr/>
          <p:nvPr/>
        </p:nvSpPr>
        <p:spPr>
          <a:xfrm>
            <a:off x="566928" y="4379976"/>
            <a:ext cx="6675120" cy="749808"/>
          </a:xfrm>
          <a:prstGeom prst="rect">
            <a:avLst/>
          </a:prstGeom>
          <a:solidFill>
            <a:srgbClr val="F9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18" name="TextBox 17"/>
          <p:cNvSpPr txBox="1"/>
          <p:nvPr/>
        </p:nvSpPr>
        <p:spPr>
          <a:xfrm>
            <a:off x="694944" y="4443984"/>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ATTEMPT 2 - 19 anchors, with the rule that library must be the head noun. Grammatically right and embedding-wrong: library manager pulled plain manager, 17,340 records.</a:t>
            </a:r>
          </a:p>
        </p:txBody>
      </p:sp>
      <p:sp>
        <p:nvSpPr>
          <p:cNvPr id="19" name="TextBox 18"/>
          <p:cNvSpPr txBox="1"/>
          <p:nvPr/>
        </p:nvSpPr>
        <p:spPr>
          <a:xfrm>
            <a:off x="694944" y="4901184"/>
            <a:ext cx="1097280" cy="201168"/>
          </a:xfrm>
          <a:prstGeom prst="rect">
            <a:avLst/>
          </a:prstGeom>
          <a:noFill/>
        </p:spPr>
        <p:txBody>
          <a:bodyPr wrap="square" anchor="t" lIns="0" rIns="0" tIns="0" bIns="0">
            <a:spAutoFit/>
          </a:bodyPr>
          <a:lstStyle/>
          <a:p>
            <a:pPr algn="l"/>
            <a:r>
              <a:rPr sz="1000" b="1">
                <a:solidFill>
                  <a:srgbClr val="1C1F23"/>
                </a:solidFill>
                <a:latin typeface="Consolas"/>
              </a:rPr>
              <a:t>73% wrong</a:t>
            </a:r>
          </a:p>
        </p:txBody>
      </p:sp>
      <p:sp>
        <p:nvSpPr>
          <p:cNvPr id="20" name="TextBox 19"/>
          <p:cNvSpPr txBox="1"/>
          <p:nvPr/>
        </p:nvSpPr>
        <p:spPr>
          <a:xfrm>
            <a:off x="1920240" y="4901184"/>
            <a:ext cx="5120640" cy="201168"/>
          </a:xfrm>
          <a:prstGeom prst="rect">
            <a:avLst/>
          </a:prstGeom>
          <a:noFill/>
        </p:spPr>
        <p:txBody>
          <a:bodyPr wrap="square" anchor="t" lIns="0" rIns="0" tIns="0" bIns="0">
            <a:spAutoFit/>
          </a:bodyPr>
          <a:lstStyle/>
          <a:p>
            <a:pPr algn="l"/>
            <a:r>
              <a:rPr sz="1000" b="0">
                <a:solidFill>
                  <a:srgbClr val="8A6410"/>
                </a:solidFill>
                <a:latin typeface="Consolas"/>
              </a:rPr>
              <a:t>-&gt; Rejected</a:t>
            </a:r>
          </a:p>
        </p:txBody>
      </p:sp>
      <p:sp>
        <p:nvSpPr>
          <p:cNvPr id="21" name="Rectangle 20"/>
          <p:cNvSpPr/>
          <p:nvPr/>
        </p:nvSpPr>
        <p:spPr>
          <a:xfrm>
            <a:off x="566928" y="5175504"/>
            <a:ext cx="667512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2" name="TextBox 21"/>
          <p:cNvSpPr txBox="1"/>
          <p:nvPr/>
        </p:nvSpPr>
        <p:spPr>
          <a:xfrm>
            <a:off x="694944" y="5239512"/>
            <a:ext cx="6419088" cy="402336"/>
          </a:xfrm>
          <a:prstGeom prst="rect">
            <a:avLst/>
          </a:prstGeom>
          <a:noFill/>
        </p:spPr>
        <p:txBody>
          <a:bodyPr wrap="square" anchor="t" lIns="0" rIns="0" tIns="0" bIns="0">
            <a:spAutoFit/>
          </a:bodyPr>
          <a:lstStyle/>
          <a:p>
            <a:pPr algn="l">
              <a:lnSpc>
                <a:spcPct val="118000"/>
              </a:lnSpc>
            </a:pPr>
            <a:r>
              <a:rPr sz="1000" b="0">
                <a:solidFill>
                  <a:srgbClr val="464B52"/>
                </a:solidFill>
                <a:latin typeface="Calibri"/>
              </a:rPr>
              <a:t>ATTEMPT 3 - no anchors, 11 literal patterns. Every assignment exact.</a:t>
            </a:r>
          </a:p>
        </p:txBody>
      </p:sp>
      <p:sp>
        <p:nvSpPr>
          <p:cNvPr id="23" name="TextBox 22"/>
          <p:cNvSpPr txBox="1"/>
          <p:nvPr/>
        </p:nvSpPr>
        <p:spPr>
          <a:xfrm>
            <a:off x="694944" y="5696712"/>
            <a:ext cx="1097280" cy="201168"/>
          </a:xfrm>
          <a:prstGeom prst="rect">
            <a:avLst/>
          </a:prstGeom>
          <a:noFill/>
        </p:spPr>
        <p:txBody>
          <a:bodyPr wrap="square" anchor="t" lIns="0" rIns="0" tIns="0" bIns="0">
            <a:spAutoFit/>
          </a:bodyPr>
          <a:lstStyle/>
          <a:p>
            <a:pPr algn="l"/>
            <a:r>
              <a:rPr sz="1000" b="1">
                <a:solidFill>
                  <a:srgbClr val="1C1F23"/>
                </a:solidFill>
                <a:latin typeface="Consolas"/>
              </a:rPr>
              <a:t>0.4%</a:t>
            </a:r>
          </a:p>
        </p:txBody>
      </p:sp>
      <p:sp>
        <p:nvSpPr>
          <p:cNvPr id="24" name="TextBox 23"/>
          <p:cNvSpPr txBox="1"/>
          <p:nvPr/>
        </p:nvSpPr>
        <p:spPr>
          <a:xfrm>
            <a:off x="1920240" y="5696712"/>
            <a:ext cx="5120640" cy="201168"/>
          </a:xfrm>
          <a:prstGeom prst="rect">
            <a:avLst/>
          </a:prstGeom>
          <a:noFill/>
        </p:spPr>
        <p:txBody>
          <a:bodyPr wrap="square" anchor="t" lIns="0" rIns="0" tIns="0" bIns="0">
            <a:spAutoFit/>
          </a:bodyPr>
          <a:lstStyle/>
          <a:p>
            <a:pPr algn="l"/>
            <a:r>
              <a:rPr sz="1000" b="0">
                <a:solidFill>
                  <a:srgbClr val="8A6410"/>
                </a:solidFill>
                <a:latin typeface="Consolas"/>
              </a:rPr>
              <a:t>-&gt; Shipped</a:t>
            </a:r>
          </a:p>
        </p:txBody>
      </p:sp>
      <p:sp>
        <p:nvSpPr>
          <p:cNvPr id="25" name="Rectangle 24"/>
          <p:cNvSpPr/>
          <p:nvPr/>
        </p:nvSpPr>
        <p:spPr>
          <a:xfrm>
            <a:off x="7424927" y="3584448"/>
            <a:ext cx="4206240" cy="2350008"/>
          </a:xfrm>
          <a:prstGeom prst="rect">
            <a:avLst/>
          </a:prstGeom>
          <a:solidFill>
            <a:srgbClr val="FFFFFF"/>
          </a:solidFill>
          <a:ln w="15875">
            <a:solidFill>
              <a:srgbClr val="8A3D5E"/>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26" name="Rectangle 25"/>
          <p:cNvSpPr/>
          <p:nvPr/>
        </p:nvSpPr>
        <p:spPr>
          <a:xfrm>
            <a:off x="7424927" y="3584448"/>
            <a:ext cx="4206240" cy="41148"/>
          </a:xfrm>
          <a:prstGeom prst="rect">
            <a:avLst/>
          </a:prstGeom>
          <a:solidFill>
            <a:srgbClr val="8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3730752"/>
            <a:ext cx="3877056" cy="402336"/>
          </a:xfrm>
          <a:prstGeom prst="rect">
            <a:avLst/>
          </a:prstGeom>
          <a:noFill/>
        </p:spPr>
        <p:txBody>
          <a:bodyPr wrap="square" anchor="t" lIns="0" rIns="0" tIns="0" bIns="0">
            <a:spAutoFit/>
          </a:bodyPr>
          <a:lstStyle/>
          <a:p>
            <a:pPr algn="l">
              <a:lnSpc>
                <a:spcPct val="114000"/>
              </a:lnSpc>
            </a:pPr>
            <a:r>
              <a:rPr sz="1150" b="1">
                <a:solidFill>
                  <a:srgbClr val="8A3D5E"/>
                </a:solidFill>
                <a:latin typeface="Calibri"/>
              </a:rPr>
              <a:t>The real cause was elsewhere, and it had already cost us once</a:t>
            </a:r>
          </a:p>
        </p:txBody>
      </p:sp>
      <p:sp>
        <p:nvSpPr>
          <p:cNvPr id="28" name="TextBox 27"/>
          <p:cNvSpPr txBox="1"/>
          <p:nvPr/>
        </p:nvSpPr>
        <p:spPr>
          <a:xfrm>
            <a:off x="7607808" y="4187952"/>
            <a:ext cx="3877056" cy="1682496"/>
          </a:xfrm>
          <a:prstGeom prst="rect">
            <a:avLst/>
          </a:prstGeom>
          <a:noFill/>
        </p:spPr>
        <p:txBody>
          <a:bodyPr wrap="square" anchor="t" lIns="0" rIns="0" tIns="0" bIns="0">
            <a:spAutoFit/>
          </a:bodyPr>
          <a:lstStyle/>
          <a:p>
            <a:pPr algn="l">
              <a:lnSpc>
                <a:spcPct val="122000"/>
              </a:lnSpc>
            </a:pPr>
            <a:r>
              <a:rPr sz="1000" b="0">
                <a:solidFill>
                  <a:srgbClr val="464B52"/>
                </a:solidFill>
                <a:latin typeface="Calibri"/>
              </a:rPr>
              <a:t>I was still tuning anchor wording when the second attempt came back WORSE. int_anchor_embeddings was INCREMENTAL, so a deleted anchor kept its vector and stayed a live search target for ever - removing one did nothing, silently.
It is a table now. The same bug had been misdiagnosed once before, in the leadership group.
Patterns also win structurally: a group with no anchors can never be returned by the vector search, so it cannot take a title from another group.</a:t>
            </a:r>
          </a:p>
        </p:txBody>
      </p:sp>
      <p:sp>
        <p:nvSpPr>
          <p:cNvPr id="29" name="Rectangle 28"/>
          <p:cNvSpPr/>
          <p:nvPr/>
        </p:nvSpPr>
        <p:spPr>
          <a:xfrm>
            <a:off x="56692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0" name="TextBox 29"/>
          <p:cNvSpPr txBox="1"/>
          <p:nvPr/>
        </p:nvSpPr>
        <p:spPr>
          <a:xfrm>
            <a:off x="694944" y="6007608"/>
            <a:ext cx="2468879" cy="301752"/>
          </a:xfrm>
          <a:prstGeom prst="rect">
            <a:avLst/>
          </a:prstGeom>
          <a:noFill/>
        </p:spPr>
        <p:txBody>
          <a:bodyPr wrap="square" anchor="t" lIns="0" rIns="0" tIns="0" bIns="0">
            <a:spAutoFit/>
          </a:bodyPr>
          <a:lstStyle/>
          <a:p>
            <a:pPr algn="l"/>
            <a:r>
              <a:rPr sz="1900" b="1">
                <a:solidFill>
                  <a:srgbClr val="1C1F23"/>
                </a:solidFill>
                <a:latin typeface="Consolas"/>
              </a:rPr>
              <a:t>668</a:t>
            </a:r>
          </a:p>
        </p:txBody>
      </p:sp>
      <p:sp>
        <p:nvSpPr>
          <p:cNvPr id="31" name="TextBox 30"/>
          <p:cNvSpPr txBox="1"/>
          <p:nvPr/>
        </p:nvSpPr>
        <p:spPr>
          <a:xfrm>
            <a:off x="69494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people, 361 reachable</a:t>
            </a:r>
          </a:p>
        </p:txBody>
      </p:sp>
      <p:sp>
        <p:nvSpPr>
          <p:cNvPr id="32" name="Rectangle 31"/>
          <p:cNvSpPr/>
          <p:nvPr/>
        </p:nvSpPr>
        <p:spPr>
          <a:xfrm>
            <a:off x="335584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3" name="TextBox 32"/>
          <p:cNvSpPr txBox="1"/>
          <p:nvPr/>
        </p:nvSpPr>
        <p:spPr>
          <a:xfrm>
            <a:off x="3483864" y="6007608"/>
            <a:ext cx="2468879" cy="301752"/>
          </a:xfrm>
          <a:prstGeom prst="rect">
            <a:avLst/>
          </a:prstGeom>
          <a:noFill/>
        </p:spPr>
        <p:txBody>
          <a:bodyPr wrap="square" anchor="t" lIns="0" rIns="0" tIns="0" bIns="0">
            <a:spAutoFit/>
          </a:bodyPr>
          <a:lstStyle/>
          <a:p>
            <a:pPr algn="l"/>
            <a:r>
              <a:rPr sz="1900" b="1">
                <a:solidFill>
                  <a:srgbClr val="8A6410"/>
                </a:solidFill>
                <a:latin typeface="Consolas"/>
              </a:rPr>
              <a:t>1.000</a:t>
            </a:r>
          </a:p>
        </p:txBody>
      </p:sp>
      <p:sp>
        <p:nvSpPr>
          <p:cNvPr id="34" name="TextBox 33"/>
          <p:cNvSpPr txBox="1"/>
          <p:nvPr/>
        </p:nvSpPr>
        <p:spPr>
          <a:xfrm>
            <a:off x="3483864"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score - always, by construction</a:t>
            </a:r>
          </a:p>
        </p:txBody>
      </p:sp>
      <p:sp>
        <p:nvSpPr>
          <p:cNvPr id="35" name="Rectangle 34"/>
          <p:cNvSpPr/>
          <p:nvPr/>
        </p:nvSpPr>
        <p:spPr>
          <a:xfrm>
            <a:off x="6144768"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6" name="TextBox 35"/>
          <p:cNvSpPr txBox="1"/>
          <p:nvPr/>
        </p:nvSpPr>
        <p:spPr>
          <a:xfrm>
            <a:off x="6272783" y="6007608"/>
            <a:ext cx="2468879" cy="301752"/>
          </a:xfrm>
          <a:prstGeom prst="rect">
            <a:avLst/>
          </a:prstGeom>
          <a:noFill/>
        </p:spPr>
        <p:txBody>
          <a:bodyPr wrap="square" anchor="t" lIns="0" rIns="0" tIns="0" bIns="0">
            <a:spAutoFit/>
          </a:bodyPr>
          <a:lstStyle/>
          <a:p>
            <a:pPr algn="l"/>
            <a:r>
              <a:rPr sz="1900" b="1">
                <a:solidFill>
                  <a:srgbClr val="1F6F6A"/>
                </a:solidFill>
                <a:latin typeface="Consolas"/>
              </a:rPr>
              <a:t>0.4%</a:t>
            </a:r>
          </a:p>
        </p:txBody>
      </p:sp>
      <p:sp>
        <p:nvSpPr>
          <p:cNvPr id="37" name="TextBox 36"/>
          <p:cNvSpPr txBox="1"/>
          <p:nvPr/>
        </p:nvSpPr>
        <p:spPr>
          <a:xfrm>
            <a:off x="627278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known false positives, 89 of 21,832</a:t>
            </a:r>
          </a:p>
        </p:txBody>
      </p:sp>
      <p:sp>
        <p:nvSpPr>
          <p:cNvPr id="38" name="Rectangle 37"/>
          <p:cNvSpPr/>
          <p:nvPr/>
        </p:nvSpPr>
        <p:spPr>
          <a:xfrm>
            <a:off x="8933687" y="5907024"/>
            <a:ext cx="2697479" cy="786384"/>
          </a:xfrm>
          <a:prstGeom prst="rect">
            <a:avLst/>
          </a:prstGeom>
          <a:solidFill>
            <a:srgbClr val="FFFFFF"/>
          </a:solidFill>
          <a:ln w="9525">
            <a:solidFill>
              <a:srgbClr val="D9DAD8"/>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bIns="54864"/>
          <a:lstStyle/>
          <a:p>
            <a:pPr algn="ctr"/>
          </a:p>
        </p:txBody>
      </p:sp>
      <p:sp>
        <p:nvSpPr>
          <p:cNvPr id="39" name="TextBox 38"/>
          <p:cNvSpPr txBox="1"/>
          <p:nvPr/>
        </p:nvSpPr>
        <p:spPr>
          <a:xfrm>
            <a:off x="9061703" y="6007608"/>
            <a:ext cx="2468879" cy="301752"/>
          </a:xfrm>
          <a:prstGeom prst="rect">
            <a:avLst/>
          </a:prstGeom>
          <a:noFill/>
        </p:spPr>
        <p:txBody>
          <a:bodyPr wrap="square" anchor="t" lIns="0" rIns="0" tIns="0" bIns="0">
            <a:spAutoFit/>
          </a:bodyPr>
          <a:lstStyle/>
          <a:p>
            <a:pPr algn="l"/>
            <a:r>
              <a:rPr sz="1900" b="1">
                <a:solidFill>
                  <a:srgbClr val="9B3B2F"/>
                </a:solidFill>
                <a:latin typeface="Consolas"/>
              </a:rPr>
              <a:t>54%</a:t>
            </a:r>
          </a:p>
        </p:txBody>
      </p:sp>
      <p:sp>
        <p:nvSpPr>
          <p:cNvPr id="40" name="TextBox 39"/>
          <p:cNvSpPr txBox="1"/>
          <p:nvPr/>
        </p:nvSpPr>
        <p:spPr>
          <a:xfrm>
            <a:off x="9061703" y="6336792"/>
            <a:ext cx="2468879" cy="310896"/>
          </a:xfrm>
          <a:prstGeom prst="rect">
            <a:avLst/>
          </a:prstGeom>
          <a:noFill/>
        </p:spPr>
        <p:txBody>
          <a:bodyPr wrap="square" anchor="t" lIns="0" rIns="0" tIns="0" bIns="0">
            <a:spAutoFit/>
          </a:bodyPr>
          <a:lstStyle/>
          <a:p>
            <a:pPr algn="l">
              <a:lnSpc>
                <a:spcPct val="115000"/>
              </a:lnSpc>
            </a:pPr>
            <a:r>
              <a:rPr sz="950" b="0">
                <a:solidFill>
                  <a:srgbClr val="6F757E"/>
                </a:solidFill>
                <a:latin typeface="Calibri"/>
              </a:rPr>
              <a:t>reachable - the lowest audience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